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7" r:id="rId2"/>
    <p:sldId id="297" r:id="rId3"/>
    <p:sldId id="296" r:id="rId4"/>
    <p:sldId id="310" r:id="rId5"/>
    <p:sldId id="282" r:id="rId6"/>
    <p:sldId id="295" r:id="rId7"/>
    <p:sldId id="311" r:id="rId8"/>
    <p:sldId id="317" r:id="rId9"/>
    <p:sldId id="315" r:id="rId10"/>
    <p:sldId id="314" r:id="rId11"/>
    <p:sldId id="294" r:id="rId12"/>
    <p:sldId id="293" r:id="rId13"/>
    <p:sldId id="288" r:id="rId14"/>
    <p:sldId id="292" r:id="rId15"/>
    <p:sldId id="318" r:id="rId16"/>
    <p:sldId id="300" r:id="rId17"/>
    <p:sldId id="319" r:id="rId18"/>
    <p:sldId id="320" r:id="rId19"/>
    <p:sldId id="321" r:id="rId20"/>
    <p:sldId id="322" r:id="rId21"/>
    <p:sldId id="323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an Song" initials="KS" lastIdx="1" clrIdx="0">
    <p:extLst>
      <p:ext uri="{19B8F6BF-5375-455C-9EA6-DF929625EA0E}">
        <p15:presenceInfo xmlns:p15="http://schemas.microsoft.com/office/powerpoint/2012/main" userId="S-1-5-21-1612857076-1602373485-3872515628-2187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3B92"/>
    <a:srgbClr val="17DCF1"/>
    <a:srgbClr val="2AC0DE"/>
    <a:srgbClr val="5AA4A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689EB-B573-45B5-8193-6506A546A23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C2B68-83DF-49A6-B67F-93C71333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6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 Title:</a:t>
            </a:r>
            <a:r>
              <a:rPr lang="en-US" baseline="0" dirty="0"/>
              <a:t> Uppercase, Calibri size 60, XJTLU Navy</a:t>
            </a:r>
          </a:p>
          <a:p>
            <a:r>
              <a:rPr lang="en-US" baseline="0" dirty="0"/>
              <a:t>English Subtitle: Uppercase, Calibri size 36, XJTLU Navy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3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75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3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96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8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60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10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86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95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98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33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66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46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11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83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Images should be RGB </a:t>
            </a:r>
            <a:r>
              <a:rPr lang="en-US" baseline="0" dirty="0" err="1"/>
              <a:t>colour</a:t>
            </a:r>
            <a:r>
              <a:rPr lang="en-US" baseline="0" dirty="0"/>
              <a:t> setting</a:t>
            </a:r>
            <a:endParaRPr lang="en-GB" dirty="0"/>
          </a:p>
          <a:p>
            <a:r>
              <a:rPr lang="en-GB" dirty="0"/>
              <a:t>Header:</a:t>
            </a:r>
            <a:r>
              <a:rPr lang="en-GB" baseline="0" dirty="0"/>
              <a:t> Uppercase, Calibri size 28, XJTLU Navy</a:t>
            </a:r>
          </a:p>
          <a:p>
            <a:r>
              <a:rPr lang="en-GB" baseline="0" dirty="0"/>
              <a:t>Body Text: Sentence case, Calibri size 14, Black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9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7692-00CC-4D85-9834-54FA546E0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F3BF9-70F2-45B9-A1D0-4963FD061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7331-7A7B-42A4-8956-4C3988580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56DF-857D-4461-96F1-6776F2F5B81A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333B-41CE-4DBB-8024-E64BC86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BD60-F226-4CCE-B568-37C63D52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2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0DEE-6A0A-4E5E-BD87-C360D90C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38C41-B259-4216-A4AE-A34A5F2F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8CC75-9F97-437C-8F04-2AB43226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DE24-EE6B-4EF8-8991-8B8343E53DA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C0F1-7F09-4639-AAC3-CBF2D0C1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FA7F-6A27-46B3-B0AB-8D36E075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E709-D79E-4876-976F-555CD9BA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3D221-9F5E-416A-965C-16C7E4E9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AD0CA-E413-4683-8359-C18C00A0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00866-C47B-4495-84B2-8E7F96E5ED1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851E-5772-4A09-A7D2-CAD517C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CF18-E81B-4A0A-8AE9-2F923CCB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1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339D-1AE7-4F74-A256-CD864A8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60A28-5C7C-4DEB-82A1-EA2D1412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6205B-E420-4090-BE4C-CB3DE793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9074B-1019-4C5B-AE52-6E54FBE3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9162-9FAA-4B81-BEAA-152A7E130A5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0AFB0-DB18-44EF-BF9A-1722029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5C97-5BDD-491E-82EC-27151211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6061-E0A4-4393-AF11-3C0D3348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66B1-5D25-436B-96BF-63B37C90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BD42F-949D-41FC-90EA-B9DFFC4FF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10839-8A42-43A4-8417-E904FFC1B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8F3B7-A7D7-4C4A-88DE-01C6743CB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1CA0C-A291-4177-B7CA-D56BB2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0AA3F-E19F-4C95-A255-595B77933C71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CE47C-4F84-4805-A722-D45FF454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C8387-7D60-41D8-B1D7-139D268F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D6E6-19B9-404C-BEF3-C4046C57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62F18-B541-43FB-B4FE-D708EC2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C51F-E268-4F35-A5AE-85DF94254B1F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4C150-377C-48C4-B3A2-A62D8176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99CE-19B6-4E67-B4FD-CF9D2CD5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4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C0FFC-959C-4911-9426-696686E4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AEF-B9EC-465C-A3A8-E3FD06F0D5F4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3F369-89EC-460C-94C3-421DC2C0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08C1-6B26-4254-824E-92D02CC5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0620-7C37-4AE7-B35A-B3CCFCD4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0477-81FB-4676-B603-792BF971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1B079-52FE-4184-A30D-642CAC7CC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377D5-71CD-4409-998F-EC76B53F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D042-DCBA-430F-B26F-F760C65A05B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9643E-6933-42EC-9551-BB686E0F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A81A-586C-4E23-B657-06A96CC4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ECD3-7EE6-4019-8615-7EF8EBCB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992BD-1AD0-42F6-8302-BCEB72EFC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D11A7-A33F-4F56-9FBA-0D641F887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D814-0949-4667-9117-2B4510DB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EA0A4-2F41-4943-887A-A8FF9AA79713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7BCAC-8594-4E8C-ACF3-DA2BDA5F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C2B3E-4229-457F-BB19-EE896CB5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3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E555-085D-470D-881D-459E91C6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C7BDB-1490-403F-B3A1-0B70FE1E4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A618-3458-4895-B9ED-98EB886D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C14C1-87D3-45D2-A1E2-C7B8C47C5AAC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D71D-4EEF-4333-8536-4BBD3CB5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000D-8BC4-4EEF-B74F-67FE82D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3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1B6A8-9551-4681-ABF5-D1963B41B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B4652-08A6-45D3-B4FB-CD7C24E8E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9ABF-6A2D-44D0-91AD-83C82B1C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2149B-A775-469F-A1A5-94C33EAFD59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2D59-74B6-43D5-8B47-D3312C1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85ED-9279-4CF5-B7BF-D2271F5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7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87A8F-22C0-48C0-BE22-24EDEB96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6A83-6023-42A2-8B75-C26EED93C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EF81-77D8-4AC0-B5AB-7E680285E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4AB26-75B2-4388-B3AB-EA05CB8D99ED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84D1-A4B4-457A-B215-6194F092E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C8477-C608-42E5-94FD-5D17EC1F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413E9-7962-4F18-9234-18DB3F15F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2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emf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emf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12348" y="0"/>
            <a:ext cx="1881342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1845734" y="539271"/>
            <a:ext cx="9381066" cy="2576972"/>
          </a:xfrm>
        </p:spPr>
        <p:txBody>
          <a:bodyPr>
            <a:noAutofit/>
          </a:bodyPr>
          <a:lstStyle/>
          <a:p>
            <a:r>
              <a:rPr lang="en-US" b="1" cap="all" dirty="0">
                <a:solidFill>
                  <a:srgbClr val="0000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Atomic-Level Materials Simulation</a:t>
            </a:r>
            <a:endParaRPr lang="en-US" b="1" cap="all" spc="300" dirty="0">
              <a:solidFill>
                <a:srgbClr val="0000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31788"/>
            <a:ext cx="3356173" cy="71789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5CBD63E4-A19B-48E4-92A6-80AB9D355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3407" y="4313247"/>
            <a:ext cx="3429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Kenan Song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Chips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Kenan.Song@xjtlu.edu.cn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Office: C5007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63B04092-2132-437A-A663-8A0C6DF466AF}"/>
              </a:ext>
            </a:extLst>
          </p:cNvPr>
          <p:cNvSpPr txBox="1">
            <a:spLocks/>
          </p:cNvSpPr>
          <p:nvPr/>
        </p:nvSpPr>
        <p:spPr>
          <a:xfrm>
            <a:off x="4491576" y="3379839"/>
            <a:ext cx="3492492" cy="426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Code: MES306TC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11CA1-062B-44DF-A595-5CC38317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12600" y="6643166"/>
            <a:ext cx="27940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3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199" y="8463"/>
            <a:ext cx="8864600" cy="135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Multi-Orbital Extensions &amp; General TBM Code Architecture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32D16-D1E6-45CC-AC39-11CF73BF1D81}"/>
              </a:ext>
            </a:extLst>
          </p:cNvPr>
          <p:cNvSpPr txBox="1"/>
          <p:nvPr/>
        </p:nvSpPr>
        <p:spPr>
          <a:xfrm>
            <a:off x="3359549" y="1936583"/>
            <a:ext cx="5338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The Field Operator Framework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3633B-269F-45B5-905D-584EE122F55F}"/>
              </a:ext>
            </a:extLst>
          </p:cNvPr>
          <p:cNvSpPr txBox="1"/>
          <p:nvPr/>
        </p:nvSpPr>
        <p:spPr>
          <a:xfrm>
            <a:off x="1501132" y="3429000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F5EC494-AB40-42C8-9402-C6E9855A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87200" y="6643166"/>
            <a:ext cx="301424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55BD0-BB46-49A0-8BA7-E3CE5B14326A}"/>
              </a:ext>
            </a:extLst>
          </p:cNvPr>
          <p:cNvSpPr txBox="1"/>
          <p:nvPr/>
        </p:nvSpPr>
        <p:spPr>
          <a:xfrm>
            <a:off x="1388533" y="489298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C216DF-96C1-4BDE-A499-0F0FD6EA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78732" y="6643166"/>
            <a:ext cx="3132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DE34CA-918C-486B-8EED-5BBE31CBA2F3}"/>
              </a:ext>
            </a:extLst>
          </p:cNvPr>
          <p:cNvSpPr txBox="1"/>
          <p:nvPr/>
        </p:nvSpPr>
        <p:spPr>
          <a:xfrm>
            <a:off x="401375" y="883839"/>
            <a:ext cx="759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One-Electron Wavefunctions: Transitioning to Second Quantization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05B7C-C02F-42E9-B26E-13D56BA29C4D}"/>
                  </a:ext>
                </a:extLst>
              </p:cNvPr>
              <p:cNvSpPr txBox="1"/>
              <p:nvPr/>
            </p:nvSpPr>
            <p:spPr>
              <a:xfrm>
                <a:off x="401375" y="1698658"/>
                <a:ext cx="1147735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Old Picture: Wavefunctions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defined in continuous real space. Matrix elements calculated via continuous integration</a:t>
                </a:r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05B7C-C02F-42E9-B26E-13D56BA29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75" y="1698658"/>
                <a:ext cx="11477357" cy="646331"/>
              </a:xfrm>
              <a:prstGeom prst="rect">
                <a:avLst/>
              </a:prstGeom>
              <a:blipFill>
                <a:blip r:embed="rId4"/>
                <a:stretch>
                  <a:fillRect l="-478" t="-5660" r="-42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22D4832-695D-4141-99CF-D995BE679225}"/>
                  </a:ext>
                </a:extLst>
              </p:cNvPr>
              <p:cNvSpPr txBox="1"/>
              <p:nvPr/>
            </p:nvSpPr>
            <p:spPr>
              <a:xfrm>
                <a:off x="401375" y="4983116"/>
                <a:ext cx="6913824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Creation Operator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Creates an electron in cell </a:t>
                </a:r>
                <a:r>
                  <a:rPr lang="en-US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orbital flavor </a:t>
                </a:r>
                <a:r>
                  <a:rPr lang="el-GR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endParaRPr lang="en-US" b="1" i="1" dirty="0"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22D4832-695D-4141-99CF-D995BE6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75" y="4983116"/>
                <a:ext cx="6913824" cy="421013"/>
              </a:xfrm>
              <a:prstGeom prst="rect">
                <a:avLst/>
              </a:prstGeom>
              <a:blipFill>
                <a:blip r:embed="rId5"/>
                <a:stretch>
                  <a:fillRect l="-794" r="-353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B8678F0C-33FC-4613-9D6D-C44B97D9F6C0}"/>
              </a:ext>
            </a:extLst>
          </p:cNvPr>
          <p:cNvSpPr txBox="1"/>
          <p:nvPr/>
        </p:nvSpPr>
        <p:spPr>
          <a:xfrm>
            <a:off x="401376" y="2999458"/>
            <a:ext cx="11477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Picture: Define a set of discrete, localized states. Introduce Field Operators that act on the crystal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</a:t>
            </a:r>
            <a:endParaRPr lang="en-US" b="1" i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0F0E871-92CA-4657-B0B1-3E5EC87FFD68}"/>
                  </a:ext>
                </a:extLst>
              </p:cNvPr>
              <p:cNvSpPr txBox="1"/>
              <p:nvPr/>
            </p:nvSpPr>
            <p:spPr>
              <a:xfrm>
                <a:off x="401375" y="4107237"/>
                <a:ext cx="7667354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Annihilation Operator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Removes an electron from cell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orbital flavor </a:t>
                </a:r>
                <a:r>
                  <a:rPr lang="el-G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ν</a:t>
                </a:r>
                <a:endParaRPr lang="en-US" b="1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0F0E871-92CA-4657-B0B1-3E5EC87FF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75" y="4107237"/>
                <a:ext cx="7667354" cy="395621"/>
              </a:xfrm>
              <a:prstGeom prst="rect">
                <a:avLst/>
              </a:prstGeom>
              <a:blipFill>
                <a:blip r:embed="rId6"/>
                <a:stretch>
                  <a:fillRect l="-715" t="-9231" r="-238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A6CA994-43F6-4739-85E2-534EA0BF86EA}"/>
              </a:ext>
            </a:extLst>
          </p:cNvPr>
          <p:cNvSpPr txBox="1"/>
          <p:nvPr/>
        </p:nvSpPr>
        <p:spPr>
          <a:xfrm>
            <a:off x="3283348" y="84304"/>
            <a:ext cx="5338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The Field Operator Framework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34B197-FD23-40BD-BD03-5E49BD00AE1E}"/>
              </a:ext>
            </a:extLst>
          </p:cNvPr>
          <p:cNvCxnSpPr/>
          <p:nvPr/>
        </p:nvCxnSpPr>
        <p:spPr>
          <a:xfrm>
            <a:off x="6179975" y="2230016"/>
            <a:ext cx="0" cy="6997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7F77981-0415-4589-8F11-E0D391244FA6}"/>
              </a:ext>
            </a:extLst>
          </p:cNvPr>
          <p:cNvGrpSpPr/>
          <p:nvPr/>
        </p:nvGrpSpPr>
        <p:grpSpPr>
          <a:xfrm>
            <a:off x="9212382" y="3977758"/>
            <a:ext cx="1626678" cy="1710804"/>
            <a:chOff x="9212382" y="3977758"/>
            <a:chExt cx="1626678" cy="171080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192D99-EE01-43DD-AE49-6100D7454E0D}"/>
                </a:ext>
              </a:extLst>
            </p:cNvPr>
            <p:cNvSpPr/>
            <p:nvPr/>
          </p:nvSpPr>
          <p:spPr>
            <a:xfrm>
              <a:off x="9978677" y="5307699"/>
              <a:ext cx="121298" cy="136567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6D366E3-39DC-427D-9586-A7CD7E4D4EC0}"/>
                </a:ext>
              </a:extLst>
            </p:cNvPr>
            <p:cNvSpPr/>
            <p:nvPr/>
          </p:nvSpPr>
          <p:spPr>
            <a:xfrm>
              <a:off x="9716896" y="4475029"/>
              <a:ext cx="121298" cy="1365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F18C6B8-7C2B-41C2-A120-3B67AEA95BA8}"/>
                </a:ext>
              </a:extLst>
            </p:cNvPr>
            <p:cNvSpPr/>
            <p:nvPr/>
          </p:nvSpPr>
          <p:spPr>
            <a:xfrm>
              <a:off x="9978677" y="4753539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99468CFF-780E-453C-8DFE-64C06D8763F6}"/>
                </a:ext>
              </a:extLst>
            </p:cNvPr>
            <p:cNvSpPr/>
            <p:nvPr/>
          </p:nvSpPr>
          <p:spPr>
            <a:xfrm>
              <a:off x="9769151" y="4544577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5094B5F-873E-41F3-B992-F90DDFBD03CE}"/>
                </a:ext>
              </a:extLst>
            </p:cNvPr>
            <p:cNvSpPr/>
            <p:nvPr/>
          </p:nvSpPr>
          <p:spPr>
            <a:xfrm>
              <a:off x="10243362" y="5035652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amond 31">
              <a:extLst>
                <a:ext uri="{FF2B5EF4-FFF2-40B4-BE49-F238E27FC236}">
                  <a16:creationId xmlns:a16="http://schemas.microsoft.com/office/drawing/2014/main" id="{B8DD4DA8-728C-409D-89D8-F4AB122725A5}"/>
                </a:ext>
              </a:extLst>
            </p:cNvPr>
            <p:cNvSpPr/>
            <p:nvPr/>
          </p:nvSpPr>
          <p:spPr>
            <a:xfrm>
              <a:off x="10033836" y="4826690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5092630-999A-47F8-A607-22EA46FC4517}"/>
                </a:ext>
              </a:extLst>
            </p:cNvPr>
            <p:cNvSpPr/>
            <p:nvPr/>
          </p:nvSpPr>
          <p:spPr>
            <a:xfrm>
              <a:off x="9526657" y="5268487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Diamond 33">
              <a:extLst>
                <a:ext uri="{FF2B5EF4-FFF2-40B4-BE49-F238E27FC236}">
                  <a16:creationId xmlns:a16="http://schemas.microsoft.com/office/drawing/2014/main" id="{CD382BF2-59F7-4D9C-8085-118A770759C9}"/>
                </a:ext>
              </a:extLst>
            </p:cNvPr>
            <p:cNvSpPr/>
            <p:nvPr/>
          </p:nvSpPr>
          <p:spPr>
            <a:xfrm>
              <a:off x="9511004" y="4267766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5A78F50-B1A2-40A7-9F1B-91870D111319}"/>
                </a:ext>
              </a:extLst>
            </p:cNvPr>
            <p:cNvGrpSpPr/>
            <p:nvPr/>
          </p:nvGrpSpPr>
          <p:grpSpPr>
            <a:xfrm>
              <a:off x="9771361" y="3983055"/>
              <a:ext cx="1044934" cy="1118672"/>
              <a:chOff x="8857862" y="4696974"/>
              <a:chExt cx="1044934" cy="1118672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2574BEC-418A-4394-8DE3-5856433B71E1}"/>
                  </a:ext>
                </a:extLst>
              </p:cNvPr>
              <p:cNvSpPr/>
              <p:nvPr/>
            </p:nvSpPr>
            <p:spPr>
              <a:xfrm>
                <a:off x="9325535" y="5182747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3748BC08-146A-4191-88C4-0C91A9059980}"/>
                  </a:ext>
                </a:extLst>
              </p:cNvPr>
              <p:cNvSpPr/>
              <p:nvPr/>
            </p:nvSpPr>
            <p:spPr>
              <a:xfrm>
                <a:off x="9116009" y="4973785"/>
                <a:ext cx="522102" cy="559748"/>
              </a:xfrm>
              <a:prstGeom prst="diamond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1BD711C-CA27-413F-866E-F94EF3375CA2}"/>
                  </a:ext>
                </a:extLst>
              </p:cNvPr>
              <p:cNvSpPr/>
              <p:nvPr/>
            </p:nvSpPr>
            <p:spPr>
              <a:xfrm>
                <a:off x="9590220" y="5464860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D7FAB1A6-E7AD-4B0C-89C0-C60588AF16EE}"/>
                  </a:ext>
                </a:extLst>
              </p:cNvPr>
              <p:cNvSpPr/>
              <p:nvPr/>
            </p:nvSpPr>
            <p:spPr>
              <a:xfrm>
                <a:off x="9380694" y="5255898"/>
                <a:ext cx="522102" cy="559748"/>
              </a:xfrm>
              <a:prstGeom prst="diamond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3022031-F6B0-4277-ABA6-1C0F4849E01B}"/>
                  </a:ext>
                </a:extLst>
              </p:cNvPr>
              <p:cNvSpPr/>
              <p:nvPr/>
            </p:nvSpPr>
            <p:spPr>
              <a:xfrm>
                <a:off x="9067388" y="4905936"/>
                <a:ext cx="121298" cy="1365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Diamond 41">
                <a:extLst>
                  <a:ext uri="{FF2B5EF4-FFF2-40B4-BE49-F238E27FC236}">
                    <a16:creationId xmlns:a16="http://schemas.microsoft.com/office/drawing/2014/main" id="{D8F1475C-50F0-4569-B547-9495D054D70B}"/>
                  </a:ext>
                </a:extLst>
              </p:cNvPr>
              <p:cNvSpPr/>
              <p:nvPr/>
            </p:nvSpPr>
            <p:spPr>
              <a:xfrm>
                <a:off x="8857862" y="4696974"/>
                <a:ext cx="522102" cy="559748"/>
              </a:xfrm>
              <a:prstGeom prst="diamond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4482F9-504D-4CF3-91A8-7B66C5F0361D}"/>
                </a:ext>
              </a:extLst>
            </p:cNvPr>
            <p:cNvSpPr/>
            <p:nvPr/>
          </p:nvSpPr>
          <p:spPr>
            <a:xfrm>
              <a:off x="9717346" y="5029331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Diamond 44">
              <a:extLst>
                <a:ext uri="{FF2B5EF4-FFF2-40B4-BE49-F238E27FC236}">
                  <a16:creationId xmlns:a16="http://schemas.microsoft.com/office/drawing/2014/main" id="{D5EECAF3-14DC-4AD8-B4F2-BE899BE168BB}"/>
                </a:ext>
              </a:extLst>
            </p:cNvPr>
            <p:cNvSpPr/>
            <p:nvPr/>
          </p:nvSpPr>
          <p:spPr>
            <a:xfrm>
              <a:off x="9507820" y="4820369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168E72-8A16-48B7-B5DE-66ADE9EE64E7}"/>
                </a:ext>
              </a:extLst>
            </p:cNvPr>
            <p:cNvSpPr/>
            <p:nvPr/>
          </p:nvSpPr>
          <p:spPr>
            <a:xfrm>
              <a:off x="10468908" y="5308921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Diamond 46">
              <a:extLst>
                <a:ext uri="{FF2B5EF4-FFF2-40B4-BE49-F238E27FC236}">
                  <a16:creationId xmlns:a16="http://schemas.microsoft.com/office/drawing/2014/main" id="{A682B3A0-4C01-4A83-955F-7C548DB619FC}"/>
                </a:ext>
              </a:extLst>
            </p:cNvPr>
            <p:cNvSpPr/>
            <p:nvPr/>
          </p:nvSpPr>
          <p:spPr>
            <a:xfrm>
              <a:off x="9772505" y="5102482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A9611F4-BB9B-438A-9BBC-D6A80251BCA9}"/>
                </a:ext>
              </a:extLst>
            </p:cNvPr>
            <p:cNvSpPr/>
            <p:nvPr/>
          </p:nvSpPr>
          <p:spPr>
            <a:xfrm>
              <a:off x="9459199" y="4752520"/>
              <a:ext cx="121298" cy="1365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Diamond 48">
              <a:extLst>
                <a:ext uri="{FF2B5EF4-FFF2-40B4-BE49-F238E27FC236}">
                  <a16:creationId xmlns:a16="http://schemas.microsoft.com/office/drawing/2014/main" id="{E5506C1B-CEFB-4EE7-ADAB-C804E1208CD6}"/>
                </a:ext>
              </a:extLst>
            </p:cNvPr>
            <p:cNvSpPr/>
            <p:nvPr/>
          </p:nvSpPr>
          <p:spPr>
            <a:xfrm>
              <a:off x="9249673" y="4543558"/>
              <a:ext cx="522102" cy="559748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379770D-D9E7-49AE-9C29-A8CE830D82BB}"/>
                </a:ext>
              </a:extLst>
            </p:cNvPr>
            <p:cNvSpPr/>
            <p:nvPr/>
          </p:nvSpPr>
          <p:spPr>
            <a:xfrm>
              <a:off x="10621308" y="5461321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B2EEC59-F800-44E9-8B32-15BE6BECAFC2}"/>
                </a:ext>
              </a:extLst>
            </p:cNvPr>
            <p:cNvSpPr/>
            <p:nvPr/>
          </p:nvSpPr>
          <p:spPr>
            <a:xfrm>
              <a:off x="10773708" y="5613721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C1216C7-9F9D-438F-A5BC-457DBD79CAE3}"/>
                </a:ext>
              </a:extLst>
            </p:cNvPr>
            <p:cNvSpPr/>
            <p:nvPr/>
          </p:nvSpPr>
          <p:spPr>
            <a:xfrm>
              <a:off x="9212382" y="3977758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98044E-84B9-4C22-8979-EB688DC03059}"/>
                </a:ext>
              </a:extLst>
            </p:cNvPr>
            <p:cNvSpPr/>
            <p:nvPr/>
          </p:nvSpPr>
          <p:spPr>
            <a:xfrm>
              <a:off x="9364782" y="4130158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62856ED-7EBA-4834-A6AA-85562BCF4C7A}"/>
                </a:ext>
              </a:extLst>
            </p:cNvPr>
            <p:cNvSpPr/>
            <p:nvPr/>
          </p:nvSpPr>
          <p:spPr>
            <a:xfrm>
              <a:off x="9517182" y="4282558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E673197-855C-4A5C-BC4E-FADBA54272B0}"/>
                </a:ext>
              </a:extLst>
            </p:cNvPr>
            <p:cNvSpPr/>
            <p:nvPr/>
          </p:nvSpPr>
          <p:spPr>
            <a:xfrm>
              <a:off x="9371146" y="5416872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3960156-C388-4FF9-B646-A57AC6333AB5}"/>
                </a:ext>
              </a:extLst>
            </p:cNvPr>
            <p:cNvSpPr/>
            <p:nvPr/>
          </p:nvSpPr>
          <p:spPr>
            <a:xfrm>
              <a:off x="9224967" y="5564729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C94A71B-F032-4727-8694-FA092F824C49}"/>
                </a:ext>
              </a:extLst>
            </p:cNvPr>
            <p:cNvSpPr/>
            <p:nvPr/>
          </p:nvSpPr>
          <p:spPr>
            <a:xfrm>
              <a:off x="10761408" y="3983974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61B2B94-8B80-449F-826A-B608CB757101}"/>
                </a:ext>
              </a:extLst>
            </p:cNvPr>
            <p:cNvSpPr/>
            <p:nvPr/>
          </p:nvSpPr>
          <p:spPr>
            <a:xfrm>
              <a:off x="10605897" y="4132359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2047B27-D8A3-40E4-A146-ACAB1FCC7DE8}"/>
                </a:ext>
              </a:extLst>
            </p:cNvPr>
            <p:cNvSpPr/>
            <p:nvPr/>
          </p:nvSpPr>
          <p:spPr>
            <a:xfrm>
              <a:off x="10459718" y="4280216"/>
              <a:ext cx="65352" cy="748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3FCA352-6A1C-4B18-A11C-2F056E115AE6}"/>
              </a:ext>
            </a:extLst>
          </p:cNvPr>
          <p:cNvCxnSpPr>
            <a:cxnSpLocks/>
          </p:cNvCxnSpPr>
          <p:nvPr/>
        </p:nvCxnSpPr>
        <p:spPr>
          <a:xfrm>
            <a:off x="7955116" y="4365299"/>
            <a:ext cx="1711482" cy="174309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2177886-9F0F-4D11-BC08-31C5DD453E13}"/>
              </a:ext>
            </a:extLst>
          </p:cNvPr>
          <p:cNvCxnSpPr>
            <a:cxnSpLocks/>
          </p:cNvCxnSpPr>
          <p:nvPr/>
        </p:nvCxnSpPr>
        <p:spPr>
          <a:xfrm>
            <a:off x="7231224" y="5268487"/>
            <a:ext cx="2688357" cy="1263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5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82495A-8A25-4E53-83CD-980EA0B950D6}"/>
              </a:ext>
            </a:extLst>
          </p:cNvPr>
          <p:cNvSpPr txBox="1"/>
          <p:nvPr/>
        </p:nvSpPr>
        <p:spPr>
          <a:xfrm>
            <a:off x="211667" y="903407"/>
            <a:ext cx="83989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Fermionic Algebras on the Lattice: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Electrons are fermions, which has half integer of the spin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lattice field operators must satisfy the Fermionic Anti-Commutation Relations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D9EE42-EE9B-4A35-AEFE-136F536D7C3D}"/>
                  </a:ext>
                </a:extLst>
              </p:cNvPr>
              <p:cNvSpPr txBox="1"/>
              <p:nvPr/>
            </p:nvSpPr>
            <p:spPr>
              <a:xfrm>
                <a:off x="3819766" y="2877156"/>
                <a:ext cx="3721959" cy="504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D9EE42-EE9B-4A35-AEFE-136F536D7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766" y="2877156"/>
                <a:ext cx="3721959" cy="504369"/>
              </a:xfrm>
              <a:prstGeom prst="rect">
                <a:avLst/>
              </a:prstGeom>
              <a:blipFill>
                <a:blip r:embed="rId4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3B3F80-7D1D-4BC7-9BAD-73E62F4F0DB2}"/>
                  </a:ext>
                </a:extLst>
              </p:cNvPr>
              <p:cNvSpPr txBox="1"/>
              <p:nvPr/>
            </p:nvSpPr>
            <p:spPr>
              <a:xfrm>
                <a:off x="211667" y="4943911"/>
                <a:ext cx="10033000" cy="702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Meaning: Enforces the Pauli Exclusion Principle perfectly on the discrete tight-binding grid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†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†</m:t>
                            </m:r>
                          </m:sup>
                        </m:sSub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=|</m:t>
                    </m:r>
                    <m:d>
                      <m:dPr>
                        <m:begChr m:val=""/>
                        <m:endChr m:val="⟩"/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83B3F80-7D1D-4BC7-9BAD-73E62F4F0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67" y="4943911"/>
                <a:ext cx="10033000" cy="702308"/>
              </a:xfrm>
              <a:prstGeom prst="rect">
                <a:avLst/>
              </a:prstGeom>
              <a:blipFill>
                <a:blip r:embed="rId5"/>
                <a:stretch>
                  <a:fillRect l="-547" t="-18261" r="-122" b="-95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E6DDE7E-E543-46D7-8CA3-ED709D8D655C}"/>
              </a:ext>
            </a:extLst>
          </p:cNvPr>
          <p:cNvSpPr txBox="1"/>
          <p:nvPr/>
        </p:nvSpPr>
        <p:spPr>
          <a:xfrm>
            <a:off x="3283348" y="84304"/>
            <a:ext cx="5338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The Field Operator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5DC15B-6B44-41E9-96E2-50109FEEDF86}"/>
                  </a:ext>
                </a:extLst>
              </p:cNvPr>
              <p:cNvSpPr txBox="1"/>
              <p:nvPr/>
            </p:nvSpPr>
            <p:spPr>
              <a:xfrm>
                <a:off x="3819766" y="3854556"/>
                <a:ext cx="1504950" cy="41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5DC15B-6B44-41E9-96E2-50109FEED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766" y="3854556"/>
                <a:ext cx="1504950" cy="414729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34759-72E9-45DF-AEE6-12624070954A}"/>
                  </a:ext>
                </a:extLst>
              </p:cNvPr>
              <p:cNvSpPr txBox="1"/>
              <p:nvPr/>
            </p:nvSpPr>
            <p:spPr>
              <a:xfrm>
                <a:off x="5849179" y="3767692"/>
                <a:ext cx="1487922" cy="504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34759-72E9-45DF-AEE6-126240709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179" y="3767692"/>
                <a:ext cx="1487922" cy="504369"/>
              </a:xfrm>
              <a:prstGeom prst="rect">
                <a:avLst/>
              </a:prstGeom>
              <a:blipFill>
                <a:blip r:embed="rId7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37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9853340-B29D-4E0D-9366-BA708209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5666" y="6643166"/>
            <a:ext cx="292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6B69A2-47C4-4D21-A354-1D72ECDF6A87}"/>
              </a:ext>
            </a:extLst>
          </p:cNvPr>
          <p:cNvSpPr txBox="1"/>
          <p:nvPr/>
        </p:nvSpPr>
        <p:spPr>
          <a:xfrm>
            <a:off x="833566" y="982016"/>
            <a:ext cx="4398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Quantized Form: On-Site 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A2DB693-AB62-4518-91CD-C4882A768220}"/>
                  </a:ext>
                </a:extLst>
              </p:cNvPr>
              <p:cNvSpPr txBox="1"/>
              <p:nvPr/>
            </p:nvSpPr>
            <p:spPr>
              <a:xfrm>
                <a:off x="862406" y="1708352"/>
                <a:ext cx="69777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single-particle on-site energy of orbital </a:t>
                </a:r>
                <a:r>
                  <a:rPr lang="el-G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lattice site </a:t>
                </a:r>
                <a:r>
                  <a:rPr lang="en-US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A2DB693-AB62-4518-91CD-C4882A76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06" y="1708352"/>
                <a:ext cx="6977727" cy="369332"/>
              </a:xfrm>
              <a:prstGeom prst="rect">
                <a:avLst/>
              </a:prstGeom>
              <a:blipFill>
                <a:blip r:embed="rId5"/>
                <a:stretch>
                  <a:fillRect l="-699" t="-8197" r="-26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7FF60C-B930-49B1-871E-26CDEC5DDE5C}"/>
                  </a:ext>
                </a:extLst>
              </p:cNvPr>
              <p:cNvSpPr txBox="1"/>
              <p:nvPr/>
            </p:nvSpPr>
            <p:spPr>
              <a:xfrm>
                <a:off x="4008733" y="3387726"/>
                <a:ext cx="4174534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𝒐𝒏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𝒔𝒊𝒕𝒆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57FF60C-B930-49B1-871E-26CDEC5DD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733" y="3387726"/>
                <a:ext cx="4174534" cy="785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B4D8B2D8-528D-432B-ADF8-1F637D0092A5}"/>
              </a:ext>
            </a:extLst>
          </p:cNvPr>
          <p:cNvSpPr txBox="1"/>
          <p:nvPr/>
        </p:nvSpPr>
        <p:spPr>
          <a:xfrm>
            <a:off x="829199" y="2548039"/>
            <a:ext cx="826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energy contribution from isolated atoms is written as a diagonal operator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B4364C7-8A97-41D6-8C6D-2AF5402B7687}"/>
                  </a:ext>
                </a:extLst>
              </p:cNvPr>
              <p:cNvSpPr txBox="1"/>
              <p:nvPr/>
            </p:nvSpPr>
            <p:spPr>
              <a:xfrm>
                <a:off x="829199" y="4761577"/>
                <a:ext cx="9567868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Operator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Counts whether an electron is present in orbital </a:t>
                </a:r>
                <a:r>
                  <a:rPr lang="el-G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site </a:t>
                </a:r>
                <a:r>
                  <a:rPr lang="en-US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b="1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B4364C7-8A97-41D6-8C6D-2AF5402B7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9" y="4761577"/>
                <a:ext cx="9567868" cy="421013"/>
              </a:xfrm>
              <a:prstGeom prst="rect">
                <a:avLst/>
              </a:prstGeom>
              <a:blipFill>
                <a:blip r:embed="rId7"/>
                <a:stretch>
                  <a:fillRect l="-510" r="-446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28B2DC2-A19D-455C-A2D9-9C00FEBB7AA9}"/>
              </a:ext>
            </a:extLst>
          </p:cNvPr>
          <p:cNvSpPr txBox="1"/>
          <p:nvPr/>
        </p:nvSpPr>
        <p:spPr>
          <a:xfrm>
            <a:off x="3283348" y="84304"/>
            <a:ext cx="5338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The Field Operator Framework</a:t>
            </a:r>
          </a:p>
        </p:txBody>
      </p:sp>
    </p:spTree>
    <p:extLst>
      <p:ext uri="{BB962C8B-B14F-4D97-AF65-F5344CB8AC3E}">
        <p14:creationId xmlns:p14="http://schemas.microsoft.com/office/powerpoint/2010/main" val="280167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866" y="6643166"/>
            <a:ext cx="350509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B7705-A027-415A-AEA7-963EB9C29481}"/>
              </a:ext>
            </a:extLst>
          </p:cNvPr>
          <p:cNvSpPr txBox="1"/>
          <p:nvPr/>
        </p:nvSpPr>
        <p:spPr>
          <a:xfrm>
            <a:off x="476555" y="858065"/>
            <a:ext cx="4324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Quantized Form: Kinetic Hopping</a:t>
            </a:r>
            <a:endParaRPr lang="en-US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5ACBFF-882F-46CF-9A9D-9609A3818624}"/>
                  </a:ext>
                </a:extLst>
              </p:cNvPr>
              <p:cNvSpPr txBox="1"/>
              <p:nvPr/>
            </p:nvSpPr>
            <p:spPr>
              <a:xfrm>
                <a:off x="4093522" y="2595548"/>
                <a:ext cx="2967678" cy="799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5ACBFF-882F-46CF-9A9D-9609A3818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522" y="2595548"/>
                <a:ext cx="2967678" cy="7999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A8CA0ED3-BD54-4034-87EC-9DDACC82C35C}"/>
              </a:ext>
            </a:extLst>
          </p:cNvPr>
          <p:cNvSpPr txBox="1"/>
          <p:nvPr/>
        </p:nvSpPr>
        <p:spPr>
          <a:xfrm>
            <a:off x="481943" y="1597392"/>
            <a:ext cx="11108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electron 'hopping' from site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(orbital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site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(orbital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physically described as: Annihilating it at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Creating it at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b="1" i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E7D486-D4AE-431D-8BC3-FE528E4D1102}"/>
                  </a:ext>
                </a:extLst>
              </p:cNvPr>
              <p:cNvSpPr txBox="1"/>
              <p:nvPr/>
            </p:nvSpPr>
            <p:spPr>
              <a:xfrm>
                <a:off x="476555" y="3755803"/>
                <a:ext cx="6172621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standard real-space hopping integral (amplitudes)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E7D486-D4AE-431D-8BC3-FE528E4D1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5" y="3755803"/>
                <a:ext cx="6172621" cy="395621"/>
              </a:xfrm>
              <a:prstGeom prst="rect">
                <a:avLst/>
              </a:prstGeom>
              <a:blipFill>
                <a:blip r:embed="rId6"/>
                <a:stretch>
                  <a:fillRect t="-7692" r="-888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3BB5F97-470E-4EC5-BC4B-980D4D76A64F}"/>
              </a:ext>
            </a:extLst>
          </p:cNvPr>
          <p:cNvSpPr txBox="1"/>
          <p:nvPr/>
        </p:nvSpPr>
        <p:spPr>
          <a:xfrm>
            <a:off x="3283348" y="84304"/>
            <a:ext cx="5338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The Field Operator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95FBBF-D674-41BA-9BC4-7F98CF254D6A}"/>
                  </a:ext>
                </a:extLst>
              </p:cNvPr>
              <p:cNvSpPr txBox="1"/>
              <p:nvPr/>
            </p:nvSpPr>
            <p:spPr>
              <a:xfrm>
                <a:off x="476555" y="4670692"/>
                <a:ext cx="11108924" cy="989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true nature of 'hopping' in Quantum Field Theory is that an electron is annihilated at site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simultaneously reborn at site </a:t>
                </a:r>
                <a:r>
                  <a:rPr lang="en-US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—this is what hopping physically means. Since the physical sequence of operators is annihilation first followed by creation, it is mathematically expressed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95FBBF-D674-41BA-9BC4-7F98CF25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55" y="4670692"/>
                <a:ext cx="11108924" cy="989695"/>
              </a:xfrm>
              <a:prstGeom prst="rect">
                <a:avLst/>
              </a:prstGeom>
              <a:blipFill>
                <a:blip r:embed="rId7"/>
                <a:stretch>
                  <a:fillRect l="-439" t="-3067" r="-439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73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3A3029-BDF9-40F7-B6A0-F60E8E3D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69A371-3746-4C49-AC28-2724C5970AF4}"/>
              </a:ext>
            </a:extLst>
          </p:cNvPr>
          <p:cNvSpPr txBox="1"/>
          <p:nvPr/>
        </p:nvSpPr>
        <p:spPr>
          <a:xfrm>
            <a:off x="634484" y="1197983"/>
            <a:ext cx="497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Real-Space Operator Hamiltonian</a:t>
            </a:r>
            <a:endParaRPr lang="en-US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95079-273C-4CD0-B97F-6905B7A48D60}"/>
                  </a:ext>
                </a:extLst>
              </p:cNvPr>
              <p:cNvSpPr txBox="1"/>
              <p:nvPr/>
            </p:nvSpPr>
            <p:spPr>
              <a:xfrm>
                <a:off x="3813745" y="3165434"/>
                <a:ext cx="3738521" cy="79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</m:e>
                      </m:nary>
                      <m:r>
                        <a:rPr 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≠</m:t>
                          </m:r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495079-273C-4CD0-B97F-6905B7A48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745" y="3165434"/>
                <a:ext cx="3738521" cy="7998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9C79376-E976-4D85-840C-658F52DB29E3}"/>
              </a:ext>
            </a:extLst>
          </p:cNvPr>
          <p:cNvSpPr txBox="1"/>
          <p:nvPr/>
        </p:nvSpPr>
        <p:spPr>
          <a:xfrm>
            <a:off x="634484" y="2113272"/>
            <a:ext cx="995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on-site and directional hopping terms yields the full, generic TBM Hamiltonian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C0DA14-66EA-4CFC-959B-3762AFB4D5D6}"/>
                  </a:ext>
                </a:extLst>
              </p:cNvPr>
              <p:cNvSpPr txBox="1"/>
              <p:nvPr/>
            </p:nvSpPr>
            <p:spPr>
              <a:xfrm>
                <a:off x="634484" y="4703314"/>
                <a:ext cx="1020284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Hermiticity Constraint: To ensure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hopping matrix elements must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C0DA14-66EA-4CFC-959B-3762AFB4D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84" y="4703314"/>
                <a:ext cx="10202848" cy="403957"/>
              </a:xfrm>
              <a:prstGeom prst="rect">
                <a:avLst/>
              </a:prstGeom>
              <a:blipFill>
                <a:blip r:embed="rId5"/>
                <a:stretch>
                  <a:fillRect l="-478" t="-909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B412A3B-6A77-4E30-BE16-3B1E45D7C4C4}"/>
              </a:ext>
            </a:extLst>
          </p:cNvPr>
          <p:cNvSpPr txBox="1"/>
          <p:nvPr/>
        </p:nvSpPr>
        <p:spPr>
          <a:xfrm>
            <a:off x="1557115" y="87103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9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00A0960-457D-43DB-A948-CB101616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257F49-8016-44C6-B361-FBFAF42C9BC3}"/>
              </a:ext>
            </a:extLst>
          </p:cNvPr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0F3C7-2FC3-4AF9-991A-7FA79CD80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BD37A9-D919-45A4-91FA-3AA973CA5B82}"/>
              </a:ext>
            </a:extLst>
          </p:cNvPr>
          <p:cNvSpPr txBox="1">
            <a:spLocks/>
          </p:cNvSpPr>
          <p:nvPr/>
        </p:nvSpPr>
        <p:spPr>
          <a:xfrm>
            <a:off x="11751732" y="6643166"/>
            <a:ext cx="443643" cy="214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5E70F-EA86-4F73-963E-0B7E7AACF940}"/>
              </a:ext>
            </a:extLst>
          </p:cNvPr>
          <p:cNvSpPr txBox="1"/>
          <p:nvPr/>
        </p:nvSpPr>
        <p:spPr>
          <a:xfrm>
            <a:off x="776106" y="852398"/>
            <a:ext cx="483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Fourier Transform of Lattice Operators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58412C-DDB6-4E4B-8B9F-182879121F1B}"/>
              </a:ext>
            </a:extLst>
          </p:cNvPr>
          <p:cNvSpPr txBox="1"/>
          <p:nvPr/>
        </p:nvSpPr>
        <p:spPr>
          <a:xfrm>
            <a:off x="776107" y="1561318"/>
            <a:ext cx="10298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exploit lattice translational symmetry, define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creation and annihilation operators via discrete Fourier transform: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BEA0BC-D5CC-4583-8E1E-F195576A71E0}"/>
              </a:ext>
            </a:extLst>
          </p:cNvPr>
          <p:cNvSpPr txBox="1"/>
          <p:nvPr/>
        </p:nvSpPr>
        <p:spPr>
          <a:xfrm>
            <a:off x="5712225" y="2986592"/>
            <a:ext cx="248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1E7EC7-5CCA-409B-9CC7-F8A6519E5EDD}"/>
                  </a:ext>
                </a:extLst>
              </p:cNvPr>
              <p:cNvSpPr txBox="1"/>
              <p:nvPr/>
            </p:nvSpPr>
            <p:spPr>
              <a:xfrm>
                <a:off x="776106" y="4153270"/>
                <a:ext cx="6830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unit cells;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restricted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𝒔𝒕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Brillouin Zone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11E7EC7-5CCA-409B-9CC7-F8A6519E5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06" y="4153270"/>
                <a:ext cx="6830307" cy="369332"/>
              </a:xfrm>
              <a:prstGeom prst="rect">
                <a:avLst/>
              </a:prstGeom>
              <a:blipFill>
                <a:blip r:embed="rId4"/>
                <a:stretch>
                  <a:fillRect l="-714" t="-8197" r="-6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7362BD-1154-47B1-BB34-A0BA024A3D45}"/>
                  </a:ext>
                </a:extLst>
              </p:cNvPr>
              <p:cNvSpPr txBox="1"/>
              <p:nvPr/>
            </p:nvSpPr>
            <p:spPr>
              <a:xfrm>
                <a:off x="776106" y="4942705"/>
                <a:ext cx="9660467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new operators retain standard fermionic anti-commutation relations: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l-G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ν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†</m:t>
                            </m:r>
                          </m:sup>
                        </m:sSubSup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7362BD-1154-47B1-BB34-A0BA024A3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06" y="4942705"/>
                <a:ext cx="9660467" cy="445635"/>
              </a:xfrm>
              <a:prstGeom prst="rect">
                <a:avLst/>
              </a:prstGeom>
              <a:blipFill>
                <a:blip r:embed="rId5"/>
                <a:stretch>
                  <a:fillRect l="-505"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A2097F9-B9F8-4BC0-AAAD-CD642031BBD3}"/>
              </a:ext>
            </a:extLst>
          </p:cNvPr>
          <p:cNvSpPr txBox="1"/>
          <p:nvPr/>
        </p:nvSpPr>
        <p:spPr>
          <a:xfrm>
            <a:off x="1557115" y="87103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C13BE5E-1F9A-416A-AEE9-AFDEF1BE271C}"/>
                  </a:ext>
                </a:extLst>
              </p:cNvPr>
              <p:cNvSpPr txBox="1"/>
              <p:nvPr/>
            </p:nvSpPr>
            <p:spPr>
              <a:xfrm>
                <a:off x="3376134" y="2857610"/>
                <a:ext cx="2351617" cy="764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C13BE5E-1F9A-416A-AEE9-AFDEF1BE2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134" y="2857610"/>
                <a:ext cx="2351617" cy="7643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2AF97C-8FB6-40B3-A38E-81AEB46B01CF}"/>
                  </a:ext>
                </a:extLst>
              </p:cNvPr>
              <p:cNvSpPr txBox="1"/>
              <p:nvPr/>
            </p:nvSpPr>
            <p:spPr>
              <a:xfrm>
                <a:off x="6153199" y="2858591"/>
                <a:ext cx="2478618" cy="764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2AF97C-8FB6-40B3-A38E-81AEB46B0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199" y="2858591"/>
                <a:ext cx="2478618" cy="7643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95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866" y="6643166"/>
            <a:ext cx="350509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F6ACBD-412F-4511-8EE6-DE625212B185}"/>
                  </a:ext>
                </a:extLst>
              </p:cNvPr>
              <p:cNvSpPr txBox="1"/>
              <p:nvPr/>
            </p:nvSpPr>
            <p:spPr>
              <a:xfrm>
                <a:off x="3514794" y="2601004"/>
                <a:ext cx="5274375" cy="864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e>
                                  </m:rad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𝒊𝒌</m:t>
                                      </m:r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𝒌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l-GR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F6ACBD-412F-4511-8EE6-DE625212B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794" y="2601004"/>
                <a:ext cx="5274375" cy="864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FB4F05-114A-48C3-AEBC-576A44383FB7}"/>
                  </a:ext>
                </a:extLst>
              </p:cNvPr>
              <p:cNvSpPr txBox="1"/>
              <p:nvPr/>
            </p:nvSpPr>
            <p:spPr>
              <a:xfrm>
                <a:off x="406759" y="1619187"/>
                <a:ext cx="7069309" cy="421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the Fourier expressions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the hopping term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FB4F05-114A-48C3-AEBC-576A44383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9" y="1619187"/>
                <a:ext cx="7069309" cy="421013"/>
              </a:xfrm>
              <a:prstGeom prst="rect">
                <a:avLst/>
              </a:prstGeom>
              <a:blipFill>
                <a:blip r:embed="rId6"/>
                <a:stretch>
                  <a:fillRect l="-777" t="-2899" r="-690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C155878-C602-4AF8-A35C-8C28D7938BE6}"/>
              </a:ext>
            </a:extLst>
          </p:cNvPr>
          <p:cNvSpPr txBox="1"/>
          <p:nvPr/>
        </p:nvSpPr>
        <p:spPr>
          <a:xfrm>
            <a:off x="406759" y="896513"/>
            <a:ext cx="424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Deconstructing the Transformation Proof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124A3D-0F95-4B30-900B-B9F2B4839E7A}"/>
              </a:ext>
            </a:extLst>
          </p:cNvPr>
          <p:cNvSpPr txBox="1"/>
          <p:nvPr/>
        </p:nvSpPr>
        <p:spPr>
          <a:xfrm>
            <a:off x="1557115" y="87103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8A15ACA-062B-45EF-91AD-4B7110369611}"/>
                  </a:ext>
                </a:extLst>
              </p:cNvPr>
              <p:cNvSpPr txBox="1"/>
              <p:nvPr/>
            </p:nvSpPr>
            <p:spPr>
              <a:xfrm>
                <a:off x="406759" y="4043080"/>
                <a:ext cx="7001574" cy="50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utilize the lattice identity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𝒌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sup>
                        </m:sSup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8A15ACA-062B-45EF-91AD-4B7110369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9" y="4043080"/>
                <a:ext cx="7001574" cy="505138"/>
              </a:xfrm>
              <a:prstGeom prst="rect">
                <a:avLst/>
              </a:prstGeom>
              <a:blipFill>
                <a:blip r:embed="rId7"/>
                <a:stretch>
                  <a:fillRect l="-784" t="-74699" b="-12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A0063A-1D9B-4C88-BE96-02DB5D23363D}"/>
                  </a:ext>
                </a:extLst>
              </p:cNvPr>
              <p:cNvSpPr txBox="1"/>
              <p:nvPr/>
            </p:nvSpPr>
            <p:spPr>
              <a:xfrm>
                <a:off x="3514794" y="4922158"/>
                <a:ext cx="4350739" cy="851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𝒉𝒐𝒑𝒑𝒊𝒏𝒈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𝒃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𝒕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𝜶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ν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𝒆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𝒊𝒌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∙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𝒃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A0063A-1D9B-4C88-BE96-02DB5D233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794" y="4922158"/>
                <a:ext cx="4350739" cy="8512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71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95578-6B19-464A-8AA7-6F68494F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3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70E3A6-3E2D-45C3-B363-AB4050AAC4D6}"/>
              </a:ext>
            </a:extLst>
          </p:cNvPr>
          <p:cNvSpPr txBox="1"/>
          <p:nvPr/>
        </p:nvSpPr>
        <p:spPr>
          <a:xfrm>
            <a:off x="592083" y="1142948"/>
            <a:ext cx="5904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Matrix Element as a Coefficient Intermediary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7C24CE-C1A1-4879-A29F-0934140C48D4}"/>
                  </a:ext>
                </a:extLst>
              </p:cNvPr>
              <p:cNvSpPr txBox="1"/>
              <p:nvPr/>
            </p:nvSpPr>
            <p:spPr>
              <a:xfrm>
                <a:off x="3714253" y="4802306"/>
                <a:ext cx="3496296" cy="764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7C24CE-C1A1-4879-A29F-0934140C4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253" y="4802306"/>
                <a:ext cx="3496296" cy="764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BB820A15-7BD4-46A9-91DE-C16D56C5DFE0}"/>
              </a:ext>
            </a:extLst>
          </p:cNvPr>
          <p:cNvSpPr txBox="1"/>
          <p:nvPr/>
        </p:nvSpPr>
        <p:spPr>
          <a:xfrm>
            <a:off x="592083" y="1825494"/>
            <a:ext cx="974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terms, the full Hamiltonian operator becomes beautifully block-diagonalized in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8D0744-BDBB-422C-B5D0-A0D171833AA4}"/>
              </a:ext>
            </a:extLst>
          </p:cNvPr>
          <p:cNvSpPr txBox="1"/>
          <p:nvPr/>
        </p:nvSpPr>
        <p:spPr>
          <a:xfrm>
            <a:off x="1557115" y="87103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9FE489-D802-4F96-B9DF-CF4115A6FF89}"/>
                  </a:ext>
                </a:extLst>
              </p:cNvPr>
              <p:cNvSpPr txBox="1"/>
              <p:nvPr/>
            </p:nvSpPr>
            <p:spPr>
              <a:xfrm>
                <a:off x="4209061" y="2643272"/>
                <a:ext cx="2725140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9FE489-D802-4F96-B9DF-CF4115A6F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061" y="2643272"/>
                <a:ext cx="2725140" cy="785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5E432A-C273-4DA1-B067-73171ACC699C}"/>
                  </a:ext>
                </a:extLst>
              </p:cNvPr>
              <p:cNvSpPr txBox="1"/>
              <p:nvPr/>
            </p:nvSpPr>
            <p:spPr>
              <a:xfrm>
                <a:off x="592083" y="3950288"/>
                <a:ext cx="6579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the matrix element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exactly as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5E432A-C273-4DA1-B067-73171ACC6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83" y="3950288"/>
                <a:ext cx="6579627" cy="369332"/>
              </a:xfrm>
              <a:prstGeom prst="rect">
                <a:avLst/>
              </a:prstGeom>
              <a:blipFill>
                <a:blip r:embed="rId7"/>
                <a:stretch>
                  <a:fillRect l="-649" t="-8197" r="-7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7920AF-5C04-4573-BE3D-A99CA18F4062}"/>
                  </a:ext>
                </a:extLst>
              </p:cNvPr>
              <p:cNvSpPr txBox="1"/>
              <p:nvPr/>
            </p:nvSpPr>
            <p:spPr>
              <a:xfrm>
                <a:off x="6947685" y="2543939"/>
                <a:ext cx="5200953" cy="1253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Those 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matrix elements, in the language of second quantization, are precisely the matrix coefficients preceding the k space operator combinations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7920AF-5C04-4573-BE3D-A99CA18F4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685" y="2543939"/>
                <a:ext cx="5200953" cy="1253677"/>
              </a:xfrm>
              <a:prstGeom prst="rect">
                <a:avLst/>
              </a:prstGeom>
              <a:blipFill>
                <a:blip r:embed="rId8"/>
                <a:stretch>
                  <a:fillRect l="-1055" t="-2427" r="-938" b="-5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35D8151-F70F-4EFF-91A4-4D8B48C3772F}"/>
              </a:ext>
            </a:extLst>
          </p:cNvPr>
          <p:cNvSpPr txBox="1"/>
          <p:nvPr/>
        </p:nvSpPr>
        <p:spPr>
          <a:xfrm>
            <a:off x="3358087" y="5796295"/>
            <a:ext cx="8790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Diagonalizing the Hamiltonian is, in essence, searching for a new set of quasiparticle operators that forces all these cross-term coefficients to completely vanish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83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B6A2A-7C28-4370-989B-B8604EA0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9467" y="6643166"/>
            <a:ext cx="375910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620BC4-7FD8-4B33-AE3F-2BBFBF923C85}"/>
              </a:ext>
            </a:extLst>
          </p:cNvPr>
          <p:cNvSpPr txBox="1"/>
          <p:nvPr/>
        </p:nvSpPr>
        <p:spPr>
          <a:xfrm>
            <a:off x="464435" y="1053092"/>
            <a:ext cx="504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Hermiticity and the '+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Convention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BF4A30-D1B9-47F0-BD12-18D46862ED34}"/>
              </a:ext>
            </a:extLst>
          </p:cNvPr>
          <p:cNvSpPr txBox="1"/>
          <p:nvPr/>
        </p:nvSpPr>
        <p:spPr>
          <a:xfrm>
            <a:off x="464435" y="1770446"/>
            <a:ext cx="909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literature, to avoid writing long symmetric equations, the Hamiltonian is often truncated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9D872F-4A8E-4814-AAC7-CEC6F4EC4F43}"/>
              </a:ext>
            </a:extLst>
          </p:cNvPr>
          <p:cNvSpPr txBox="1"/>
          <p:nvPr/>
        </p:nvSpPr>
        <p:spPr>
          <a:xfrm>
            <a:off x="464435" y="4100168"/>
            <a:ext cx="815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expansion of the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flips the operator order and conjugates the phase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E8FF30-21B2-4A4E-9620-5B960EF2E7E8}"/>
              </a:ext>
            </a:extLst>
          </p:cNvPr>
          <p:cNvSpPr txBox="1"/>
          <p:nvPr/>
        </p:nvSpPr>
        <p:spPr>
          <a:xfrm>
            <a:off x="8059098" y="3489388"/>
            <a:ext cx="2285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Hermitian Conjugate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982B47-C952-4F01-9007-7AA18D13668F}"/>
              </a:ext>
            </a:extLst>
          </p:cNvPr>
          <p:cNvSpPr txBox="1"/>
          <p:nvPr/>
        </p:nvSpPr>
        <p:spPr>
          <a:xfrm>
            <a:off x="1557115" y="87103"/>
            <a:ext cx="918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Tight-Binding Hamiltonian in Real &amp; Reciprocal Space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CC4469-5956-4943-83BA-088C7084B6FB}"/>
                  </a:ext>
                </a:extLst>
              </p:cNvPr>
              <p:cNvSpPr txBox="1"/>
              <p:nvPr/>
            </p:nvSpPr>
            <p:spPr>
              <a:xfrm>
                <a:off x="3359549" y="2536957"/>
                <a:ext cx="5288889" cy="829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</m:sSub>
                        </m:e>
                      </m:nary>
                      <m:r>
                        <a:rPr lang="en-US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l-GR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nary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m:rPr>
                                  <m:sty m:val="p"/>
                                </m:rPr>
                                <a:rPr lang="el-GR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CC4469-5956-4943-83BA-088C7084B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549" y="2536957"/>
                <a:ext cx="5288889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FBD6BF7-6425-4C56-BD52-DF65D6F97A83}"/>
              </a:ext>
            </a:extLst>
          </p:cNvPr>
          <p:cNvSpPr/>
          <p:nvPr/>
        </p:nvSpPr>
        <p:spPr>
          <a:xfrm>
            <a:off x="7939485" y="2774079"/>
            <a:ext cx="504719" cy="355600"/>
          </a:xfrm>
          <a:prstGeom prst="ellips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FDE32E-3C6E-42A9-B5C6-39BDA88AA044}"/>
              </a:ext>
            </a:extLst>
          </p:cNvPr>
          <p:cNvCxnSpPr>
            <a:cxnSpLocks/>
          </p:cNvCxnSpPr>
          <p:nvPr/>
        </p:nvCxnSpPr>
        <p:spPr>
          <a:xfrm>
            <a:off x="8191844" y="3177604"/>
            <a:ext cx="162049" cy="390411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707464-5845-4C4F-A4B6-8E3814A6B510}"/>
                  </a:ext>
                </a:extLst>
              </p:cNvPr>
              <p:cNvSpPr txBox="1"/>
              <p:nvPr/>
            </p:nvSpPr>
            <p:spPr>
              <a:xfrm>
                <a:off x="1184296" y="5003363"/>
                <a:ext cx="5236806" cy="487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𝜶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ν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m:rPr>
                              <m:sty m:val="p"/>
                            </m:rPr>
                            <a:rPr lang="el-G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</m:d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m:rPr>
                              <m:sty m:val="p"/>
                            </m:rPr>
                            <a:rPr lang="el-GR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707464-5845-4C4F-A4B6-8E3814A6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96" y="5003363"/>
                <a:ext cx="5236806" cy="4879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D8545-06AA-4120-AD89-E17D31638750}"/>
              </a:ext>
            </a:extLst>
          </p:cNvPr>
          <p:cNvCxnSpPr/>
          <p:nvPr/>
        </p:nvCxnSpPr>
        <p:spPr>
          <a:xfrm>
            <a:off x="7911221" y="4825891"/>
            <a:ext cx="0" cy="15662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FAA67D-84FD-43F7-B52A-0C1274734B86}"/>
              </a:ext>
            </a:extLst>
          </p:cNvPr>
          <p:cNvCxnSpPr/>
          <p:nvPr/>
        </p:nvCxnSpPr>
        <p:spPr>
          <a:xfrm>
            <a:off x="9791479" y="4825891"/>
            <a:ext cx="0" cy="15662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D45804C1-E2E6-4B39-BBE3-2C00C6163B26}"/>
              </a:ext>
            </a:extLst>
          </p:cNvPr>
          <p:cNvSpPr/>
          <p:nvPr/>
        </p:nvSpPr>
        <p:spPr>
          <a:xfrm>
            <a:off x="8057549" y="4919195"/>
            <a:ext cx="1439066" cy="1416992"/>
          </a:xfrm>
          <a:prstGeom prst="rtTriangle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19FE8480-524F-4FFF-A1CF-608D5AC699A5}"/>
              </a:ext>
            </a:extLst>
          </p:cNvPr>
          <p:cNvSpPr/>
          <p:nvPr/>
        </p:nvSpPr>
        <p:spPr>
          <a:xfrm rot="10800000">
            <a:off x="8211042" y="4898374"/>
            <a:ext cx="1439066" cy="1416992"/>
          </a:xfrm>
          <a:prstGeom prst="rtTriangl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019F9C-29BF-4AF3-BAC7-233C17ECF769}"/>
              </a:ext>
            </a:extLst>
          </p:cNvPr>
          <p:cNvCxnSpPr/>
          <p:nvPr/>
        </p:nvCxnSpPr>
        <p:spPr>
          <a:xfrm flipV="1">
            <a:off x="8550091" y="5319781"/>
            <a:ext cx="615375" cy="61582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A05DA40-B1C8-4D31-8DF7-E221ED2333E5}"/>
              </a:ext>
            </a:extLst>
          </p:cNvPr>
          <p:cNvSpPr txBox="1"/>
          <p:nvPr/>
        </p:nvSpPr>
        <p:spPr>
          <a:xfrm>
            <a:off x="8513467" y="5247340"/>
            <a:ext cx="534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B568A0F-CE3E-4ECF-9FFF-E50CAFDFA13D}"/>
                  </a:ext>
                </a:extLst>
              </p:cNvPr>
              <p:cNvSpPr txBox="1"/>
              <p:nvPr/>
            </p:nvSpPr>
            <p:spPr>
              <a:xfrm>
                <a:off x="6975826" y="5417512"/>
                <a:ext cx="9353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B568A0F-CE3E-4ECF-9FFF-E50CAFDFA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826" y="5417512"/>
                <a:ext cx="93539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01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EAFFAE-EB16-4700-B33E-B0A26623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4073" y="6643166"/>
            <a:ext cx="38792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713FD4-7D16-4F09-AA97-9445A413BE9B}"/>
                  </a:ext>
                </a:extLst>
              </p:cNvPr>
              <p:cNvSpPr txBox="1"/>
              <p:nvPr/>
            </p:nvSpPr>
            <p:spPr>
              <a:xfrm>
                <a:off x="177282" y="1840850"/>
                <a:ext cx="11019452" cy="435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code, an operator combination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maps directly to a discrete storage location: 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Hamiltonian(row, </a:t>
                </a:r>
                <a:r>
                  <a:rPr lang="en-US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cloumn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713FD4-7D16-4F09-AA97-9445A413B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82" y="1840850"/>
                <a:ext cx="11019452" cy="435697"/>
              </a:xfrm>
              <a:prstGeom prst="rect">
                <a:avLst/>
              </a:prstGeom>
              <a:blipFill>
                <a:blip r:embed="rId5"/>
                <a:stretch>
                  <a:fillRect l="-442" r="-387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577069F-6675-4158-8230-CE2099298580}"/>
              </a:ext>
            </a:extLst>
          </p:cNvPr>
          <p:cNvSpPr txBox="1"/>
          <p:nvPr/>
        </p:nvSpPr>
        <p:spPr>
          <a:xfrm>
            <a:off x="177282" y="5031269"/>
            <a:ext cx="11840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Fortran TBM code is nothing more than an automated counting machine that loops over real space bonds and logs their phase-wrapped hopping strengths into sorted matrix addresses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42FD2D-C04A-47B2-9C19-5365E3D58497}"/>
              </a:ext>
            </a:extLst>
          </p:cNvPr>
          <p:cNvSpPr txBox="1"/>
          <p:nvPr/>
        </p:nvSpPr>
        <p:spPr>
          <a:xfrm>
            <a:off x="177283" y="1117943"/>
            <a:ext cx="5579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Field Operators to Computer Memory Addresses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A00D58-45AA-45D5-A63A-DD61F05A5D4E}"/>
              </a:ext>
            </a:extLst>
          </p:cNvPr>
          <p:cNvSpPr txBox="1"/>
          <p:nvPr/>
        </p:nvSpPr>
        <p:spPr>
          <a:xfrm>
            <a:off x="3596952" y="2978001"/>
            <a:ext cx="497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Index (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Matrix Row Index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19061E-AF6E-4C94-AE05-730960D359B9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172879-EAE2-4E38-83E2-57DDFE756255}"/>
              </a:ext>
            </a:extLst>
          </p:cNvPr>
          <p:cNvSpPr txBox="1"/>
          <p:nvPr/>
        </p:nvSpPr>
        <p:spPr>
          <a:xfrm>
            <a:off x="3596952" y="3832489"/>
            <a:ext cx="603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Annihilation Index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Matrix Column Index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106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911118B-E748-4BDF-982D-3D8806BD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532" y="6643166"/>
            <a:ext cx="392843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DAB9D-EB39-409F-9CD7-AF0DD864B33E}"/>
              </a:ext>
            </a:extLst>
          </p:cNvPr>
          <p:cNvSpPr txBox="1"/>
          <p:nvPr/>
        </p:nvSpPr>
        <p:spPr>
          <a:xfrm>
            <a:off x="1051556" y="3676156"/>
            <a:ext cx="931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numorbital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natom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Allocates the number of active orbitals per atomic species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0E5AA-C249-4B03-866B-4621E4BF785B}"/>
              </a:ext>
            </a:extLst>
          </p:cNvPr>
          <p:cNvSpPr txBox="1"/>
          <p:nvPr/>
        </p:nvSpPr>
        <p:spPr>
          <a:xfrm>
            <a:off x="139958" y="914874"/>
            <a:ext cx="596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Structures: Representing Crystal Geometry in Arrays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80238-40EA-4E03-A931-53E5018AFC9D}"/>
              </a:ext>
            </a:extLst>
          </p:cNvPr>
          <p:cNvSpPr txBox="1"/>
          <p:nvPr/>
        </p:nvSpPr>
        <p:spPr>
          <a:xfrm>
            <a:off x="1051556" y="1661048"/>
            <a:ext cx="913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REAL(KIND=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latticeinrealspace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(3,3) → Stores primitive translation vectors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6A17F5-D2FD-4617-A574-2140A4F0B831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BA78BE-CC46-40F5-8019-DAFEF1EB1913}"/>
              </a:ext>
            </a:extLst>
          </p:cNvPr>
          <p:cNvSpPr txBox="1"/>
          <p:nvPr/>
        </p:nvSpPr>
        <p:spPr>
          <a:xfrm>
            <a:off x="1051556" y="2632703"/>
            <a:ext cx="906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REAL(KIND=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atomcoordinate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(3,natom) → Stores internal fractional coordinates (</a:t>
            </a:r>
            <a:r>
              <a:rPr lang="el-G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l-GR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F2718-7690-46CD-A15A-4985703C6C7F}"/>
              </a:ext>
            </a:extLst>
          </p:cNvPr>
          <p:cNvSpPr txBox="1"/>
          <p:nvPr/>
        </p:nvSpPr>
        <p:spPr>
          <a:xfrm>
            <a:off x="149074" y="4341277"/>
            <a:ext cx="118498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very first step in coding is to strictly lock the real-space geometric lattice into standardized arrays within the computer memory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be heavily emphasized that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always use the high-precision, dimensionless real type REAL(KIND=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across the board to prevent any potential numerical drift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14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AFBB4-5E3C-4FFA-9680-7421DF35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067" y="6646520"/>
            <a:ext cx="401309" cy="219363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D23D4D-C567-489B-BE38-3FBA32EAB382}"/>
                  </a:ext>
                </a:extLst>
              </p:cNvPr>
              <p:cNvSpPr txBox="1"/>
              <p:nvPr/>
            </p:nvSpPr>
            <p:spPr>
              <a:xfrm>
                <a:off x="179083" y="2725552"/>
                <a:ext cx="77612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Triple Nested Cell Loop: Loop over target replica cells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D23D4D-C567-489B-BE38-3FBA32EAB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3" y="2725552"/>
                <a:ext cx="7761267" cy="369332"/>
              </a:xfrm>
              <a:prstGeom prst="rect">
                <a:avLst/>
              </a:prstGeom>
              <a:blipFill>
                <a:blip r:embed="rId5"/>
                <a:stretch>
                  <a:fillRect l="-628" t="-8197" r="-5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8A39F8C-838C-4C62-BE94-365BA236B06D}"/>
              </a:ext>
            </a:extLst>
          </p:cNvPr>
          <p:cNvSpPr txBox="1"/>
          <p:nvPr/>
        </p:nvSpPr>
        <p:spPr>
          <a:xfrm>
            <a:off x="179085" y="1853457"/>
            <a:ext cx="974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does not know who is bonded to whom so one must execute a spatial distance sweep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25E56F-C010-46A2-8085-D40B72DED9D8}"/>
                  </a:ext>
                </a:extLst>
              </p:cNvPr>
              <p:cNvSpPr txBox="1"/>
              <p:nvPr/>
            </p:nvSpPr>
            <p:spPr>
              <a:xfrm>
                <a:off x="179083" y="3470150"/>
                <a:ext cx="5512590" cy="415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Formula: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𝒓𝒆𝒑𝒍𝒊𝒄𝒂</m:t>
                            </m:r>
                          </m:sub>
                        </m:s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25E56F-C010-46A2-8085-D40B72DED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3" y="3470150"/>
                <a:ext cx="5512590" cy="415370"/>
              </a:xfrm>
              <a:prstGeom prst="rect">
                <a:avLst/>
              </a:prstGeom>
              <a:blipFill>
                <a:blip r:embed="rId6"/>
                <a:stretch>
                  <a:fillRect l="-884" t="-294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7C4FEC0-86E5-4BA4-95AF-9CD1E30FC067}"/>
              </a:ext>
            </a:extLst>
          </p:cNvPr>
          <p:cNvSpPr txBox="1"/>
          <p:nvPr/>
        </p:nvSpPr>
        <p:spPr>
          <a:xfrm>
            <a:off x="179082" y="5081995"/>
            <a:ext cx="1180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'neighbor-searching' process only needs to be executed once during the initialization stage of the entire program run. Once the nearest neighbors are successfully swept, a comprehensive Neighbor List is obtained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C8859-4ED0-402D-B18A-01F9CFB18DBF}"/>
              </a:ext>
            </a:extLst>
          </p:cNvPr>
          <p:cNvSpPr txBox="1"/>
          <p:nvPr/>
        </p:nvSpPr>
        <p:spPr>
          <a:xfrm>
            <a:off x="179083" y="1118875"/>
            <a:ext cx="755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 Search Algorithm: The Automated Neighbor Sweep in Real Space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D6FBD-5BF7-4994-BF6F-184BFF6722AF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B8C6D3-247A-4636-BFD9-38E312A8FC94}"/>
                  </a:ext>
                </a:extLst>
              </p:cNvPr>
              <p:cNvSpPr txBox="1"/>
              <p:nvPr/>
            </p:nvSpPr>
            <p:spPr>
              <a:xfrm>
                <a:off x="179081" y="4299449"/>
                <a:ext cx="7798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Filtering: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record this pair into the Neighbor List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B8C6D3-247A-4636-BFD9-38E312A8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1" y="4299449"/>
                <a:ext cx="7798591" cy="369332"/>
              </a:xfrm>
              <a:prstGeom prst="rect">
                <a:avLst/>
              </a:prstGeom>
              <a:blipFill>
                <a:blip r:embed="rId7"/>
                <a:stretch>
                  <a:fillRect l="-625" t="-8197" r="-54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267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887F5-CDEA-4141-8554-FD70AA32DB73}"/>
              </a:ext>
            </a:extLst>
          </p:cNvPr>
          <p:cNvSpPr txBox="1"/>
          <p:nvPr/>
        </p:nvSpPr>
        <p:spPr>
          <a:xfrm>
            <a:off x="339174" y="909672"/>
            <a:ext cx="462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Anatomy of the Recorded Neighbor List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E979A9-0852-42F5-99F6-1E5808E83EC1}"/>
              </a:ext>
            </a:extLst>
          </p:cNvPr>
          <p:cNvSpPr txBox="1"/>
          <p:nvPr/>
        </p:nvSpPr>
        <p:spPr>
          <a:xfrm>
            <a:off x="339172" y="1573257"/>
            <a:ext cx="1098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re-calculating geometry inside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loop, the Neighbor List stores pre-computed values for each bond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613B50-C5C9-4A14-8768-FE7EC7617A39}"/>
              </a:ext>
            </a:extLst>
          </p:cNvPr>
          <p:cNvSpPr txBox="1"/>
          <p:nvPr/>
        </p:nvSpPr>
        <p:spPr>
          <a:xfrm>
            <a:off x="339172" y="2459474"/>
            <a:ext cx="868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atompointer_i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atompointer_j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Integer pointers to the interacting atoms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CE1ECE-769E-4DEE-891D-89F9F0C7C861}"/>
              </a:ext>
            </a:extLst>
          </p:cNvPr>
          <p:cNvSpPr txBox="1"/>
          <p:nvPr/>
        </p:nvSpPr>
        <p:spPr>
          <a:xfrm>
            <a:off x="339172" y="3229775"/>
            <a:ext cx="685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REAL(KIND=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atomdistance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→ The real-space vector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7BC8C3-F9EF-42DC-961A-6AACD5D057E6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25CB6-6DB9-4B28-B390-07050F7068E2}"/>
              </a:ext>
            </a:extLst>
          </p:cNvPr>
          <p:cNvSpPr txBox="1"/>
          <p:nvPr/>
        </p:nvSpPr>
        <p:spPr>
          <a:xfrm>
            <a:off x="332829" y="4087440"/>
            <a:ext cx="968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REAL(KIND=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dirctioncosines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→ Pre-calculated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instant Slater-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Koster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BC49A-1E9D-4CA8-8118-3234EA0F8548}"/>
              </a:ext>
            </a:extLst>
          </p:cNvPr>
          <p:cNvSpPr txBox="1"/>
          <p:nvPr/>
        </p:nvSpPr>
        <p:spPr>
          <a:xfrm>
            <a:off x="177221" y="4651411"/>
            <a:ext cx="11801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reciprocal-space loop might scan thousands of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points, recalculating distances and performing square roots (to find direction cosines) inside the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 would severely degrade the program's performance</a:t>
            </a:r>
          </a:p>
          <a:p>
            <a:pPr algn="just"/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Pre-computing and caching these values during initialization is a classic 'space-for-time' code optimization strategy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0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F2044D-00B2-4C11-802B-8A33045AE4EF}"/>
              </a:ext>
            </a:extLst>
          </p:cNvPr>
          <p:cNvSpPr txBox="1"/>
          <p:nvPr/>
        </p:nvSpPr>
        <p:spPr>
          <a:xfrm>
            <a:off x="297606" y="1325613"/>
            <a:ext cx="5104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Reciprocal Space Scanning: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 Generator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2C57550-563F-45F1-9B2E-0935BE0F04B8}"/>
                  </a:ext>
                </a:extLst>
              </p:cNvPr>
              <p:cNvSpPr txBox="1"/>
              <p:nvPr/>
            </p:nvSpPr>
            <p:spPr>
              <a:xfrm>
                <a:off x="297606" y="2297495"/>
                <a:ext cx="9573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bands are evaluated along distinct lines connecting high-symmetry vertices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𝒔𝒕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BZ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2C57550-563F-45F1-9B2E-0935BE0F0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06" y="2297495"/>
                <a:ext cx="9573210" cy="369332"/>
              </a:xfrm>
              <a:prstGeom prst="rect">
                <a:avLst/>
              </a:prstGeom>
              <a:blipFill>
                <a:blip r:embed="rId5"/>
                <a:stretch>
                  <a:fillRect l="-573" t="-10000" r="-51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C06E94B-3BE2-4038-AF52-5B547624E830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032588-BF25-4801-9388-3B98D6B537D6}"/>
              </a:ext>
            </a:extLst>
          </p:cNvPr>
          <p:cNvSpPr txBox="1"/>
          <p:nvPr/>
        </p:nvSpPr>
        <p:spPr>
          <a:xfrm>
            <a:off x="297606" y="3506847"/>
            <a:ext cx="326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Interpolation Algorithm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DB3284B-24A4-4F1F-B985-9C56388FC7CB}"/>
                  </a:ext>
                </a:extLst>
              </p:cNvPr>
              <p:cNvSpPr txBox="1"/>
              <p:nvPr/>
            </p:nvSpPr>
            <p:spPr>
              <a:xfrm>
                <a:off x="3548860" y="3401488"/>
                <a:ext cx="5287224" cy="645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𝒔𝒕𝒂𝒓𝒕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𝒕𝒐𝒕𝒂𝒍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𝒏𝒖𝒎𝒃𝒆𝒓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𝒐𝒇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𝒆𝒏𝒅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𝒔𝒕𝒂𝒓𝒕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DB3284B-24A4-4F1F-B985-9C56388FC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860" y="3401488"/>
                <a:ext cx="5287224" cy="645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36027C4-2A27-4F21-B4CE-FC7F3BDCF6D9}"/>
              </a:ext>
            </a:extLst>
          </p:cNvPr>
          <p:cNvSpPr txBox="1"/>
          <p:nvPr/>
        </p:nvSpPr>
        <p:spPr>
          <a:xfrm>
            <a:off x="297606" y="4793063"/>
            <a:ext cx="935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flattened 2D array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kpoint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Total Number of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representing the ordered path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62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CA8560-FD04-4D7B-99FD-8CB9902F7680}"/>
              </a:ext>
            </a:extLst>
          </p:cNvPr>
          <p:cNvSpPr txBox="1"/>
          <p:nvPr/>
        </p:nvSpPr>
        <p:spPr>
          <a:xfrm>
            <a:off x="289705" y="881837"/>
            <a:ext cx="5392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Loop: Assembling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via Phase Accumulation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95559-E518-4627-9AD6-FCE8D34A1784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28AB1-435E-467E-934E-AAED50004DB5}"/>
              </a:ext>
            </a:extLst>
          </p:cNvPr>
          <p:cNvSpPr txBox="1"/>
          <p:nvPr/>
        </p:nvSpPr>
        <p:spPr>
          <a:xfrm>
            <a:off x="289704" y="1493917"/>
            <a:ext cx="1124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individual vector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kpoint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path, one initialize a fresh matrix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CMPLX(0.0_dp, 0.0_dp)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CE6B91-603C-42A2-8100-4C14E037F62B}"/>
              </a:ext>
            </a:extLst>
          </p:cNvPr>
          <p:cNvSpPr txBox="1"/>
          <p:nvPr/>
        </p:nvSpPr>
        <p:spPr>
          <a:xfrm>
            <a:off x="289704" y="2201249"/>
            <a:ext cx="257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Accumulation Loop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60397-FC34-4975-A6D3-32AB5A1EF4B0}"/>
              </a:ext>
            </a:extLst>
          </p:cNvPr>
          <p:cNvSpPr txBox="1"/>
          <p:nvPr/>
        </p:nvSpPr>
        <p:spPr>
          <a:xfrm>
            <a:off x="2710493" y="2659841"/>
            <a:ext cx="6444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k = 1,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total_bonds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phase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dot_product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kpoint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neighbor_list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(k)%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rvector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phase_factor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cmplx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(cos(phase), sin(phase), kind=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hamiltonian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hamiltonian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hopping 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phase_factor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DO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0273A2-96C6-4F0F-B128-1E1EB575D04F}"/>
                  </a:ext>
                </a:extLst>
              </p:cNvPr>
              <p:cNvSpPr txBox="1"/>
              <p:nvPr/>
            </p:nvSpPr>
            <p:spPr>
              <a:xfrm>
                <a:off x="177221" y="4287516"/>
                <a:ext cx="11801423" cy="1487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to diagonalization, one must recalculate and reassemble 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scratch for every single 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point. This is because the phase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𝒊𝒌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heavily depends on </a:t>
                </a:r>
                <a:r>
                  <a:rPr lang="en-US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Utilizing Euler's formula, cos(phase) + (0.0_dp, 1.0_dp) * sin(phase) or using the explicit complex constructor, is the most robust way to build complex numbers in Fortran</a:t>
                </a:r>
                <a:endParaRPr lang="en-US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A0273A2-96C6-4F0F-B128-1E1EB575D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21" y="4287516"/>
                <a:ext cx="11801423" cy="1487780"/>
              </a:xfrm>
              <a:prstGeom prst="rect">
                <a:avLst/>
              </a:prstGeom>
              <a:blipFill>
                <a:blip r:embed="rId5"/>
                <a:stretch>
                  <a:fillRect l="-413" t="-2049" r="-465" b="-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36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CA8560-FD04-4D7B-99FD-8CB9902F7680}"/>
              </a:ext>
            </a:extLst>
          </p:cNvPr>
          <p:cNvSpPr txBox="1"/>
          <p:nvPr/>
        </p:nvSpPr>
        <p:spPr>
          <a:xfrm>
            <a:off x="289705" y="937823"/>
            <a:ext cx="4534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the '+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in Numerical Code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95559-E518-4627-9AD6-FCE8D34A1784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28AB1-435E-467E-934E-AAED50004DB5}"/>
              </a:ext>
            </a:extLst>
          </p:cNvPr>
          <p:cNvSpPr txBox="1"/>
          <p:nvPr/>
        </p:nvSpPr>
        <p:spPr>
          <a:xfrm>
            <a:off x="289704" y="1596558"/>
            <a:ext cx="11242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assembly loop, one only needs to explicitly calculate bonds where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row_index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col_index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upper triangle)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CE6B91-603C-42A2-8100-4C14E037F62B}"/>
              </a:ext>
            </a:extLst>
          </p:cNvPr>
          <p:cNvSpPr txBox="1"/>
          <p:nvPr/>
        </p:nvSpPr>
        <p:spPr>
          <a:xfrm>
            <a:off x="289703" y="3302016"/>
            <a:ext cx="11242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the lower triangle empty during assembly, and let the subsequent numerical solver know that the matrix is inherently Hermitian. This cuts our assembly time exactly in half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60397-FC34-4975-A6D3-32AB5A1EF4B0}"/>
              </a:ext>
            </a:extLst>
          </p:cNvPr>
          <p:cNvSpPr txBox="1"/>
          <p:nvPr/>
        </p:nvSpPr>
        <p:spPr>
          <a:xfrm>
            <a:off x="6012023" y="2395276"/>
            <a:ext cx="4581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phase exponential is computationally expensive (cos and sin calls)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273A2-96C6-4F0F-B128-1E1EB575D04F}"/>
              </a:ext>
            </a:extLst>
          </p:cNvPr>
          <p:cNvSpPr txBox="1"/>
          <p:nvPr/>
        </p:nvSpPr>
        <p:spPr>
          <a:xfrm>
            <a:off x="177221" y="4511450"/>
            <a:ext cx="11801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it as '+ </a:t>
            </a:r>
            <a:r>
              <a:rPr lang="en-US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in second quantization directly equates to looping over and assembling only the upper triangle of the matrix in Fortran programming</a:t>
            </a:r>
          </a:p>
          <a:p>
            <a:pPr algn="just"/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highly advanced and practical performance optimization technique in scientific computing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3998C6-C389-4496-A31B-19E5CBD40AA9}"/>
              </a:ext>
            </a:extLst>
          </p:cNvPr>
          <p:cNvCxnSpPr/>
          <p:nvPr/>
        </p:nvCxnSpPr>
        <p:spPr>
          <a:xfrm>
            <a:off x="5897401" y="2207419"/>
            <a:ext cx="0" cy="102204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848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CA8560-FD04-4D7B-99FD-8CB9902F7680}"/>
              </a:ext>
            </a:extLst>
          </p:cNvPr>
          <p:cNvSpPr txBox="1"/>
          <p:nvPr/>
        </p:nvSpPr>
        <p:spPr>
          <a:xfrm>
            <a:off x="289705" y="881837"/>
            <a:ext cx="490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Diagonalization via LAPACK library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95559-E518-4627-9AD6-FCE8D34A1784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28AB1-435E-467E-934E-AAED50004DB5}"/>
              </a:ext>
            </a:extLst>
          </p:cNvPr>
          <p:cNvSpPr txBox="1"/>
          <p:nvPr/>
        </p:nvSpPr>
        <p:spPr>
          <a:xfrm>
            <a:off x="289704" y="1493917"/>
            <a:ext cx="973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complex Hermitian matrix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invoke the standard ZHEEV routine in LAPACK library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CE6B91-603C-42A2-8100-4C14E037F62B}"/>
              </a:ext>
            </a:extLst>
          </p:cNvPr>
          <p:cNvSpPr txBox="1"/>
          <p:nvPr/>
        </p:nvSpPr>
        <p:spPr>
          <a:xfrm>
            <a:off x="289704" y="2201249"/>
            <a:ext cx="171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Arguments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60397-FC34-4975-A6D3-32AB5A1EF4B0}"/>
              </a:ext>
            </a:extLst>
          </p:cNvPr>
          <p:cNvSpPr txBox="1"/>
          <p:nvPr/>
        </p:nvSpPr>
        <p:spPr>
          <a:xfrm>
            <a:off x="2006083" y="2659841"/>
            <a:ext cx="9972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'V': Compute both sorted eigenvalues and eigenvectors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'U': Read only from the Upper triangle of the assembled matrix (enforcing Hermiticity and automatically accounting for the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part)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273A2-96C6-4F0F-B128-1E1EB575D04F}"/>
              </a:ext>
            </a:extLst>
          </p:cNvPr>
          <p:cNvSpPr txBox="1"/>
          <p:nvPr/>
        </p:nvSpPr>
        <p:spPr>
          <a:xfrm>
            <a:off x="177221" y="4287516"/>
            <a:ext cx="11801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Invoking LAPACK’s ZHEEV (Complex Hermitian Eigenvalues) routine is the gold standard across the computational materials science community</a:t>
            </a:r>
          </a:p>
          <a:p>
            <a:pPr algn="just"/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 close attention to the 'U' argument—it flawlessly instructs the solver to read the upper triangle and automatically handle the lower triangle via mirror conjugate symmetry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20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CA8560-FD04-4D7B-99FD-8CB9902F7680}"/>
              </a:ext>
            </a:extLst>
          </p:cNvPr>
          <p:cNvSpPr txBox="1"/>
          <p:nvPr/>
        </p:nvSpPr>
        <p:spPr>
          <a:xfrm>
            <a:off x="289704" y="1059120"/>
            <a:ext cx="497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I/O: Streaming out Eigenvalues for Plotting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95559-E518-4627-9AD6-FCE8D34A1784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28AB1-435E-467E-934E-AAED50004DB5}"/>
              </a:ext>
            </a:extLst>
          </p:cNvPr>
          <p:cNvSpPr txBox="1"/>
          <p:nvPr/>
        </p:nvSpPr>
        <p:spPr>
          <a:xfrm>
            <a:off x="289703" y="1867146"/>
            <a:ext cx="10085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loop, after ZHEEV finishes, eigenvalues are returned in a sorted real array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eigenvalue(D)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CE6B91-603C-42A2-8100-4C14E037F62B}"/>
              </a:ext>
            </a:extLst>
          </p:cNvPr>
          <p:cNvSpPr txBox="1"/>
          <p:nvPr/>
        </p:nvSpPr>
        <p:spPr>
          <a:xfrm>
            <a:off x="289702" y="2891720"/>
            <a:ext cx="939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I/O Operation: Write the scalar path index and all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eigenvalues into a structured text file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60397-FC34-4975-A6D3-32AB5A1EF4B0}"/>
              </a:ext>
            </a:extLst>
          </p:cNvPr>
          <p:cNvSpPr txBox="1"/>
          <p:nvPr/>
        </p:nvSpPr>
        <p:spPr>
          <a:xfrm>
            <a:off x="1245637" y="3761278"/>
            <a:ext cx="803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(UNIT=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file_number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FMT='(F10.5, 8F12.6)')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kdistance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eigenvalue(1:D)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273A2-96C6-4F0F-B128-1E1EB575D04F}"/>
              </a:ext>
            </a:extLst>
          </p:cNvPr>
          <p:cNvSpPr txBox="1"/>
          <p:nvPr/>
        </p:nvSpPr>
        <p:spPr>
          <a:xfrm>
            <a:off x="289702" y="5012528"/>
            <a:ext cx="856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data file can be instantly rendered using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Gnuplot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Python's Matplotlib or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4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  <a:alphaModFix amt="7000"/>
          </a:blip>
          <a:stretch>
            <a:fillRect/>
          </a:stretch>
        </p:blipFill>
        <p:spPr>
          <a:xfrm>
            <a:off x="10346204" y="16934"/>
            <a:ext cx="1847237" cy="6647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0" y="6647009"/>
            <a:ext cx="12192000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A9D5F-3375-49C1-B26B-E91FEA11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" y="5928624"/>
            <a:ext cx="3356173" cy="71789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B7D4C3-6B63-4204-87ED-821B46CD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8666" y="6643166"/>
            <a:ext cx="41995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CA8560-FD04-4D7B-99FD-8CB9902F7680}"/>
              </a:ext>
            </a:extLst>
          </p:cNvPr>
          <p:cNvSpPr txBox="1"/>
          <p:nvPr/>
        </p:nvSpPr>
        <p:spPr>
          <a:xfrm>
            <a:off x="289705" y="1133764"/>
            <a:ext cx="356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Architectural Flowchart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95559-E518-4627-9AD6-FCE8D34A1784}"/>
              </a:ext>
            </a:extLst>
          </p:cNvPr>
          <p:cNvSpPr txBox="1"/>
          <p:nvPr/>
        </p:nvSpPr>
        <p:spPr>
          <a:xfrm>
            <a:off x="1519162" y="173802"/>
            <a:ext cx="941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Code Architecture: The Software Blueprint</a:t>
            </a:r>
            <a:endParaRPr 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28AB1-435E-467E-934E-AAED50004DB5}"/>
              </a:ext>
            </a:extLst>
          </p:cNvPr>
          <p:cNvSpPr txBox="1"/>
          <p:nvPr/>
        </p:nvSpPr>
        <p:spPr>
          <a:xfrm>
            <a:off x="289704" y="2147063"/>
            <a:ext cx="320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Structural Pipeline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CE6B91-603C-42A2-8100-4C14E037F62B}"/>
              </a:ext>
            </a:extLst>
          </p:cNvPr>
          <p:cNvSpPr txBox="1"/>
          <p:nvPr/>
        </p:nvSpPr>
        <p:spPr>
          <a:xfrm>
            <a:off x="289705" y="3199628"/>
            <a:ext cx="11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60397-FC34-4975-A6D3-32AB5A1EF4B0}"/>
              </a:ext>
            </a:extLst>
          </p:cNvPr>
          <p:cNvSpPr txBox="1"/>
          <p:nvPr/>
        </p:nvSpPr>
        <p:spPr>
          <a:xfrm>
            <a:off x="1519162" y="4082113"/>
            <a:ext cx="657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[Geometry Data] → [One-Time Neighbor List Sieve (Real Space)]</a:t>
            </a:r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8FA19-1CA5-47AD-B39B-D09F6FC94ECA}"/>
                  </a:ext>
                </a:extLst>
              </p:cNvPr>
              <p:cNvSpPr txBox="1"/>
              <p:nvPr/>
            </p:nvSpPr>
            <p:spPr>
              <a:xfrm>
                <a:off x="1519162" y="5021262"/>
                <a:ext cx="8528180" cy="39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[Generate k Path] → [Loop k: Assemble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𝒖𝒑𝒑𝒆𝒓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ZHEEV('U’) → Write to Disk]</a:t>
                </a:r>
                <a:endPara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8FA19-1CA5-47AD-B39B-D09F6FC94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162" y="5021262"/>
                <a:ext cx="8528180" cy="394210"/>
              </a:xfrm>
              <a:prstGeom prst="rect">
                <a:avLst/>
              </a:prstGeom>
              <a:blipFill>
                <a:blip r:embed="rId5"/>
                <a:stretch>
                  <a:fillRect l="-572" t="-9375" r="-286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207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1981200" y="4903102"/>
            <a:ext cx="7647280" cy="1165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That's all for this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ession</a:t>
            </a:r>
          </a:p>
          <a:p>
            <a:endParaRPr lang="en-US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 and great participation</a:t>
            </a:r>
          </a:p>
        </p:txBody>
      </p:sp>
      <p:sp>
        <p:nvSpPr>
          <p:cNvPr id="6" name="Rectangle 5"/>
          <p:cNvSpPr/>
          <p:nvPr/>
        </p:nvSpPr>
        <p:spPr>
          <a:xfrm rot="10800000">
            <a:off x="-1" y="6647009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97" b="11314"/>
          <a:stretch/>
        </p:blipFill>
        <p:spPr>
          <a:xfrm>
            <a:off x="1473200" y="0"/>
            <a:ext cx="9262533" cy="4768850"/>
          </a:xfrm>
        </p:spPr>
      </p:pic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333" y="6199957"/>
            <a:ext cx="356139" cy="4445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7A8B-B62A-42E2-9B1F-59950FA3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6332" y="6643166"/>
            <a:ext cx="465667" cy="214834"/>
          </a:xfrm>
        </p:spPr>
        <p:txBody>
          <a:bodyPr/>
          <a:lstStyle/>
          <a:p>
            <a:fld id="{3F1413E9-7962-4F18-9234-18DB3F15F116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2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</TotalTime>
  <Words>2331</Words>
  <Application>Microsoft Office PowerPoint</Application>
  <PresentationFormat>Widescreen</PresentationFormat>
  <Paragraphs>236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Atomic-Level Materials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Kenan Song</dc:creator>
  <cp:lastModifiedBy>Kenan Song</cp:lastModifiedBy>
  <cp:revision>364</cp:revision>
  <dcterms:created xsi:type="dcterms:W3CDTF">2026-01-31T01:24:38Z</dcterms:created>
  <dcterms:modified xsi:type="dcterms:W3CDTF">2026-07-07T19:51:36Z</dcterms:modified>
</cp:coreProperties>
</file>