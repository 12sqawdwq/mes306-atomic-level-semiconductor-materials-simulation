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87" r:id="rId2"/>
    <p:sldId id="297" r:id="rId3"/>
    <p:sldId id="296" r:id="rId4"/>
    <p:sldId id="310" r:id="rId5"/>
    <p:sldId id="282" r:id="rId6"/>
    <p:sldId id="295" r:id="rId7"/>
    <p:sldId id="311" r:id="rId8"/>
    <p:sldId id="317" r:id="rId9"/>
    <p:sldId id="315" r:id="rId10"/>
    <p:sldId id="314" r:id="rId11"/>
    <p:sldId id="294" r:id="rId12"/>
    <p:sldId id="293" r:id="rId13"/>
    <p:sldId id="288" r:id="rId14"/>
    <p:sldId id="292" r:id="rId15"/>
    <p:sldId id="318" r:id="rId16"/>
    <p:sldId id="300" r:id="rId17"/>
    <p:sldId id="275"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Kenan Song" initials="KS" lastIdx="1" clrIdx="0">
    <p:extLst>
      <p:ext uri="{19B8F6BF-5375-455C-9EA6-DF929625EA0E}">
        <p15:presenceInfo xmlns:p15="http://schemas.microsoft.com/office/powerpoint/2012/main" userId="S-1-5-21-1612857076-1602373485-3872515628-218770"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CD3B92"/>
    <a:srgbClr val="17DCF1"/>
    <a:srgbClr val="2AC0DE"/>
    <a:srgbClr val="5AA4AE"/>
    <a:srgbClr val="00009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268" autoAdjust="0"/>
    <p:restoredTop sz="94660"/>
  </p:normalViewPr>
  <p:slideViewPr>
    <p:cSldViewPr snapToGrid="0">
      <p:cViewPr varScale="1">
        <p:scale>
          <a:sx n="113" d="100"/>
          <a:sy n="113" d="100"/>
        </p:scale>
        <p:origin x="43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F3689EB-B573-45B5-8193-6506A546A233}"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6C2B68-83DF-49A6-B67F-93C713339A4D}" type="slidenum">
              <a:rPr lang="en-US" smtClean="0"/>
              <a:t>‹#›</a:t>
            </a:fld>
            <a:endParaRPr lang="en-US"/>
          </a:p>
        </p:txBody>
      </p:sp>
    </p:spTree>
    <p:extLst>
      <p:ext uri="{BB962C8B-B14F-4D97-AF65-F5344CB8AC3E}">
        <p14:creationId xmlns:p14="http://schemas.microsoft.com/office/powerpoint/2010/main" val="226930658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English Title:</a:t>
            </a:r>
            <a:r>
              <a:rPr lang="en-US" baseline="0" dirty="0"/>
              <a:t> Uppercase, Calibri size 60, XJTLU Navy</a:t>
            </a:r>
          </a:p>
          <a:p>
            <a:r>
              <a:rPr lang="en-US" baseline="0" dirty="0"/>
              <a:t>English Subtitle: Uppercase, Calibri size 36, XJTLU Navy</a:t>
            </a:r>
          </a:p>
        </p:txBody>
      </p:sp>
      <p:sp>
        <p:nvSpPr>
          <p:cNvPr id="4" name="Slide Number Placeholder 3"/>
          <p:cNvSpPr>
            <a:spLocks noGrp="1"/>
          </p:cNvSpPr>
          <p:nvPr>
            <p:ph type="sldNum" sz="quarter" idx="10"/>
          </p:nvPr>
        </p:nvSpPr>
        <p:spPr/>
        <p:txBody>
          <a:bodyPr/>
          <a:lstStyle/>
          <a:p>
            <a:fld id="{5CF7EA8C-4442-2B43-BEFB-AB7F822E7733}" type="slidenum">
              <a:rPr lang="en-US" smtClean="0"/>
              <a:t>1</a:t>
            </a:fld>
            <a:endParaRPr lang="en-US"/>
          </a:p>
        </p:txBody>
      </p:sp>
    </p:spTree>
    <p:extLst>
      <p:ext uri="{BB962C8B-B14F-4D97-AF65-F5344CB8AC3E}">
        <p14:creationId xmlns:p14="http://schemas.microsoft.com/office/powerpoint/2010/main" val="3009175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2</a:t>
            </a:fld>
            <a:endParaRPr lang="en-US"/>
          </a:p>
        </p:txBody>
      </p:sp>
    </p:spTree>
    <p:extLst>
      <p:ext uri="{BB962C8B-B14F-4D97-AF65-F5344CB8AC3E}">
        <p14:creationId xmlns:p14="http://schemas.microsoft.com/office/powerpoint/2010/main" val="40227584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3</a:t>
            </a:fld>
            <a:endParaRPr lang="en-US"/>
          </a:p>
        </p:txBody>
      </p:sp>
    </p:spTree>
    <p:extLst>
      <p:ext uri="{BB962C8B-B14F-4D97-AF65-F5344CB8AC3E}">
        <p14:creationId xmlns:p14="http://schemas.microsoft.com/office/powerpoint/2010/main" val="116563256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5</a:t>
            </a:fld>
            <a:endParaRPr lang="en-US"/>
          </a:p>
        </p:txBody>
      </p:sp>
    </p:spTree>
    <p:extLst>
      <p:ext uri="{BB962C8B-B14F-4D97-AF65-F5344CB8AC3E}">
        <p14:creationId xmlns:p14="http://schemas.microsoft.com/office/powerpoint/2010/main" val="858175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6</a:t>
            </a:fld>
            <a:endParaRPr lang="en-US"/>
          </a:p>
        </p:txBody>
      </p:sp>
    </p:spTree>
    <p:extLst>
      <p:ext uri="{BB962C8B-B14F-4D97-AF65-F5344CB8AC3E}">
        <p14:creationId xmlns:p14="http://schemas.microsoft.com/office/powerpoint/2010/main" val="7237376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9</a:t>
            </a:fld>
            <a:endParaRPr lang="en-US"/>
          </a:p>
        </p:txBody>
      </p:sp>
    </p:spTree>
    <p:extLst>
      <p:ext uri="{BB962C8B-B14F-4D97-AF65-F5344CB8AC3E}">
        <p14:creationId xmlns:p14="http://schemas.microsoft.com/office/powerpoint/2010/main" val="6492331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10</a:t>
            </a:fld>
            <a:endParaRPr lang="en-US"/>
          </a:p>
        </p:txBody>
      </p:sp>
    </p:spTree>
    <p:extLst>
      <p:ext uri="{BB962C8B-B14F-4D97-AF65-F5344CB8AC3E}">
        <p14:creationId xmlns:p14="http://schemas.microsoft.com/office/powerpoint/2010/main" val="20374964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11</a:t>
            </a:fld>
            <a:endParaRPr lang="en-US"/>
          </a:p>
        </p:txBody>
      </p:sp>
    </p:spTree>
    <p:extLst>
      <p:ext uri="{BB962C8B-B14F-4D97-AF65-F5344CB8AC3E}">
        <p14:creationId xmlns:p14="http://schemas.microsoft.com/office/powerpoint/2010/main" val="160198658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12</a:t>
            </a:fld>
            <a:endParaRPr lang="en-US"/>
          </a:p>
        </p:txBody>
      </p:sp>
    </p:spTree>
    <p:extLst>
      <p:ext uri="{BB962C8B-B14F-4D97-AF65-F5344CB8AC3E}">
        <p14:creationId xmlns:p14="http://schemas.microsoft.com/office/powerpoint/2010/main" val="301386000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13</a:t>
            </a:fld>
            <a:endParaRPr lang="en-US"/>
          </a:p>
        </p:txBody>
      </p:sp>
    </p:spTree>
    <p:extLst>
      <p:ext uri="{BB962C8B-B14F-4D97-AF65-F5344CB8AC3E}">
        <p14:creationId xmlns:p14="http://schemas.microsoft.com/office/powerpoint/2010/main" val="4003410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14</a:t>
            </a:fld>
            <a:endParaRPr lang="en-US"/>
          </a:p>
        </p:txBody>
      </p:sp>
    </p:spTree>
    <p:extLst>
      <p:ext uri="{BB962C8B-B14F-4D97-AF65-F5344CB8AC3E}">
        <p14:creationId xmlns:p14="http://schemas.microsoft.com/office/powerpoint/2010/main" val="81788663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15</a:t>
            </a:fld>
            <a:endParaRPr lang="en-US"/>
          </a:p>
        </p:txBody>
      </p:sp>
    </p:spTree>
    <p:extLst>
      <p:ext uri="{BB962C8B-B14F-4D97-AF65-F5344CB8AC3E}">
        <p14:creationId xmlns:p14="http://schemas.microsoft.com/office/powerpoint/2010/main" val="418789526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16</a:t>
            </a:fld>
            <a:endParaRPr lang="en-US"/>
          </a:p>
        </p:txBody>
      </p:sp>
    </p:spTree>
    <p:extLst>
      <p:ext uri="{BB962C8B-B14F-4D97-AF65-F5344CB8AC3E}">
        <p14:creationId xmlns:p14="http://schemas.microsoft.com/office/powerpoint/2010/main" val="349389859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457200" rtl="0" eaLnBrk="1" fontAlgn="auto" latinLnBrk="0" hangingPunct="1">
              <a:lnSpc>
                <a:spcPct val="100000"/>
              </a:lnSpc>
              <a:spcBef>
                <a:spcPts val="0"/>
              </a:spcBef>
              <a:spcAft>
                <a:spcPts val="0"/>
              </a:spcAft>
              <a:buClrTx/>
              <a:buSzTx/>
              <a:buFontTx/>
              <a:buNone/>
              <a:tabLst/>
              <a:defRPr/>
            </a:pPr>
            <a:r>
              <a:rPr lang="en-US" baseline="0" dirty="0"/>
              <a:t>Images should be RGB </a:t>
            </a:r>
            <a:r>
              <a:rPr lang="en-US" baseline="0" dirty="0" err="1"/>
              <a:t>colour</a:t>
            </a:r>
            <a:r>
              <a:rPr lang="en-US" baseline="0" dirty="0"/>
              <a:t> setting</a:t>
            </a:r>
            <a:endParaRPr lang="en-GB" dirty="0"/>
          </a:p>
          <a:p>
            <a:r>
              <a:rPr lang="en-GB" dirty="0"/>
              <a:t>Header:</a:t>
            </a:r>
            <a:r>
              <a:rPr lang="en-GB" baseline="0" dirty="0"/>
              <a:t> Uppercase, Calibri size 28, XJTLU Navy</a:t>
            </a:r>
          </a:p>
          <a:p>
            <a:r>
              <a:rPr lang="en-GB" baseline="0" dirty="0"/>
              <a:t>Body Text: Sentence case, Calibri size 14, Black</a:t>
            </a:r>
            <a:endParaRPr lang="en-GB" dirty="0"/>
          </a:p>
        </p:txBody>
      </p:sp>
      <p:sp>
        <p:nvSpPr>
          <p:cNvPr id="4" name="Slide Number Placeholder 3"/>
          <p:cNvSpPr>
            <a:spLocks noGrp="1"/>
          </p:cNvSpPr>
          <p:nvPr>
            <p:ph type="sldNum" sz="quarter" idx="10"/>
          </p:nvPr>
        </p:nvSpPr>
        <p:spPr/>
        <p:txBody>
          <a:bodyPr/>
          <a:lstStyle/>
          <a:p>
            <a:fld id="{5CF7EA8C-4442-2B43-BEFB-AB7F822E7733}" type="slidenum">
              <a:rPr lang="en-US" smtClean="0"/>
              <a:t>17</a:t>
            </a:fld>
            <a:endParaRPr lang="en-US"/>
          </a:p>
        </p:txBody>
      </p:sp>
    </p:spTree>
    <p:extLst>
      <p:ext uri="{BB962C8B-B14F-4D97-AF65-F5344CB8AC3E}">
        <p14:creationId xmlns:p14="http://schemas.microsoft.com/office/powerpoint/2010/main" val="40030968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0B7692-00CC-4D85-9834-54FA546E01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5BF3BF9-70F2-45B9-A1D0-4963FD0611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2C77331-7A7B-42A4-8956-4C398858020B}"/>
              </a:ext>
            </a:extLst>
          </p:cNvPr>
          <p:cNvSpPr>
            <a:spLocks noGrp="1"/>
          </p:cNvSpPr>
          <p:nvPr>
            <p:ph type="dt" sz="half" idx="10"/>
          </p:nvPr>
        </p:nvSpPr>
        <p:spPr/>
        <p:txBody>
          <a:bodyPr/>
          <a:lstStyle/>
          <a:p>
            <a:fld id="{94F956DF-857D-4461-96F1-6776F2F5B81A}" type="datetime1">
              <a:rPr lang="en-US" smtClean="0"/>
              <a:t>9/17/2026</a:t>
            </a:fld>
            <a:endParaRPr lang="en-US"/>
          </a:p>
        </p:txBody>
      </p:sp>
      <p:sp>
        <p:nvSpPr>
          <p:cNvPr id="5" name="Footer Placeholder 4">
            <a:extLst>
              <a:ext uri="{FF2B5EF4-FFF2-40B4-BE49-F238E27FC236}">
                <a16:creationId xmlns:a16="http://schemas.microsoft.com/office/drawing/2014/main" id="{D718333B-41CE-4DBB-8024-E64BC864555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6DBD60-F226-4CCE-B568-37C63D52F888}"/>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19879219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30DEE-6A0A-4E5E-BD87-C360D90C5D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338C41-B259-4216-A4AE-A34A5F2F094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08CC75-9F97-437C-8F04-2AB43226D689}"/>
              </a:ext>
            </a:extLst>
          </p:cNvPr>
          <p:cNvSpPr>
            <a:spLocks noGrp="1"/>
          </p:cNvSpPr>
          <p:nvPr>
            <p:ph type="dt" sz="half" idx="10"/>
          </p:nvPr>
        </p:nvSpPr>
        <p:spPr/>
        <p:txBody>
          <a:bodyPr/>
          <a:lstStyle/>
          <a:p>
            <a:fld id="{0F2FDE24-EE6B-4EF8-8991-8B8343E53DA5}" type="datetime1">
              <a:rPr lang="en-US" smtClean="0"/>
              <a:t>9/17/2026</a:t>
            </a:fld>
            <a:endParaRPr lang="en-US"/>
          </a:p>
        </p:txBody>
      </p:sp>
      <p:sp>
        <p:nvSpPr>
          <p:cNvPr id="5" name="Footer Placeholder 4">
            <a:extLst>
              <a:ext uri="{FF2B5EF4-FFF2-40B4-BE49-F238E27FC236}">
                <a16:creationId xmlns:a16="http://schemas.microsoft.com/office/drawing/2014/main" id="{2F3CC0F1-7F09-4639-AAC3-CBF2D0C150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04FA7F-6A27-46B3-B0AB-8D36E075A4B4}"/>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9764924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23E709-D79E-4876-976F-555CD9BA72B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A3D221-9F5E-416A-965C-16C7E4E96A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7CAD0CA-E413-4683-8359-C18C00A0756A}"/>
              </a:ext>
            </a:extLst>
          </p:cNvPr>
          <p:cNvSpPr>
            <a:spLocks noGrp="1"/>
          </p:cNvSpPr>
          <p:nvPr>
            <p:ph type="dt" sz="half" idx="10"/>
          </p:nvPr>
        </p:nvSpPr>
        <p:spPr/>
        <p:txBody>
          <a:bodyPr/>
          <a:lstStyle/>
          <a:p>
            <a:fld id="{90B00866-C47B-4495-84B2-8E7F96E5ED1E}" type="datetime1">
              <a:rPr lang="en-US" smtClean="0"/>
              <a:t>9/17/2026</a:t>
            </a:fld>
            <a:endParaRPr lang="en-US"/>
          </a:p>
        </p:txBody>
      </p:sp>
      <p:sp>
        <p:nvSpPr>
          <p:cNvPr id="5" name="Footer Placeholder 4">
            <a:extLst>
              <a:ext uri="{FF2B5EF4-FFF2-40B4-BE49-F238E27FC236}">
                <a16:creationId xmlns:a16="http://schemas.microsoft.com/office/drawing/2014/main" id="{263F851E-5772-4A09-A7D2-CAD517CB1E5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C91CF18-E81B-4A0A-8AE9-2F923CCB2059}"/>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128331860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D339D-1AE7-4F74-A256-CD864A868E8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960A28-5C7C-4DEB-82A1-EA2D1412BDE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E46205B-E420-4090-BE4C-CB3DE793B81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EA9074B-1019-4C5B-AE52-6E54FBE37E56}"/>
              </a:ext>
            </a:extLst>
          </p:cNvPr>
          <p:cNvSpPr>
            <a:spLocks noGrp="1"/>
          </p:cNvSpPr>
          <p:nvPr>
            <p:ph type="dt" sz="half" idx="10"/>
          </p:nvPr>
        </p:nvSpPr>
        <p:spPr/>
        <p:txBody>
          <a:bodyPr/>
          <a:lstStyle/>
          <a:p>
            <a:fld id="{ACE79162-9FAA-4B81-BEAA-152A7E130A59}" type="datetime1">
              <a:rPr lang="en-US" smtClean="0"/>
              <a:t>9/17/2026</a:t>
            </a:fld>
            <a:endParaRPr lang="en-US"/>
          </a:p>
        </p:txBody>
      </p:sp>
      <p:sp>
        <p:nvSpPr>
          <p:cNvPr id="6" name="Footer Placeholder 5">
            <a:extLst>
              <a:ext uri="{FF2B5EF4-FFF2-40B4-BE49-F238E27FC236}">
                <a16:creationId xmlns:a16="http://schemas.microsoft.com/office/drawing/2014/main" id="{8550AFB0-DB18-44EF-BF9A-17220298496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65A5C97-5BDD-491E-82EC-27151211244B}"/>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91956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C6061-E0A4-4393-AF11-3C0D33484F7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7DE66B1-5D25-436B-96BF-63B37C90CF3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ACBD42F-949D-41FC-90EA-B9DFFC4FFE8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E110839-8A42-43A4-8417-E904FFC1BAB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E8F3B7-A7D7-4C4A-88DE-01C6743CB2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F71CA0C-A291-4177-B7CA-D56BB28CA41F}"/>
              </a:ext>
            </a:extLst>
          </p:cNvPr>
          <p:cNvSpPr>
            <a:spLocks noGrp="1"/>
          </p:cNvSpPr>
          <p:nvPr>
            <p:ph type="dt" sz="half" idx="10"/>
          </p:nvPr>
        </p:nvSpPr>
        <p:spPr/>
        <p:txBody>
          <a:bodyPr/>
          <a:lstStyle/>
          <a:p>
            <a:fld id="{2E10AA3F-E19F-4C95-A255-595B77933C71}" type="datetime1">
              <a:rPr lang="en-US" smtClean="0"/>
              <a:t>9/17/2026</a:t>
            </a:fld>
            <a:endParaRPr lang="en-US"/>
          </a:p>
        </p:txBody>
      </p:sp>
      <p:sp>
        <p:nvSpPr>
          <p:cNvPr id="8" name="Footer Placeholder 7">
            <a:extLst>
              <a:ext uri="{FF2B5EF4-FFF2-40B4-BE49-F238E27FC236}">
                <a16:creationId xmlns:a16="http://schemas.microsoft.com/office/drawing/2014/main" id="{8EECE47C-4F84-4805-A722-D45FF454B0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1C8387-7D60-41D8-B1D7-139D268FE594}"/>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26069678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0AD6E6-19B9-404C-BEF3-C4046C57FCE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6062F18-B541-43FB-B4FE-D708EC2481B1}"/>
              </a:ext>
            </a:extLst>
          </p:cNvPr>
          <p:cNvSpPr>
            <a:spLocks noGrp="1"/>
          </p:cNvSpPr>
          <p:nvPr>
            <p:ph type="dt" sz="half" idx="10"/>
          </p:nvPr>
        </p:nvSpPr>
        <p:spPr/>
        <p:txBody>
          <a:bodyPr/>
          <a:lstStyle/>
          <a:p>
            <a:fld id="{9553C51F-E268-4F35-A5AE-85DF94254B1F}" type="datetime1">
              <a:rPr lang="en-US" smtClean="0"/>
              <a:t>9/17/2026</a:t>
            </a:fld>
            <a:endParaRPr lang="en-US"/>
          </a:p>
        </p:txBody>
      </p:sp>
      <p:sp>
        <p:nvSpPr>
          <p:cNvPr id="4" name="Footer Placeholder 3">
            <a:extLst>
              <a:ext uri="{FF2B5EF4-FFF2-40B4-BE49-F238E27FC236}">
                <a16:creationId xmlns:a16="http://schemas.microsoft.com/office/drawing/2014/main" id="{1444C150-377C-48C4-B3A2-A62D8176721A}"/>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93399CE-19B6-4E67-B4FD-CF9D2CD570C2}"/>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108254085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DC0FFC-959C-4911-9426-696686E48EED}"/>
              </a:ext>
            </a:extLst>
          </p:cNvPr>
          <p:cNvSpPr>
            <a:spLocks noGrp="1"/>
          </p:cNvSpPr>
          <p:nvPr>
            <p:ph type="dt" sz="half" idx="10"/>
          </p:nvPr>
        </p:nvSpPr>
        <p:spPr/>
        <p:txBody>
          <a:bodyPr/>
          <a:lstStyle/>
          <a:p>
            <a:fld id="{87C48AEF-B9EC-465C-A3A8-E3FD06F0D5F4}" type="datetime1">
              <a:rPr lang="en-US" smtClean="0"/>
              <a:t>9/17/2026</a:t>
            </a:fld>
            <a:endParaRPr lang="en-US"/>
          </a:p>
        </p:txBody>
      </p:sp>
      <p:sp>
        <p:nvSpPr>
          <p:cNvPr id="3" name="Footer Placeholder 2">
            <a:extLst>
              <a:ext uri="{FF2B5EF4-FFF2-40B4-BE49-F238E27FC236}">
                <a16:creationId xmlns:a16="http://schemas.microsoft.com/office/drawing/2014/main" id="{AC83F369-89EC-460C-94C3-421DC2C0A77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15A08C1-6B26-4254-824E-92D02CC5F0B9}"/>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299574677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A0620-7C37-4AE7-B35A-B3CCFCD4360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35E0477-81FB-4676-B603-792BF971C07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2E61B079-52FE-4184-A30D-642CAC7CC69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81377D5-71CD-4409-998F-EC76B53F635A}"/>
              </a:ext>
            </a:extLst>
          </p:cNvPr>
          <p:cNvSpPr>
            <a:spLocks noGrp="1"/>
          </p:cNvSpPr>
          <p:nvPr>
            <p:ph type="dt" sz="half" idx="10"/>
          </p:nvPr>
        </p:nvSpPr>
        <p:spPr/>
        <p:txBody>
          <a:bodyPr/>
          <a:lstStyle/>
          <a:p>
            <a:fld id="{DC7FD042-DCBA-430F-B26F-F760C65A05B9}" type="datetime1">
              <a:rPr lang="en-US" smtClean="0"/>
              <a:t>9/17/2026</a:t>
            </a:fld>
            <a:endParaRPr lang="en-US"/>
          </a:p>
        </p:txBody>
      </p:sp>
      <p:sp>
        <p:nvSpPr>
          <p:cNvPr id="6" name="Footer Placeholder 5">
            <a:extLst>
              <a:ext uri="{FF2B5EF4-FFF2-40B4-BE49-F238E27FC236}">
                <a16:creationId xmlns:a16="http://schemas.microsoft.com/office/drawing/2014/main" id="{0C09643E-6933-42EC-9551-BB686E0F41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49EA81A-586C-4E23-B657-06A96CC49907}"/>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3581783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53ECD3-7EE6-4019-8615-7EF8EBCB5A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F1992BD-1AD0-42F6-8302-BCEB72EFC1A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A5D11A7-A33F-4F56-9FBA-0D641F887C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F76D814-0949-4667-9117-2B4510DBF2FD}"/>
              </a:ext>
            </a:extLst>
          </p:cNvPr>
          <p:cNvSpPr>
            <a:spLocks noGrp="1"/>
          </p:cNvSpPr>
          <p:nvPr>
            <p:ph type="dt" sz="half" idx="10"/>
          </p:nvPr>
        </p:nvSpPr>
        <p:spPr/>
        <p:txBody>
          <a:bodyPr/>
          <a:lstStyle/>
          <a:p>
            <a:fld id="{2BAEA0A4-2F41-4943-887A-A8FF9AA79713}" type="datetime1">
              <a:rPr lang="en-US" smtClean="0"/>
              <a:t>9/17/2026</a:t>
            </a:fld>
            <a:endParaRPr lang="en-US"/>
          </a:p>
        </p:txBody>
      </p:sp>
      <p:sp>
        <p:nvSpPr>
          <p:cNvPr id="6" name="Footer Placeholder 5">
            <a:extLst>
              <a:ext uri="{FF2B5EF4-FFF2-40B4-BE49-F238E27FC236}">
                <a16:creationId xmlns:a16="http://schemas.microsoft.com/office/drawing/2014/main" id="{8D77BCAC-8594-4E8C-ACF3-DA2BDA5F1D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BC2B3E-4229-457F-BB19-EE896CB51038}"/>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2729039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7AE555-085D-470D-881D-459E91C65CF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38C7BDB-1490-403F-B3A1-0B70FE1E4A0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F12A618-3458-4895-B9ED-98EB886D18C3}"/>
              </a:ext>
            </a:extLst>
          </p:cNvPr>
          <p:cNvSpPr>
            <a:spLocks noGrp="1"/>
          </p:cNvSpPr>
          <p:nvPr>
            <p:ph type="dt" sz="half" idx="10"/>
          </p:nvPr>
        </p:nvSpPr>
        <p:spPr/>
        <p:txBody>
          <a:bodyPr/>
          <a:lstStyle/>
          <a:p>
            <a:fld id="{0A3C14C1-87D3-45D2-A1E2-C7B8C47C5AAC}" type="datetime1">
              <a:rPr lang="en-US" smtClean="0"/>
              <a:t>9/17/2026</a:t>
            </a:fld>
            <a:endParaRPr lang="en-US"/>
          </a:p>
        </p:txBody>
      </p:sp>
      <p:sp>
        <p:nvSpPr>
          <p:cNvPr id="5" name="Footer Placeholder 4">
            <a:extLst>
              <a:ext uri="{FF2B5EF4-FFF2-40B4-BE49-F238E27FC236}">
                <a16:creationId xmlns:a16="http://schemas.microsoft.com/office/drawing/2014/main" id="{FE58D71D-4EEF-4333-8536-4BBD3CB564A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DBC000D-8BC4-4EEF-B74F-67FE82D2FB13}"/>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58093022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601B6A8-9551-4681-ABF5-D1963B41B65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FCB4652-08A6-45D3-B4FB-CD7C24E8E8F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FF9ABF-6A2D-44D0-91AD-83C82B1C00F2}"/>
              </a:ext>
            </a:extLst>
          </p:cNvPr>
          <p:cNvSpPr>
            <a:spLocks noGrp="1"/>
          </p:cNvSpPr>
          <p:nvPr>
            <p:ph type="dt" sz="half" idx="10"/>
          </p:nvPr>
        </p:nvSpPr>
        <p:spPr/>
        <p:txBody>
          <a:bodyPr/>
          <a:lstStyle/>
          <a:p>
            <a:fld id="{B312149B-A775-469F-A1A5-94C33EAFD592}" type="datetime1">
              <a:rPr lang="en-US" smtClean="0"/>
              <a:t>9/17/2026</a:t>
            </a:fld>
            <a:endParaRPr lang="en-US"/>
          </a:p>
        </p:txBody>
      </p:sp>
      <p:sp>
        <p:nvSpPr>
          <p:cNvPr id="5" name="Footer Placeholder 4">
            <a:extLst>
              <a:ext uri="{FF2B5EF4-FFF2-40B4-BE49-F238E27FC236}">
                <a16:creationId xmlns:a16="http://schemas.microsoft.com/office/drawing/2014/main" id="{B3D82D59-74B6-43D5-8B47-D3312C1822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485ED-9279-4CF5-B7BF-D2271F55B5CA}"/>
              </a:ext>
            </a:extLst>
          </p:cNvPr>
          <p:cNvSpPr>
            <a:spLocks noGrp="1"/>
          </p:cNvSpPr>
          <p:nvPr>
            <p:ph type="sldNum" sz="quarter" idx="12"/>
          </p:nvPr>
        </p:nvSpPr>
        <p:spPr/>
        <p:txBody>
          <a:bodyPr/>
          <a:lstStyle/>
          <a:p>
            <a:fld id="{3F1413E9-7962-4F18-9234-18DB3F15F116}" type="slidenum">
              <a:rPr lang="en-US" smtClean="0"/>
              <a:t>‹#›</a:t>
            </a:fld>
            <a:endParaRPr lang="en-US"/>
          </a:p>
        </p:txBody>
      </p:sp>
    </p:spTree>
    <p:extLst>
      <p:ext uri="{BB962C8B-B14F-4D97-AF65-F5344CB8AC3E}">
        <p14:creationId xmlns:p14="http://schemas.microsoft.com/office/powerpoint/2010/main" val="13803706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CD87A8F-22C0-48C0-BE22-24EDEB9651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3406A83-6023-42A2-8B75-C26EED93C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360EF81-77D8-4AC0-B5AB-7E680285EB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0E4AB26-75B2-4388-B3AB-EA05CB8D99ED}" type="datetime1">
              <a:rPr lang="en-US" smtClean="0"/>
              <a:t>9/17/2026</a:t>
            </a:fld>
            <a:endParaRPr lang="en-US"/>
          </a:p>
        </p:txBody>
      </p:sp>
      <p:sp>
        <p:nvSpPr>
          <p:cNvPr id="5" name="Footer Placeholder 4">
            <a:extLst>
              <a:ext uri="{FF2B5EF4-FFF2-40B4-BE49-F238E27FC236}">
                <a16:creationId xmlns:a16="http://schemas.microsoft.com/office/drawing/2014/main" id="{C56B84D1-A4B4-457A-B215-6194F092E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9C3C8477-C608-42E5-94FD-5D17EC1FA3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F1413E9-7962-4F18-9234-18DB3F15F116}" type="slidenum">
              <a:rPr lang="en-US" smtClean="0"/>
              <a:t>‹#›</a:t>
            </a:fld>
            <a:endParaRPr lang="en-US"/>
          </a:p>
        </p:txBody>
      </p:sp>
    </p:spTree>
    <p:extLst>
      <p:ext uri="{BB962C8B-B14F-4D97-AF65-F5344CB8AC3E}">
        <p14:creationId xmlns:p14="http://schemas.microsoft.com/office/powerpoint/2010/main" val="12522789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emf"/></Relationships>
</file>

<file path=ppt/slides/_rels/slide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4.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3" Type="http://schemas.openxmlformats.org/officeDocument/2006/relationships/image" Target="../media/image1.emf"/><Relationship Id="rId7" Type="http://schemas.openxmlformats.org/officeDocument/2006/relationships/image" Target="../media/image7.png"/><Relationship Id="rId12"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4" Type="http://schemas.openxmlformats.org/officeDocument/2006/relationships/image" Target="../media/image2.emf"/><Relationship Id="rId9" Type="http://schemas.openxmlformats.org/officeDocument/2006/relationships/image" Target="../media/image9.png"/><Relationship Id="rId1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2.emf"/><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image" Target="../media/image1.emf"/><Relationship Id="rId1" Type="http://schemas.openxmlformats.org/officeDocument/2006/relationships/slideLayout" Target="../slideLayouts/slideLayout2.xml"/><Relationship Id="rId6" Type="http://schemas.openxmlformats.org/officeDocument/2006/relationships/image" Target="../media/image35.png"/><Relationship Id="rId11" Type="http://schemas.openxmlformats.org/officeDocument/2006/relationships/image" Target="../media/image23.png"/><Relationship Id="rId15" Type="http://schemas.openxmlformats.org/officeDocument/2006/relationships/image" Target="../media/image27.png"/><Relationship Id="rId10" Type="http://schemas.openxmlformats.org/officeDocument/2006/relationships/image" Target="../media/image22.png"/><Relationship Id="rId9" Type="http://schemas.openxmlformats.org/officeDocument/2006/relationships/image" Target="../media/image21.png"/><Relationship Id="rId14" Type="http://schemas.openxmlformats.org/officeDocument/2006/relationships/image" Target="../media/image26.png"/></Relationships>
</file>

<file path=ppt/slides/_rels/slide9.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7.png"/><Relationship Id="rId3" Type="http://schemas.openxmlformats.org/officeDocument/2006/relationships/image" Target="../media/image1.emf"/><Relationship Id="rId7" Type="http://schemas.openxmlformats.org/officeDocument/2006/relationships/image" Target="../media/image30.png"/><Relationship Id="rId12" Type="http://schemas.openxmlformats.org/officeDocument/2006/relationships/image" Target="../media/image3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png"/><Relationship Id="rId4" Type="http://schemas.openxmlformats.org/officeDocument/2006/relationships/image" Target="../media/image2.emf"/><Relationship Id="rId9" Type="http://schemas.openxmlformats.org/officeDocument/2006/relationships/image" Target="../media/image32.png"/></Relationships>
</file>

<file path=ppt/slides/_rels/slide1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38.png"/><Relationship Id="rId4" Type="http://schemas.openxmlformats.org/officeDocument/2006/relationships/image" Target="../media/image2.emf"/></Relationships>
</file>

<file path=ppt/slides/_rels/slide1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2.emf"/></Relationships>
</file>

<file path=ppt/slides/_rels/slide1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41.png"/><Relationship Id="rId4" Type="http://schemas.openxmlformats.org/officeDocument/2006/relationships/image" Target="../media/image2.emf"/></Relationships>
</file>

<file path=ppt/slides/_rels/slide14.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1.emf"/><Relationship Id="rId7" Type="http://schemas.openxmlformats.org/officeDocument/2006/relationships/image" Target="../media/image44.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2.emf"/></Relationships>
</file>

<file path=ppt/slides/_rels/slide1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2.emf"/></Relationships>
</file>

<file path=ppt/slides/_rels/slide16.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1.emf"/><Relationship Id="rId7" Type="http://schemas.openxmlformats.org/officeDocument/2006/relationships/image" Target="../media/image50.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49.png"/><Relationship Id="rId11" Type="http://schemas.openxmlformats.org/officeDocument/2006/relationships/image" Target="../media/image54.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2.emf"/><Relationship Id="rId9" Type="http://schemas.openxmlformats.org/officeDocument/2006/relationships/image" Target="../media/image52.png"/></Relationships>
</file>

<file path=ppt/slides/_rels/slide17.xml.rels><?xml version="1.0" encoding="UTF-8" standalone="yes"?>
<Relationships xmlns="http://schemas.openxmlformats.org/package/2006/relationships"><Relationship Id="rId3" Type="http://schemas.openxmlformats.org/officeDocument/2006/relationships/image" Target="../media/image53.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12348" y="0"/>
            <a:ext cx="1881342"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Title 1"/>
          <p:cNvSpPr>
            <a:spLocks noGrp="1"/>
          </p:cNvSpPr>
          <p:nvPr>
            <p:ph type="ctrTitle"/>
          </p:nvPr>
        </p:nvSpPr>
        <p:spPr>
          <a:xfrm>
            <a:off x="1845734" y="539271"/>
            <a:ext cx="9381066" cy="2576972"/>
          </a:xfrm>
        </p:spPr>
        <p:txBody>
          <a:bodyPr>
            <a:noAutofit/>
          </a:bodyPr>
          <a:lstStyle/>
          <a:p>
            <a:r>
              <a:rPr lang="en-US" b="1" cap="all" dirty="0">
                <a:solidFill>
                  <a:srgbClr val="000044"/>
                </a:solidFill>
                <a:latin typeface="Times New Roman" panose="02020603050405020304" pitchFamily="18" charset="0"/>
                <a:cs typeface="Times New Roman" panose="02020603050405020304" pitchFamily="18" charset="0"/>
              </a:rPr>
              <a:t>Atomic-Level Materials Simulation</a:t>
            </a:r>
            <a:endParaRPr lang="en-US" b="1" cap="all" spc="300" dirty="0">
              <a:solidFill>
                <a:srgbClr val="000044"/>
              </a:solidFill>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0" y="5931788"/>
            <a:ext cx="3356173" cy="717897"/>
          </a:xfrm>
          <a:prstGeom prst="rect">
            <a:avLst/>
          </a:prstGeom>
        </p:spPr>
      </p:pic>
      <p:sp>
        <p:nvSpPr>
          <p:cNvPr id="4" name="Subtitle 3">
            <a:extLst>
              <a:ext uri="{FF2B5EF4-FFF2-40B4-BE49-F238E27FC236}">
                <a16:creationId xmlns:a16="http://schemas.microsoft.com/office/drawing/2014/main" id="{5CBD63E4-A19B-48E4-92A6-80AB9D355CBE}"/>
              </a:ext>
            </a:extLst>
          </p:cNvPr>
          <p:cNvSpPr>
            <a:spLocks noGrp="1"/>
          </p:cNvSpPr>
          <p:nvPr>
            <p:ph type="subTitle" idx="1"/>
          </p:nvPr>
        </p:nvSpPr>
        <p:spPr>
          <a:xfrm>
            <a:off x="4343407" y="4313247"/>
            <a:ext cx="3429000" cy="1655762"/>
          </a:xfrm>
        </p:spPr>
        <p:txBody>
          <a:bodyPr>
            <a:normAutofit fontScale="92500" lnSpcReduction="20000"/>
          </a:bodyPr>
          <a:lstStyle/>
          <a:p>
            <a:r>
              <a:rPr lang="en-US" dirty="0">
                <a:latin typeface="Times New Roman" panose="02020603050405020304" pitchFamily="18" charset="0"/>
                <a:cs typeface="Times New Roman" panose="02020603050405020304" pitchFamily="18" charset="0"/>
              </a:rPr>
              <a:t>Kenan Song</a:t>
            </a:r>
          </a:p>
          <a:p>
            <a:r>
              <a:rPr lang="en-US" dirty="0">
                <a:latin typeface="Times New Roman" panose="02020603050405020304" pitchFamily="18" charset="0"/>
                <a:cs typeface="Times New Roman" panose="02020603050405020304" pitchFamily="18" charset="0"/>
              </a:rPr>
              <a:t>School of Chips</a:t>
            </a:r>
          </a:p>
          <a:p>
            <a:r>
              <a:rPr lang="en-US" dirty="0">
                <a:latin typeface="Times New Roman" panose="02020603050405020304" pitchFamily="18" charset="0"/>
                <a:cs typeface="Times New Roman" panose="02020603050405020304" pitchFamily="18" charset="0"/>
              </a:rPr>
              <a:t>Email: Kenan.Song@xjtlu.edu.cn</a:t>
            </a:r>
          </a:p>
          <a:p>
            <a:r>
              <a:rPr lang="en-US" dirty="0">
                <a:latin typeface="Times New Roman" panose="02020603050405020304" pitchFamily="18" charset="0"/>
                <a:cs typeface="Times New Roman" panose="02020603050405020304" pitchFamily="18" charset="0"/>
              </a:rPr>
              <a:t>Office: C5007</a:t>
            </a:r>
          </a:p>
        </p:txBody>
      </p:sp>
      <p:sp>
        <p:nvSpPr>
          <p:cNvPr id="9" name="Subtitle 3">
            <a:extLst>
              <a:ext uri="{FF2B5EF4-FFF2-40B4-BE49-F238E27FC236}">
                <a16:creationId xmlns:a16="http://schemas.microsoft.com/office/drawing/2014/main" id="{63B04092-2132-437A-A663-8A0C6DF466AF}"/>
              </a:ext>
            </a:extLst>
          </p:cNvPr>
          <p:cNvSpPr txBox="1">
            <a:spLocks/>
          </p:cNvSpPr>
          <p:nvPr/>
        </p:nvSpPr>
        <p:spPr>
          <a:xfrm>
            <a:off x="4491576" y="3379839"/>
            <a:ext cx="3492492" cy="426602"/>
          </a:xfrm>
          <a:prstGeom prst="rect">
            <a:avLst/>
          </a:prstGeom>
        </p:spPr>
        <p:txBody>
          <a:bodyPr vert="horz" lIns="91440" tIns="45720" rIns="91440" bIns="45720" rtlCol="0">
            <a:normAutofit fontScale="925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b="1" dirty="0">
                <a:solidFill>
                  <a:srgbClr val="002060"/>
                </a:solidFill>
                <a:latin typeface="Times New Roman" panose="02020603050405020304" pitchFamily="18" charset="0"/>
                <a:cs typeface="Times New Roman" panose="02020603050405020304" pitchFamily="18" charset="0"/>
              </a:rPr>
              <a:t>Module Code: MES306TC</a:t>
            </a:r>
          </a:p>
        </p:txBody>
      </p:sp>
      <p:sp>
        <p:nvSpPr>
          <p:cNvPr id="2" name="Slide Number Placeholder 1">
            <a:extLst>
              <a:ext uri="{FF2B5EF4-FFF2-40B4-BE49-F238E27FC236}">
                <a16:creationId xmlns:a16="http://schemas.microsoft.com/office/drawing/2014/main" id="{1D411CA1-062B-44DF-A595-5CC38317EEE7}"/>
              </a:ext>
            </a:extLst>
          </p:cNvPr>
          <p:cNvSpPr>
            <a:spLocks noGrp="1"/>
          </p:cNvSpPr>
          <p:nvPr>
            <p:ph type="sldNum" sz="quarter" idx="12"/>
          </p:nvPr>
        </p:nvSpPr>
        <p:spPr>
          <a:xfrm>
            <a:off x="11912600" y="6643166"/>
            <a:ext cx="279400"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a:t>
            </a:fld>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40730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6" name="TextBox 5"/>
          <p:cNvSpPr txBox="1"/>
          <p:nvPr/>
        </p:nvSpPr>
        <p:spPr>
          <a:xfrm>
            <a:off x="1600199" y="8463"/>
            <a:ext cx="8864600" cy="1354670"/>
          </a:xfrm>
          <a:prstGeom prst="rect">
            <a:avLst/>
          </a:prstGeom>
          <a:noFill/>
        </p:spPr>
        <p:txBody>
          <a:bodyPr wrap="square" rtlCol="0">
            <a:noAutofit/>
          </a:bodyPr>
          <a:lstStyle/>
          <a:p>
            <a:pPr algn="ctr"/>
            <a:r>
              <a:rPr lang="en-US" sz="4000" b="1" dirty="0">
                <a:latin typeface="Times New Roman" panose="02020603050405020304" pitchFamily="18" charset="0"/>
                <a:cs typeface="Times New Roman" panose="02020603050405020304" pitchFamily="18" charset="0"/>
              </a:rPr>
              <a:t>Fundamentals of Tight-Binding Method &amp; The Slater-</a:t>
            </a:r>
            <a:r>
              <a:rPr lang="en-US" sz="4000" b="1" dirty="0" err="1">
                <a:latin typeface="Times New Roman" panose="02020603050405020304" pitchFamily="18" charset="0"/>
                <a:cs typeface="Times New Roman" panose="02020603050405020304" pitchFamily="18" charset="0"/>
              </a:rPr>
              <a:t>Koster</a:t>
            </a:r>
            <a:r>
              <a:rPr lang="en-US" sz="4000" b="1" dirty="0">
                <a:latin typeface="Times New Roman" panose="02020603050405020304" pitchFamily="18" charset="0"/>
                <a:cs typeface="Times New Roman" panose="02020603050405020304" pitchFamily="18" charset="0"/>
              </a:rPr>
              <a:t> Framework</a:t>
            </a:r>
          </a:p>
        </p:txBody>
      </p:sp>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9" name="TextBox 8">
            <a:extLst>
              <a:ext uri="{FF2B5EF4-FFF2-40B4-BE49-F238E27FC236}">
                <a16:creationId xmlns:a16="http://schemas.microsoft.com/office/drawing/2014/main" id="{EE432D16-D1E6-45CC-AC39-11CF73BF1D81}"/>
              </a:ext>
            </a:extLst>
          </p:cNvPr>
          <p:cNvSpPr txBox="1"/>
          <p:nvPr/>
        </p:nvSpPr>
        <p:spPr>
          <a:xfrm>
            <a:off x="1993897" y="1870268"/>
            <a:ext cx="87714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 The Core Philosophy of Tight-Binding Method (TBM)</a:t>
            </a:r>
          </a:p>
        </p:txBody>
      </p:sp>
      <p:sp>
        <p:nvSpPr>
          <p:cNvPr id="19" name="TextBox 18">
            <a:extLst>
              <a:ext uri="{FF2B5EF4-FFF2-40B4-BE49-F238E27FC236}">
                <a16:creationId xmlns:a16="http://schemas.microsoft.com/office/drawing/2014/main" id="{B463633B-269F-45B5-905D-584EE122F55F}"/>
              </a:ext>
            </a:extLst>
          </p:cNvPr>
          <p:cNvSpPr txBox="1"/>
          <p:nvPr/>
        </p:nvSpPr>
        <p:spPr>
          <a:xfrm>
            <a:off x="1681462" y="2954396"/>
            <a:ext cx="9254066"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 </a:t>
            </a:r>
            <a:r>
              <a:rPr lang="en-US" sz="2800" b="1" dirty="0">
                <a:latin typeface="Times New Roman" panose="02020603050405020304" pitchFamily="18" charset="0"/>
                <a:cs typeface="Times New Roman" panose="02020603050405020304" pitchFamily="18" charset="0"/>
              </a:rPr>
              <a:t>Mathematical Formulation: The LCAO Basis Expansion</a:t>
            </a:r>
            <a:endParaRPr lang="en-US" sz="2800" b="1" dirty="0">
              <a:effectLst/>
              <a:latin typeface="Times New Roman" panose="02020603050405020304" pitchFamily="18" charset="0"/>
              <a:cs typeface="Times New Roman" panose="02020603050405020304" pitchFamily="18" charset="0"/>
            </a:endParaRPr>
          </a:p>
        </p:txBody>
      </p:sp>
      <p:sp>
        <p:nvSpPr>
          <p:cNvPr id="24" name="Slide Number Placeholder 23">
            <a:extLst>
              <a:ext uri="{FF2B5EF4-FFF2-40B4-BE49-F238E27FC236}">
                <a16:creationId xmlns:a16="http://schemas.microsoft.com/office/drawing/2014/main" id="{6F5EC494-AB40-42C8-9402-C6E9855A5BFA}"/>
              </a:ext>
            </a:extLst>
          </p:cNvPr>
          <p:cNvSpPr>
            <a:spLocks noGrp="1"/>
          </p:cNvSpPr>
          <p:nvPr>
            <p:ph type="sldNum" sz="quarter" idx="12"/>
          </p:nvPr>
        </p:nvSpPr>
        <p:spPr>
          <a:xfrm>
            <a:off x="11887200" y="6643166"/>
            <a:ext cx="301424"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2</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45F55BD0-BB46-49A0-8BA7-E3CE5B14326A}"/>
              </a:ext>
            </a:extLst>
          </p:cNvPr>
          <p:cNvSpPr txBox="1"/>
          <p:nvPr/>
        </p:nvSpPr>
        <p:spPr>
          <a:xfrm>
            <a:off x="1993897" y="4121850"/>
            <a:ext cx="84666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III. </a:t>
            </a:r>
            <a:r>
              <a:rPr lang="en-US" sz="2800" b="1" dirty="0">
                <a:latin typeface="Times New Roman" panose="02020603050405020304" pitchFamily="18" charset="0"/>
                <a:cs typeface="Times New Roman" panose="02020603050405020304" pitchFamily="18" charset="0"/>
              </a:rPr>
              <a:t>Introduction to the Slater-</a:t>
            </a:r>
            <a:r>
              <a:rPr lang="en-US" sz="2800" b="1" dirty="0" err="1">
                <a:latin typeface="Times New Roman" panose="02020603050405020304" pitchFamily="18" charset="0"/>
                <a:cs typeface="Times New Roman" panose="02020603050405020304" pitchFamily="18" charset="0"/>
              </a:rPr>
              <a:t>Koster</a:t>
            </a:r>
            <a:r>
              <a:rPr lang="en-US" sz="2800" b="1" dirty="0">
                <a:latin typeface="Times New Roman" panose="02020603050405020304" pitchFamily="18" charset="0"/>
                <a:cs typeface="Times New Roman" panose="02020603050405020304" pitchFamily="18" charset="0"/>
              </a:rPr>
              <a:t> (SK) Framework</a:t>
            </a:r>
            <a:endParaRPr lang="en-US" sz="2800" b="1" dirty="0">
              <a:effectLst/>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88DF719-B8A8-4117-8DEF-7F54A137B482}"/>
              </a:ext>
            </a:extLst>
          </p:cNvPr>
          <p:cNvSpPr txBox="1"/>
          <p:nvPr/>
        </p:nvSpPr>
        <p:spPr>
          <a:xfrm>
            <a:off x="2053164" y="5122819"/>
            <a:ext cx="8407401"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Spatial Truncation: Restricting the Infinite Matrix</a:t>
            </a:r>
            <a:endParaRPr lang="en-US" sz="2800" b="1"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4905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19" name="Slide Number Placeholder 18">
            <a:extLst>
              <a:ext uri="{FF2B5EF4-FFF2-40B4-BE49-F238E27FC236}">
                <a16:creationId xmlns:a16="http://schemas.microsoft.com/office/drawing/2014/main" id="{EFC216DF-96C1-4BDE-A499-0F0FD6EAB1CC}"/>
              </a:ext>
            </a:extLst>
          </p:cNvPr>
          <p:cNvSpPr>
            <a:spLocks noGrp="1"/>
          </p:cNvSpPr>
          <p:nvPr>
            <p:ph type="sldNum" sz="quarter" idx="12"/>
          </p:nvPr>
        </p:nvSpPr>
        <p:spPr>
          <a:xfrm>
            <a:off x="11878732" y="6643166"/>
            <a:ext cx="313267"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3</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29" name="TextBox 28">
            <a:extLst>
              <a:ext uri="{FF2B5EF4-FFF2-40B4-BE49-F238E27FC236}">
                <a16:creationId xmlns:a16="http://schemas.microsoft.com/office/drawing/2014/main" id="{19DE34CA-918C-486B-8EED-5BBE31CBA2F3}"/>
              </a:ext>
            </a:extLst>
          </p:cNvPr>
          <p:cNvSpPr txBox="1"/>
          <p:nvPr/>
        </p:nvSpPr>
        <p:spPr>
          <a:xfrm>
            <a:off x="2845421" y="581122"/>
            <a:ext cx="3373966"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From Isolated Atoms to Crystals</a:t>
            </a:r>
            <a:endParaRPr lang="en-US" b="1" dirty="0">
              <a:solidFill>
                <a:schemeClr val="tx1"/>
              </a:solidFill>
              <a:effectLst/>
              <a:latin typeface="Times New Roman" panose="02020603050405020304" pitchFamily="18" charset="0"/>
              <a:cs typeface="Times New Roman" panose="02020603050405020304" pitchFamily="18" charset="0"/>
            </a:endParaRPr>
          </a:p>
        </p:txBody>
      </p:sp>
      <p:sp>
        <p:nvSpPr>
          <p:cNvPr id="23" name="TextBox 22">
            <a:extLst>
              <a:ext uri="{FF2B5EF4-FFF2-40B4-BE49-F238E27FC236}">
                <a16:creationId xmlns:a16="http://schemas.microsoft.com/office/drawing/2014/main" id="{F06E76FB-E4F8-4232-8408-3C11B5AD83D8}"/>
              </a:ext>
            </a:extLst>
          </p:cNvPr>
          <p:cNvSpPr txBox="1"/>
          <p:nvPr/>
        </p:nvSpPr>
        <p:spPr>
          <a:xfrm>
            <a:off x="321328" y="3435115"/>
            <a:ext cx="5155307"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No overlap of potential between each isolated atom</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575D0806-20BA-49FB-9875-CE582F0E9B65}"/>
              </a:ext>
            </a:extLst>
          </p:cNvPr>
          <p:cNvSpPr txBox="1"/>
          <p:nvPr/>
        </p:nvSpPr>
        <p:spPr>
          <a:xfrm>
            <a:off x="1953462" y="10671"/>
            <a:ext cx="87714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 The Core Philosophy of Tight-Binding Method (TBM)</a:t>
            </a:r>
          </a:p>
        </p:txBody>
      </p:sp>
      <p:sp>
        <p:nvSpPr>
          <p:cNvPr id="2" name="Oval 1">
            <a:extLst>
              <a:ext uri="{FF2B5EF4-FFF2-40B4-BE49-F238E27FC236}">
                <a16:creationId xmlns:a16="http://schemas.microsoft.com/office/drawing/2014/main" id="{A1188423-D75D-4DB4-8DB0-62E8BE9D2A66}"/>
              </a:ext>
            </a:extLst>
          </p:cNvPr>
          <p:cNvSpPr/>
          <p:nvPr/>
        </p:nvSpPr>
        <p:spPr>
          <a:xfrm>
            <a:off x="1264284" y="1749678"/>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Freeform: Shape 5">
            <a:extLst>
              <a:ext uri="{FF2B5EF4-FFF2-40B4-BE49-F238E27FC236}">
                <a16:creationId xmlns:a16="http://schemas.microsoft.com/office/drawing/2014/main" id="{35638A86-D776-4D55-8336-E35D4288F34E}"/>
              </a:ext>
            </a:extLst>
          </p:cNvPr>
          <p:cNvSpPr/>
          <p:nvPr/>
        </p:nvSpPr>
        <p:spPr>
          <a:xfrm>
            <a:off x="638854" y="1778331"/>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Oval 29">
            <a:extLst>
              <a:ext uri="{FF2B5EF4-FFF2-40B4-BE49-F238E27FC236}">
                <a16:creationId xmlns:a16="http://schemas.microsoft.com/office/drawing/2014/main" id="{C8B3F1C8-7E09-4690-97EC-5AB8C6B2CC99}"/>
              </a:ext>
            </a:extLst>
          </p:cNvPr>
          <p:cNvSpPr/>
          <p:nvPr/>
        </p:nvSpPr>
        <p:spPr>
          <a:xfrm>
            <a:off x="1430653" y="229249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39402509-7B95-4977-A539-DA45F8A9D78D}"/>
              </a:ext>
            </a:extLst>
          </p:cNvPr>
          <p:cNvSpPr/>
          <p:nvPr/>
        </p:nvSpPr>
        <p:spPr>
          <a:xfrm rot="17491217">
            <a:off x="919414" y="1490743"/>
            <a:ext cx="1297036" cy="60333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123C6CF4-D0F5-451B-A471-57F13AA44078}"/>
              </a:ext>
            </a:extLst>
          </p:cNvPr>
          <p:cNvSpPr/>
          <p:nvPr/>
        </p:nvSpPr>
        <p:spPr>
          <a:xfrm>
            <a:off x="4230201" y="1749678"/>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Freeform: Shape 32">
            <a:extLst>
              <a:ext uri="{FF2B5EF4-FFF2-40B4-BE49-F238E27FC236}">
                <a16:creationId xmlns:a16="http://schemas.microsoft.com/office/drawing/2014/main" id="{0891FA19-0310-4D79-86B2-2C0D2D153E3F}"/>
              </a:ext>
            </a:extLst>
          </p:cNvPr>
          <p:cNvSpPr/>
          <p:nvPr/>
        </p:nvSpPr>
        <p:spPr>
          <a:xfrm>
            <a:off x="3604771" y="1778331"/>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Oval 33">
            <a:extLst>
              <a:ext uri="{FF2B5EF4-FFF2-40B4-BE49-F238E27FC236}">
                <a16:creationId xmlns:a16="http://schemas.microsoft.com/office/drawing/2014/main" id="{444F1FA4-36CB-4B7A-AF98-43875D15279F}"/>
              </a:ext>
            </a:extLst>
          </p:cNvPr>
          <p:cNvSpPr/>
          <p:nvPr/>
        </p:nvSpPr>
        <p:spPr>
          <a:xfrm>
            <a:off x="4615957" y="165627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3F91A7BF-9905-4364-A813-AEA23E3D27E1}"/>
              </a:ext>
            </a:extLst>
          </p:cNvPr>
          <p:cNvSpPr/>
          <p:nvPr/>
        </p:nvSpPr>
        <p:spPr>
          <a:xfrm rot="371760">
            <a:off x="3876063" y="1635536"/>
            <a:ext cx="963572" cy="4952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94CFA5AC-6195-4FF4-A0A3-1AA0410DCBBA}"/>
              </a:ext>
            </a:extLst>
          </p:cNvPr>
          <p:cNvGrpSpPr/>
          <p:nvPr/>
        </p:nvGrpSpPr>
        <p:grpSpPr>
          <a:xfrm>
            <a:off x="6560221" y="4137777"/>
            <a:ext cx="4456088" cy="2396861"/>
            <a:chOff x="4786780" y="1140316"/>
            <a:chExt cx="4456088" cy="2396861"/>
          </a:xfrm>
        </p:grpSpPr>
        <p:sp>
          <p:nvSpPr>
            <p:cNvPr id="14" name="Oval 13">
              <a:extLst>
                <a:ext uri="{FF2B5EF4-FFF2-40B4-BE49-F238E27FC236}">
                  <a16:creationId xmlns:a16="http://schemas.microsoft.com/office/drawing/2014/main" id="{BA57BD3F-4711-4348-B731-06DE4B7743A0}"/>
                </a:ext>
              </a:extLst>
            </p:cNvPr>
            <p:cNvSpPr/>
            <p:nvPr/>
          </p:nvSpPr>
          <p:spPr>
            <a:xfrm>
              <a:off x="5789465"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80943399-5B58-4DF8-B31F-0079768ADD6B}"/>
                </a:ext>
              </a:extLst>
            </p:cNvPr>
            <p:cNvSpPr/>
            <p:nvPr/>
          </p:nvSpPr>
          <p:spPr>
            <a:xfrm>
              <a:off x="5164035" y="1950098"/>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D596C964-7C41-446E-BED1-E9DB52B770B4}"/>
                </a:ext>
              </a:extLst>
            </p:cNvPr>
            <p:cNvSpPr/>
            <p:nvPr/>
          </p:nvSpPr>
          <p:spPr>
            <a:xfrm>
              <a:off x="6950517" y="1950098"/>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EAA856D0-28A7-45E6-A733-A34766B9F3BC}"/>
                </a:ext>
              </a:extLst>
            </p:cNvPr>
            <p:cNvSpPr/>
            <p:nvPr/>
          </p:nvSpPr>
          <p:spPr>
            <a:xfrm>
              <a:off x="6325087" y="1978751"/>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3C8EB6B3-3333-4630-A400-D54405380EB3}"/>
                </a:ext>
              </a:extLst>
            </p:cNvPr>
            <p:cNvSpPr/>
            <p:nvPr/>
          </p:nvSpPr>
          <p:spPr>
            <a:xfrm>
              <a:off x="8098988"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Freeform: Shape 19">
              <a:extLst>
                <a:ext uri="{FF2B5EF4-FFF2-40B4-BE49-F238E27FC236}">
                  <a16:creationId xmlns:a16="http://schemas.microsoft.com/office/drawing/2014/main" id="{6DF56133-9ADB-45FA-9526-E55947AABFBE}"/>
                </a:ext>
              </a:extLst>
            </p:cNvPr>
            <p:cNvSpPr/>
            <p:nvPr/>
          </p:nvSpPr>
          <p:spPr>
            <a:xfrm>
              <a:off x="7473558" y="1950098"/>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79150AFC-35D7-46D3-8295-326C091E22BE}"/>
                </a:ext>
              </a:extLst>
            </p:cNvPr>
            <p:cNvSpPr/>
            <p:nvPr/>
          </p:nvSpPr>
          <p:spPr>
            <a:xfrm>
              <a:off x="5154559" y="25328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309DB92-59C3-45A9-94C6-85DE98C742E3}"/>
                </a:ext>
              </a:extLst>
            </p:cNvPr>
            <p:cNvSpPr/>
            <p:nvPr/>
          </p:nvSpPr>
          <p:spPr>
            <a:xfrm>
              <a:off x="4952134" y="25299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0FF6167F-43AE-4673-985E-6227C6BD2256}"/>
                </a:ext>
              </a:extLst>
            </p:cNvPr>
            <p:cNvSpPr/>
            <p:nvPr/>
          </p:nvSpPr>
          <p:spPr>
            <a:xfrm>
              <a:off x="4786780" y="252994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Oval 25">
              <a:extLst>
                <a:ext uri="{FF2B5EF4-FFF2-40B4-BE49-F238E27FC236}">
                  <a16:creationId xmlns:a16="http://schemas.microsoft.com/office/drawing/2014/main" id="{C4FCF7E7-48CD-4228-A7BD-FADFCD0A80D7}"/>
                </a:ext>
              </a:extLst>
            </p:cNvPr>
            <p:cNvSpPr/>
            <p:nvPr/>
          </p:nvSpPr>
          <p:spPr>
            <a:xfrm>
              <a:off x="9197149" y="252994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Oval 26">
              <a:extLst>
                <a:ext uri="{FF2B5EF4-FFF2-40B4-BE49-F238E27FC236}">
                  <a16:creationId xmlns:a16="http://schemas.microsoft.com/office/drawing/2014/main" id="{DB809D0A-F385-415A-8439-BE8A5E0EBA96}"/>
                </a:ext>
              </a:extLst>
            </p:cNvPr>
            <p:cNvSpPr/>
            <p:nvPr/>
          </p:nvSpPr>
          <p:spPr>
            <a:xfrm>
              <a:off x="9014056" y="253305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Oval 27">
              <a:extLst>
                <a:ext uri="{FF2B5EF4-FFF2-40B4-BE49-F238E27FC236}">
                  <a16:creationId xmlns:a16="http://schemas.microsoft.com/office/drawing/2014/main" id="{AC3D4BEE-625F-4D0C-92D3-AB7070447B95}"/>
                </a:ext>
              </a:extLst>
            </p:cNvPr>
            <p:cNvSpPr/>
            <p:nvPr/>
          </p:nvSpPr>
          <p:spPr>
            <a:xfrm>
              <a:off x="8848702" y="253305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AB04754-6065-4207-AB8A-620EEE15E15A}"/>
                </a:ext>
              </a:extLst>
            </p:cNvPr>
            <p:cNvSpPr/>
            <p:nvPr/>
          </p:nvSpPr>
          <p:spPr>
            <a:xfrm rot="19273221">
              <a:off x="5564186" y="1682860"/>
              <a:ext cx="1267064" cy="553182"/>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DD406D5C-0D68-4460-AAC7-FF8F2F226BB6}"/>
                </a:ext>
              </a:extLst>
            </p:cNvPr>
            <p:cNvSpPr/>
            <p:nvPr/>
          </p:nvSpPr>
          <p:spPr>
            <a:xfrm rot="4434673">
              <a:off x="6284804" y="1531790"/>
              <a:ext cx="1506337" cy="7233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9C97CB2C-35A4-404B-BBF0-35DBB038D5F8}"/>
                </a:ext>
              </a:extLst>
            </p:cNvPr>
            <p:cNvSpPr/>
            <p:nvPr/>
          </p:nvSpPr>
          <p:spPr>
            <a:xfrm rot="1251432">
              <a:off x="7194162" y="1731495"/>
              <a:ext cx="1492586" cy="495290"/>
            </a:xfrm>
            <a:prstGeom prst="ellipse">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EC298909-1BA3-4407-8D7B-3F0F048EBDEA}"/>
                </a:ext>
              </a:extLst>
            </p:cNvPr>
            <p:cNvSpPr/>
            <p:nvPr/>
          </p:nvSpPr>
          <p:spPr>
            <a:xfrm>
              <a:off x="6533788" y="1550029"/>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B66FB610-72A8-4C63-940F-78469B031D9F}"/>
                </a:ext>
              </a:extLst>
            </p:cNvPr>
            <p:cNvSpPr/>
            <p:nvPr/>
          </p:nvSpPr>
          <p:spPr>
            <a:xfrm>
              <a:off x="7334681" y="1718220"/>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5A0D163F-F878-4712-B1E7-80979936D054}"/>
                </a:ext>
              </a:extLst>
            </p:cNvPr>
            <p:cNvSpPr/>
            <p:nvPr/>
          </p:nvSpPr>
          <p:spPr>
            <a:xfrm>
              <a:off x="7163054" y="170011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9" name="Group 8">
            <a:extLst>
              <a:ext uri="{FF2B5EF4-FFF2-40B4-BE49-F238E27FC236}">
                <a16:creationId xmlns:a16="http://schemas.microsoft.com/office/drawing/2014/main" id="{4336C4A9-0041-4CC2-97F6-D5EB2F6925C6}"/>
              </a:ext>
            </a:extLst>
          </p:cNvPr>
          <p:cNvGrpSpPr/>
          <p:nvPr/>
        </p:nvGrpSpPr>
        <p:grpSpPr>
          <a:xfrm>
            <a:off x="6553380" y="1383378"/>
            <a:ext cx="4456088" cy="1615732"/>
            <a:chOff x="4799223" y="4182564"/>
            <a:chExt cx="4456088" cy="1615732"/>
          </a:xfrm>
        </p:grpSpPr>
        <p:sp>
          <p:nvSpPr>
            <p:cNvPr id="42" name="Oval 41">
              <a:extLst>
                <a:ext uri="{FF2B5EF4-FFF2-40B4-BE49-F238E27FC236}">
                  <a16:creationId xmlns:a16="http://schemas.microsoft.com/office/drawing/2014/main" id="{26D0EA74-206C-4812-8F07-1DDF02571437}"/>
                </a:ext>
              </a:extLst>
            </p:cNvPr>
            <p:cNvSpPr/>
            <p:nvPr/>
          </p:nvSpPr>
          <p:spPr>
            <a:xfrm>
              <a:off x="5801908" y="4182564"/>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420C18C7-AE47-42F6-8C9A-A0FD71E4D8BF}"/>
                </a:ext>
              </a:extLst>
            </p:cNvPr>
            <p:cNvSpPr/>
            <p:nvPr/>
          </p:nvSpPr>
          <p:spPr>
            <a:xfrm>
              <a:off x="5176478" y="4211217"/>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315F8761-2CA8-407B-AE6A-FBF3A756F659}"/>
                </a:ext>
              </a:extLst>
            </p:cNvPr>
            <p:cNvSpPr/>
            <p:nvPr/>
          </p:nvSpPr>
          <p:spPr>
            <a:xfrm>
              <a:off x="6962960" y="4211217"/>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Shape 44">
              <a:extLst>
                <a:ext uri="{FF2B5EF4-FFF2-40B4-BE49-F238E27FC236}">
                  <a16:creationId xmlns:a16="http://schemas.microsoft.com/office/drawing/2014/main" id="{A3FF45EA-34F6-4C46-9861-32B75B2749A4}"/>
                </a:ext>
              </a:extLst>
            </p:cNvPr>
            <p:cNvSpPr/>
            <p:nvPr/>
          </p:nvSpPr>
          <p:spPr>
            <a:xfrm>
              <a:off x="6337530" y="4239870"/>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1185E801-56D6-468B-8302-0DAED8E30371}"/>
                </a:ext>
              </a:extLst>
            </p:cNvPr>
            <p:cNvSpPr/>
            <p:nvPr/>
          </p:nvSpPr>
          <p:spPr>
            <a:xfrm>
              <a:off x="8111431" y="4182564"/>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Freeform: Shape 46">
              <a:extLst>
                <a:ext uri="{FF2B5EF4-FFF2-40B4-BE49-F238E27FC236}">
                  <a16:creationId xmlns:a16="http://schemas.microsoft.com/office/drawing/2014/main" id="{912AB547-F54C-4D25-AC1A-E01EFB575D1D}"/>
                </a:ext>
              </a:extLst>
            </p:cNvPr>
            <p:cNvSpPr/>
            <p:nvPr/>
          </p:nvSpPr>
          <p:spPr>
            <a:xfrm>
              <a:off x="7486001" y="4211217"/>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244F493D-DE2D-4337-9086-2C159FD2ED9D}"/>
                </a:ext>
              </a:extLst>
            </p:cNvPr>
            <p:cNvSpPr/>
            <p:nvPr/>
          </p:nvSpPr>
          <p:spPr>
            <a:xfrm>
              <a:off x="5167002" y="479396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044BE065-D31E-4DA8-9462-07C39EA14865}"/>
                </a:ext>
              </a:extLst>
            </p:cNvPr>
            <p:cNvSpPr/>
            <p:nvPr/>
          </p:nvSpPr>
          <p:spPr>
            <a:xfrm>
              <a:off x="4964577" y="479106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3BC4D74C-D481-4E6A-BA6B-4537214E68B0}"/>
                </a:ext>
              </a:extLst>
            </p:cNvPr>
            <p:cNvSpPr/>
            <p:nvPr/>
          </p:nvSpPr>
          <p:spPr>
            <a:xfrm>
              <a:off x="4799223" y="479106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B8529D95-33FC-4228-BB7C-5347C392AADB}"/>
                </a:ext>
              </a:extLst>
            </p:cNvPr>
            <p:cNvSpPr/>
            <p:nvPr/>
          </p:nvSpPr>
          <p:spPr>
            <a:xfrm>
              <a:off x="9209592" y="4791067"/>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F7E4DB0-0121-4A32-9DB0-51D327ABCEFD}"/>
                </a:ext>
              </a:extLst>
            </p:cNvPr>
            <p:cNvSpPr/>
            <p:nvPr/>
          </p:nvSpPr>
          <p:spPr>
            <a:xfrm>
              <a:off x="9026499" y="479417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224F73DE-F93C-482E-906B-5E6FDD5A1DCD}"/>
                </a:ext>
              </a:extLst>
            </p:cNvPr>
            <p:cNvSpPr/>
            <p:nvPr/>
          </p:nvSpPr>
          <p:spPr>
            <a:xfrm>
              <a:off x="8861145" y="4794177"/>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4" name="TextBox 53">
            <a:extLst>
              <a:ext uri="{FF2B5EF4-FFF2-40B4-BE49-F238E27FC236}">
                <a16:creationId xmlns:a16="http://schemas.microsoft.com/office/drawing/2014/main" id="{13237953-FC54-4B80-9A17-0C793E89AEBE}"/>
              </a:ext>
            </a:extLst>
          </p:cNvPr>
          <p:cNvSpPr txBox="1"/>
          <p:nvPr/>
        </p:nvSpPr>
        <p:spPr>
          <a:xfrm>
            <a:off x="130512" y="5108837"/>
            <a:ext cx="5479044"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No interaction between electron on each isolated atom</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12" name="Cloud 11">
            <a:extLst>
              <a:ext uri="{FF2B5EF4-FFF2-40B4-BE49-F238E27FC236}">
                <a16:creationId xmlns:a16="http://schemas.microsoft.com/office/drawing/2014/main" id="{CD1FA57A-F004-4957-AF4D-BADDF1334E7A}"/>
              </a:ext>
            </a:extLst>
          </p:cNvPr>
          <p:cNvSpPr/>
          <p:nvPr/>
        </p:nvSpPr>
        <p:spPr>
          <a:xfrm>
            <a:off x="2376150" y="1375271"/>
            <a:ext cx="1144685" cy="841448"/>
          </a:xfrm>
          <a:prstGeom prst="clou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latin typeface="Times New Roman" panose="02020603050405020304" pitchFamily="18" charset="0"/>
                <a:cs typeface="Times New Roman" panose="02020603050405020304" pitchFamily="18" charset="0"/>
              </a:rPr>
              <a:t>Zero overlap</a:t>
            </a:r>
          </a:p>
        </p:txBody>
      </p:sp>
      <p:sp>
        <p:nvSpPr>
          <p:cNvPr id="55" name="TextBox 54">
            <a:extLst>
              <a:ext uri="{FF2B5EF4-FFF2-40B4-BE49-F238E27FC236}">
                <a16:creationId xmlns:a16="http://schemas.microsoft.com/office/drawing/2014/main" id="{3A905B7C-C02F-42E9-B26E-13D56BA29C4D}"/>
              </a:ext>
            </a:extLst>
          </p:cNvPr>
          <p:cNvSpPr txBox="1"/>
          <p:nvPr/>
        </p:nvSpPr>
        <p:spPr>
          <a:xfrm>
            <a:off x="401377" y="4161283"/>
            <a:ext cx="4806263" cy="646331"/>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Electrons are trapped within the potential well on each isolated atom</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56" name="Cloud 55">
            <a:extLst>
              <a:ext uri="{FF2B5EF4-FFF2-40B4-BE49-F238E27FC236}">
                <a16:creationId xmlns:a16="http://schemas.microsoft.com/office/drawing/2014/main" id="{A4D9B327-2ABD-40D3-8B5C-C8E06FD94884}"/>
              </a:ext>
            </a:extLst>
          </p:cNvPr>
          <p:cNvSpPr/>
          <p:nvPr/>
        </p:nvSpPr>
        <p:spPr>
          <a:xfrm>
            <a:off x="7798263" y="765788"/>
            <a:ext cx="1144685" cy="841448"/>
          </a:xfrm>
          <a:prstGeom prst="clou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latin typeface="Times New Roman" panose="02020603050405020304" pitchFamily="18" charset="0"/>
                <a:cs typeface="Times New Roman" panose="02020603050405020304" pitchFamily="18" charset="0"/>
              </a:rPr>
              <a:t>Non-zero overlap</a:t>
            </a:r>
          </a:p>
        </p:txBody>
      </p:sp>
      <p:sp>
        <p:nvSpPr>
          <p:cNvPr id="57" name="Cloud 56">
            <a:extLst>
              <a:ext uri="{FF2B5EF4-FFF2-40B4-BE49-F238E27FC236}">
                <a16:creationId xmlns:a16="http://schemas.microsoft.com/office/drawing/2014/main" id="{76E1704B-7E49-4918-98F1-6E3D5944803F}"/>
              </a:ext>
            </a:extLst>
          </p:cNvPr>
          <p:cNvSpPr/>
          <p:nvPr/>
        </p:nvSpPr>
        <p:spPr>
          <a:xfrm>
            <a:off x="8959315" y="770843"/>
            <a:ext cx="1144685" cy="841448"/>
          </a:xfrm>
          <a:prstGeom prst="cloud">
            <a:avLst/>
          </a:prstGeom>
          <a:noFill/>
          <a:ln w="254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rgbClr val="0070C0"/>
                </a:solidFill>
                <a:latin typeface="Times New Roman" panose="02020603050405020304" pitchFamily="18" charset="0"/>
                <a:cs typeface="Times New Roman" panose="02020603050405020304" pitchFamily="18" charset="0"/>
              </a:rPr>
              <a:t>Non-zero overlap</a:t>
            </a:r>
          </a:p>
        </p:txBody>
      </p:sp>
      <p:sp>
        <p:nvSpPr>
          <p:cNvPr id="58" name="TextBox 57">
            <a:extLst>
              <a:ext uri="{FF2B5EF4-FFF2-40B4-BE49-F238E27FC236}">
                <a16:creationId xmlns:a16="http://schemas.microsoft.com/office/drawing/2014/main" id="{207FBAA8-AF23-4B99-B8D8-5BB7048AC700}"/>
              </a:ext>
            </a:extLst>
          </p:cNvPr>
          <p:cNvSpPr txBox="1"/>
          <p:nvPr/>
        </p:nvSpPr>
        <p:spPr>
          <a:xfrm>
            <a:off x="6821934" y="2981376"/>
            <a:ext cx="4095732"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Overlap of potential between each atom</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E22D4832-695D-4141-99CF-D995BE679225}"/>
              </a:ext>
            </a:extLst>
          </p:cNvPr>
          <p:cNvSpPr txBox="1"/>
          <p:nvPr/>
        </p:nvSpPr>
        <p:spPr>
          <a:xfrm>
            <a:off x="6466669" y="3558949"/>
            <a:ext cx="4806263" cy="646331"/>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Electrons are not trapped within the potential well any longer</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74755A1-3024-482D-BC11-8B007316829C}"/>
              </a:ext>
            </a:extLst>
          </p:cNvPr>
          <p:cNvSpPr txBox="1"/>
          <p:nvPr/>
        </p:nvSpPr>
        <p:spPr>
          <a:xfrm>
            <a:off x="10277672" y="4079181"/>
            <a:ext cx="1847238" cy="923330"/>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Interaction between electron on each atom</a:t>
            </a:r>
            <a:endParaRPr lang="en-US" b="1" dirty="0">
              <a:solidFill>
                <a:srgbClr val="FF0000"/>
              </a:solidFill>
              <a:effectLst/>
              <a:latin typeface="Times New Roman" panose="02020603050405020304" pitchFamily="18" charset="0"/>
              <a:cs typeface="Times New Roman" panose="02020603050405020304" pitchFamily="18" charset="0"/>
            </a:endParaRPr>
          </a:p>
        </p:txBody>
      </p:sp>
      <p:cxnSp>
        <p:nvCxnSpPr>
          <p:cNvPr id="61" name="Straight Arrow Connector 60">
            <a:extLst>
              <a:ext uri="{FF2B5EF4-FFF2-40B4-BE49-F238E27FC236}">
                <a16:creationId xmlns:a16="http://schemas.microsoft.com/office/drawing/2014/main" id="{2710845B-C348-4071-A60B-2242377431BB}"/>
              </a:ext>
            </a:extLst>
          </p:cNvPr>
          <p:cNvCxnSpPr/>
          <p:nvPr/>
        </p:nvCxnSpPr>
        <p:spPr>
          <a:xfrm>
            <a:off x="2687219" y="3825382"/>
            <a:ext cx="0" cy="3545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a:extLst>
              <a:ext uri="{FF2B5EF4-FFF2-40B4-BE49-F238E27FC236}">
                <a16:creationId xmlns:a16="http://schemas.microsoft.com/office/drawing/2014/main" id="{512A4D5F-8F49-4A04-8676-C33D75F706E6}"/>
              </a:ext>
            </a:extLst>
          </p:cNvPr>
          <p:cNvCxnSpPr/>
          <p:nvPr/>
        </p:nvCxnSpPr>
        <p:spPr>
          <a:xfrm>
            <a:off x="2690329" y="4780050"/>
            <a:ext cx="0" cy="3545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78BC8347-E6D3-47A7-8420-FFBFB29211D0}"/>
              </a:ext>
            </a:extLst>
          </p:cNvPr>
          <p:cNvCxnSpPr/>
          <p:nvPr/>
        </p:nvCxnSpPr>
        <p:spPr>
          <a:xfrm>
            <a:off x="8922114" y="3321527"/>
            <a:ext cx="0" cy="354563"/>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Straight Arrow Connector 63">
            <a:extLst>
              <a:ext uri="{FF2B5EF4-FFF2-40B4-BE49-F238E27FC236}">
                <a16:creationId xmlns:a16="http://schemas.microsoft.com/office/drawing/2014/main" id="{36691336-42DB-431B-BE9E-3E957EC7A9A6}"/>
              </a:ext>
            </a:extLst>
          </p:cNvPr>
          <p:cNvCxnSpPr>
            <a:cxnSpLocks/>
          </p:cNvCxnSpPr>
          <p:nvPr/>
        </p:nvCxnSpPr>
        <p:spPr>
          <a:xfrm flipH="1">
            <a:off x="9272552" y="4476341"/>
            <a:ext cx="1073652" cy="29870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0" name="Rectangle 69">
            <a:extLst>
              <a:ext uri="{FF2B5EF4-FFF2-40B4-BE49-F238E27FC236}">
                <a16:creationId xmlns:a16="http://schemas.microsoft.com/office/drawing/2014/main" id="{7BD253F3-F606-457C-B0DF-C43448D500D3}"/>
              </a:ext>
            </a:extLst>
          </p:cNvPr>
          <p:cNvSpPr/>
          <p:nvPr/>
        </p:nvSpPr>
        <p:spPr>
          <a:xfrm>
            <a:off x="102640" y="1115763"/>
            <a:ext cx="5514583" cy="4551293"/>
          </a:xfrm>
          <a:prstGeom prst="rect">
            <a:avLst/>
          </a:prstGeom>
          <a:noFill/>
          <a:ln w="254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Rectangle 70">
            <a:extLst>
              <a:ext uri="{FF2B5EF4-FFF2-40B4-BE49-F238E27FC236}">
                <a16:creationId xmlns:a16="http://schemas.microsoft.com/office/drawing/2014/main" id="{AD1456AC-13EA-45C4-8CC3-9C96E108A040}"/>
              </a:ext>
            </a:extLst>
          </p:cNvPr>
          <p:cNvSpPr/>
          <p:nvPr/>
        </p:nvSpPr>
        <p:spPr>
          <a:xfrm>
            <a:off x="6315827" y="688307"/>
            <a:ext cx="5745661" cy="5920709"/>
          </a:xfrm>
          <a:prstGeom prst="rect">
            <a:avLst/>
          </a:prstGeom>
          <a:noFill/>
          <a:ln w="254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2" name="Straight Arrow Connector 71">
            <a:extLst>
              <a:ext uri="{FF2B5EF4-FFF2-40B4-BE49-F238E27FC236}">
                <a16:creationId xmlns:a16="http://schemas.microsoft.com/office/drawing/2014/main" id="{2EC741D4-DCDE-4B16-9669-D844646F37D9}"/>
              </a:ext>
            </a:extLst>
          </p:cNvPr>
          <p:cNvCxnSpPr>
            <a:cxnSpLocks/>
          </p:cNvCxnSpPr>
          <p:nvPr/>
        </p:nvCxnSpPr>
        <p:spPr>
          <a:xfrm flipH="1">
            <a:off x="4133461" y="890727"/>
            <a:ext cx="183120" cy="213619"/>
          </a:xfrm>
          <a:prstGeom prst="straightConnector1">
            <a:avLst/>
          </a:prstGeom>
          <a:ln w="254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9D3FD106-F226-4A02-9519-8150253F7EDE}"/>
              </a:ext>
            </a:extLst>
          </p:cNvPr>
          <p:cNvCxnSpPr>
            <a:cxnSpLocks/>
          </p:cNvCxnSpPr>
          <p:nvPr/>
        </p:nvCxnSpPr>
        <p:spPr>
          <a:xfrm>
            <a:off x="5665443" y="917282"/>
            <a:ext cx="622476" cy="221720"/>
          </a:xfrm>
          <a:prstGeom prst="straightConnector1">
            <a:avLst/>
          </a:prstGeom>
          <a:ln w="254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74593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00A0960-457D-43DB-A948-CB10161603F9}"/>
              </a:ext>
            </a:extLst>
          </p:cNvPr>
          <p:cNvPicPr>
            <a:picLocks noChangeAspect="1"/>
          </p:cNvPicPr>
          <p:nvPr/>
        </p:nvPicPr>
        <p:blipFill>
          <a:blip r:embed="rId2">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7" name="Rectangle 6">
            <a:extLst>
              <a:ext uri="{FF2B5EF4-FFF2-40B4-BE49-F238E27FC236}">
                <a16:creationId xmlns:a16="http://schemas.microsoft.com/office/drawing/2014/main" id="{A5257F49-8016-44C6-B361-FBFAF42C9BC3}"/>
              </a:ext>
            </a:extLst>
          </p:cNvPr>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D20F3C7-2FC3-4AF9-991A-7FA79CD80F1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9" name="Slide Number Placeholder 2">
            <a:extLst>
              <a:ext uri="{FF2B5EF4-FFF2-40B4-BE49-F238E27FC236}">
                <a16:creationId xmlns:a16="http://schemas.microsoft.com/office/drawing/2014/main" id="{B6BD37A9-D919-45A4-91FA-3AA973CA5B82}"/>
              </a:ext>
            </a:extLst>
          </p:cNvPr>
          <p:cNvSpPr txBox="1">
            <a:spLocks/>
          </p:cNvSpPr>
          <p:nvPr/>
        </p:nvSpPr>
        <p:spPr>
          <a:xfrm>
            <a:off x="11751732" y="6643166"/>
            <a:ext cx="443643" cy="21483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pPr/>
              <a:t>4</a:t>
            </a:fld>
            <a:endParaRPr lang="en-US" sz="16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90300A91-6EB6-4BD6-BC5A-DC18CE6E6EC3}"/>
                  </a:ext>
                </a:extLst>
              </p:cNvPr>
              <p:cNvSpPr txBox="1"/>
              <p:nvPr/>
            </p:nvSpPr>
            <p:spPr>
              <a:xfrm>
                <a:off x="767329" y="1888755"/>
                <a:ext cx="4057032"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Atomic Hamiltonian:</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𝑯</m:t>
                        </m:r>
                      </m:e>
                      <m:sub>
                        <m:r>
                          <a:rPr lang="en-US" b="1" i="1" smtClean="0">
                            <a:latin typeface="Cambria Math" panose="02040503050406030204" pitchFamily="18" charset="0"/>
                            <a:cs typeface="Times New Roman" panose="02020603050405020304" pitchFamily="18" charset="0"/>
                          </a:rPr>
                          <m:t>𝒂𝒕𝒐𝒎</m:t>
                        </m:r>
                      </m:sub>
                    </m:sSub>
                    <m:sSub>
                      <m:sSubPr>
                        <m:ctrlPr>
                          <a:rPr lang="en-US" b="1" i="1" smtClean="0">
                            <a:latin typeface="Cambria Math" panose="02040503050406030204" pitchFamily="18" charset="0"/>
                            <a:cs typeface="Times New Roman" panose="02020603050405020304" pitchFamily="18" charset="0"/>
                          </a:rPr>
                        </m:ctrlPr>
                      </m:sSubPr>
                      <m:e>
                        <m:r>
                          <a:rPr lang="el-GR" b="1" i="1" smtClean="0">
                            <a:latin typeface="Cambria Math" panose="02040503050406030204" pitchFamily="18" charset="0"/>
                            <a:cs typeface="Times New Roman" panose="02020603050405020304" pitchFamily="18" charset="0"/>
                          </a:rPr>
                          <m:t>𝜱</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ea typeface="Cambria Math" panose="02040503050406030204" pitchFamily="18" charset="0"/>
                            <a:cs typeface="Times New Roman" panose="02020603050405020304" pitchFamily="18" charset="0"/>
                          </a:rPr>
                          <m:t>𝜺</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sSub>
                      <m:sSubPr>
                        <m:ctrlPr>
                          <a:rPr lang="en-US" b="1" i="1" smtClean="0">
                            <a:latin typeface="Cambria Math" panose="02040503050406030204" pitchFamily="18" charset="0"/>
                            <a:cs typeface="Times New Roman" panose="02020603050405020304" pitchFamily="18" charset="0"/>
                          </a:rPr>
                        </m:ctrlPr>
                      </m:sSubPr>
                      <m:e>
                        <m:r>
                          <a:rPr lang="el-GR" b="1" i="1" smtClean="0">
                            <a:latin typeface="Cambria Math" panose="02040503050406030204" pitchFamily="18" charset="0"/>
                            <a:cs typeface="Times New Roman" panose="02020603050405020304" pitchFamily="18" charset="0"/>
                          </a:rPr>
                          <m:t>𝜱</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oMath>
                </a14:m>
                <a:endParaRPr lang="en-US" b="1" dirty="0">
                  <a:latin typeface="Times New Roman" panose="02020603050405020304" pitchFamily="18" charset="0"/>
                  <a:cs typeface="Times New Roman" panose="02020603050405020304" pitchFamily="18" charset="0"/>
                </a:endParaRPr>
              </a:p>
            </p:txBody>
          </p:sp>
        </mc:Choice>
        <mc:Fallback xmlns="">
          <p:sp>
            <p:nvSpPr>
              <p:cNvPr id="5" name="TextBox 4">
                <a:extLst>
                  <a:ext uri="{FF2B5EF4-FFF2-40B4-BE49-F238E27FC236}">
                    <a16:creationId xmlns:a16="http://schemas.microsoft.com/office/drawing/2014/main" id="{90300A91-6EB6-4BD6-BC5A-DC18CE6E6EC3}"/>
                  </a:ext>
                </a:extLst>
              </p:cNvPr>
              <p:cNvSpPr txBox="1">
                <a:spLocks noRot="1" noChangeAspect="1" noMove="1" noResize="1" noEditPoints="1" noAdjustHandles="1" noChangeArrowheads="1" noChangeShapeType="1" noTextEdit="1"/>
              </p:cNvSpPr>
              <p:nvPr/>
            </p:nvSpPr>
            <p:spPr>
              <a:xfrm>
                <a:off x="767329" y="1888755"/>
                <a:ext cx="4057032" cy="369332"/>
              </a:xfrm>
              <a:prstGeom prst="rect">
                <a:avLst/>
              </a:prstGeom>
              <a:blipFill>
                <a:blip r:embed="rId4"/>
                <a:stretch>
                  <a:fillRect l="-1353" t="-10000" b="-26667"/>
                </a:stretch>
              </a:blipFill>
            </p:spPr>
            <p:txBody>
              <a:bodyPr/>
              <a:lstStyle/>
              <a:p>
                <a:r>
                  <a:rPr lang="en-US">
                    <a:noFill/>
                  </a:rPr>
                  <a:t> </a:t>
                </a:r>
              </a:p>
            </p:txBody>
          </p:sp>
        </mc:Fallback>
      </mc:AlternateContent>
      <p:sp>
        <p:nvSpPr>
          <p:cNvPr id="10" name="TextBox 9">
            <a:extLst>
              <a:ext uri="{FF2B5EF4-FFF2-40B4-BE49-F238E27FC236}">
                <a16:creationId xmlns:a16="http://schemas.microsoft.com/office/drawing/2014/main" id="{B9CF8E8D-4378-46CB-ABE8-8DCDA00DCC37}"/>
              </a:ext>
            </a:extLst>
          </p:cNvPr>
          <p:cNvSpPr txBox="1"/>
          <p:nvPr/>
        </p:nvSpPr>
        <p:spPr>
          <a:xfrm>
            <a:off x="1953462" y="10671"/>
            <a:ext cx="87714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 The Core Philosophy of Tight-Binding Method (TBM)</a:t>
            </a:r>
          </a:p>
        </p:txBody>
      </p:sp>
      <p:sp>
        <p:nvSpPr>
          <p:cNvPr id="11" name="TextBox 10">
            <a:extLst>
              <a:ext uri="{FF2B5EF4-FFF2-40B4-BE49-F238E27FC236}">
                <a16:creationId xmlns:a16="http://schemas.microsoft.com/office/drawing/2014/main" id="{8703D2B4-60BC-4637-8EAD-65C1948E58C7}"/>
              </a:ext>
            </a:extLst>
          </p:cNvPr>
          <p:cNvSpPr txBox="1"/>
          <p:nvPr/>
        </p:nvSpPr>
        <p:spPr>
          <a:xfrm>
            <a:off x="4409017" y="1005343"/>
            <a:ext cx="3373966"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From Isolated Atoms to Crystals</a:t>
            </a:r>
            <a:endParaRPr lang="en-US" b="1" dirty="0">
              <a:solidFill>
                <a:schemeClr val="tx1"/>
              </a:solidFill>
              <a:effectLst/>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CF2FF37B-49F6-4885-B031-5374B7D4E19E}"/>
              </a:ext>
            </a:extLst>
          </p:cNvPr>
          <p:cNvSpPr txBox="1"/>
          <p:nvPr/>
        </p:nvSpPr>
        <p:spPr>
          <a:xfrm>
            <a:off x="664909" y="4235966"/>
            <a:ext cx="4261871"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Orbitals are discrete and strictly localized</a:t>
            </a:r>
          </a:p>
        </p:txBody>
      </p:sp>
      <p:sp>
        <p:nvSpPr>
          <p:cNvPr id="14" name="TextBox 13">
            <a:extLst>
              <a:ext uri="{FF2B5EF4-FFF2-40B4-BE49-F238E27FC236}">
                <a16:creationId xmlns:a16="http://schemas.microsoft.com/office/drawing/2014/main" id="{CDE891E1-F17E-4F6C-A57A-3A8DF5C71A3A}"/>
              </a:ext>
            </a:extLst>
          </p:cNvPr>
          <p:cNvSpPr txBox="1"/>
          <p:nvPr/>
        </p:nvSpPr>
        <p:spPr>
          <a:xfrm>
            <a:off x="7036077" y="1823523"/>
            <a:ext cx="4515221"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As atoms approach to form a crystal, atomic potentials overlap perturbatively</a:t>
            </a:r>
          </a:p>
        </p:txBody>
      </p:sp>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1D515023-5DC2-4B20-90ED-9367EA5A9E1F}"/>
                  </a:ext>
                </a:extLst>
              </p:cNvPr>
              <p:cNvSpPr txBox="1"/>
              <p:nvPr/>
            </p:nvSpPr>
            <p:spPr>
              <a:xfrm>
                <a:off x="8142166" y="3127240"/>
                <a:ext cx="235908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𝑯</m:t>
                          </m:r>
                        </m:e>
                        <m:sub>
                          <m:r>
                            <a:rPr lang="en-US" b="1" i="1">
                              <a:latin typeface="Cambria Math" panose="02040503050406030204" pitchFamily="18" charset="0"/>
                              <a:cs typeface="Times New Roman" panose="02020603050405020304" pitchFamily="18" charset="0"/>
                            </a:rPr>
                            <m:t>𝒕</m:t>
                          </m:r>
                          <m:r>
                            <a:rPr lang="en-US" b="1" i="1" smtClean="0">
                              <a:latin typeface="Cambria Math" panose="02040503050406030204" pitchFamily="18" charset="0"/>
                              <a:cs typeface="Times New Roman" panose="02020603050405020304" pitchFamily="18" charset="0"/>
                            </a:rPr>
                            <m:t>𝒐𝒕𝒂𝒍</m:t>
                          </m:r>
                        </m:sub>
                      </m:sSub>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𝑯</m:t>
                          </m:r>
                        </m:e>
                        <m:sub>
                          <m:r>
                            <a:rPr lang="en-US" b="1" i="1" smtClean="0">
                              <a:latin typeface="Cambria Math" panose="02040503050406030204" pitchFamily="18" charset="0"/>
                              <a:cs typeface="Times New Roman" panose="02020603050405020304" pitchFamily="18" charset="0"/>
                            </a:rPr>
                            <m:t>𝒂𝒕𝒐𝒎</m:t>
                          </m:r>
                        </m:sub>
                      </m:sSub>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ea typeface="Cambria Math" panose="02040503050406030204" pitchFamily="18" charset="0"/>
                              <a:cs typeface="Times New Roman" panose="02020603050405020304" pitchFamily="18" charset="0"/>
                            </a:rPr>
                            <m:t>𝑽</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𝒓</m:t>
                          </m:r>
                        </m:sub>
                      </m:sSub>
                    </m:oMath>
                  </m:oMathPara>
                </a14:m>
                <a:endParaRPr lang="en-US" b="1" dirty="0">
                  <a:latin typeface="Times New Roman" panose="02020603050405020304" pitchFamily="18" charset="0"/>
                  <a:cs typeface="Times New Roman" panose="02020603050405020304" pitchFamily="18" charset="0"/>
                </a:endParaRPr>
              </a:p>
            </p:txBody>
          </p:sp>
        </mc:Choice>
        <mc:Fallback xmlns="">
          <p:sp>
            <p:nvSpPr>
              <p:cNvPr id="15" name="TextBox 14">
                <a:extLst>
                  <a:ext uri="{FF2B5EF4-FFF2-40B4-BE49-F238E27FC236}">
                    <a16:creationId xmlns:a16="http://schemas.microsoft.com/office/drawing/2014/main" id="{1D515023-5DC2-4B20-90ED-9367EA5A9E1F}"/>
                  </a:ext>
                </a:extLst>
              </p:cNvPr>
              <p:cNvSpPr txBox="1">
                <a:spLocks noRot="1" noChangeAspect="1" noMove="1" noResize="1" noEditPoints="1" noAdjustHandles="1" noChangeArrowheads="1" noChangeShapeType="1" noTextEdit="1"/>
              </p:cNvSpPr>
              <p:nvPr/>
            </p:nvSpPr>
            <p:spPr>
              <a:xfrm>
                <a:off x="8142166" y="3127240"/>
                <a:ext cx="2359087" cy="369332"/>
              </a:xfrm>
              <a:prstGeom prst="rect">
                <a:avLst/>
              </a:prstGeom>
              <a:blipFill>
                <a:blip r:embed="rId5"/>
                <a:stretch>
                  <a:fillRect b="-1639"/>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4A6FC51D-85E5-4029-9059-7A7408B86F54}"/>
              </a:ext>
            </a:extLst>
          </p:cNvPr>
          <p:cNvSpPr txBox="1"/>
          <p:nvPr/>
        </p:nvSpPr>
        <p:spPr>
          <a:xfrm>
            <a:off x="6891688" y="3592732"/>
            <a:ext cx="4860044"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where, </a:t>
            </a:r>
            <a:r>
              <a:rPr lang="el-GR" b="1" i="1" dirty="0">
                <a:latin typeface="Times New Roman" panose="02020603050405020304" pitchFamily="18" charset="0"/>
                <a:ea typeface="Yu Mincho Light" panose="02020300000000000000" pitchFamily="18" charset="-128"/>
                <a:cs typeface="Times New Roman" panose="02020603050405020304" pitchFamily="18" charset="0"/>
              </a:rPr>
              <a:t>Δ</a:t>
            </a:r>
            <a:r>
              <a:rPr lang="en-US" b="1" i="1" dirty="0">
                <a:latin typeface="Times New Roman" panose="02020603050405020304" pitchFamily="18" charset="0"/>
                <a:cs typeface="Times New Roman" panose="02020603050405020304" pitchFamily="18" charset="0"/>
              </a:rPr>
              <a:t>V</a:t>
            </a:r>
            <a:r>
              <a:rPr lang="en-US" b="1"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r</a:t>
            </a:r>
            <a:r>
              <a:rPr lang="en-US" b="1" dirty="0">
                <a:latin typeface="Times New Roman" panose="02020603050405020304" pitchFamily="18" charset="0"/>
                <a:cs typeface="Times New Roman" panose="02020603050405020304" pitchFamily="18" charset="0"/>
              </a:rPr>
              <a:t>) is the periodic correction potential from all other ions in the lattice</a:t>
            </a:r>
          </a:p>
        </p:txBody>
      </p:sp>
      <p:sp>
        <p:nvSpPr>
          <p:cNvPr id="18" name="TextBox 17">
            <a:extLst>
              <a:ext uri="{FF2B5EF4-FFF2-40B4-BE49-F238E27FC236}">
                <a16:creationId xmlns:a16="http://schemas.microsoft.com/office/drawing/2014/main" id="{F2BAB030-5306-45AD-A082-075344D3DE81}"/>
              </a:ext>
            </a:extLst>
          </p:cNvPr>
          <p:cNvSpPr txBox="1"/>
          <p:nvPr/>
        </p:nvSpPr>
        <p:spPr>
          <a:xfrm>
            <a:off x="740994" y="3194050"/>
            <a:ext cx="4133449"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No interaction between orbital electrons</a:t>
            </a:r>
          </a:p>
        </p:txBody>
      </p:sp>
      <p:sp>
        <p:nvSpPr>
          <p:cNvPr id="19" name="TextBox 18">
            <a:extLst>
              <a:ext uri="{FF2B5EF4-FFF2-40B4-BE49-F238E27FC236}">
                <a16:creationId xmlns:a16="http://schemas.microsoft.com/office/drawing/2014/main" id="{B88480B5-47FE-480B-97C3-6D9D249DEA44}"/>
              </a:ext>
            </a:extLst>
          </p:cNvPr>
          <p:cNvSpPr txBox="1"/>
          <p:nvPr/>
        </p:nvSpPr>
        <p:spPr>
          <a:xfrm>
            <a:off x="7386616" y="4859763"/>
            <a:ext cx="3809235"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Interaction between orbital electrons</a:t>
            </a:r>
          </a:p>
        </p:txBody>
      </p:sp>
      <p:sp>
        <p:nvSpPr>
          <p:cNvPr id="20" name="TextBox 19">
            <a:extLst>
              <a:ext uri="{FF2B5EF4-FFF2-40B4-BE49-F238E27FC236}">
                <a16:creationId xmlns:a16="http://schemas.microsoft.com/office/drawing/2014/main" id="{A3584E6F-F6BA-4F8E-86B3-652DEAA7F0D9}"/>
              </a:ext>
            </a:extLst>
          </p:cNvPr>
          <p:cNvSpPr txBox="1"/>
          <p:nvPr/>
        </p:nvSpPr>
        <p:spPr>
          <a:xfrm>
            <a:off x="7174732" y="5779940"/>
            <a:ext cx="4233005"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Orbital electrons are not discrete and can jump between atoms</a:t>
            </a:r>
          </a:p>
        </p:txBody>
      </p:sp>
      <p:cxnSp>
        <p:nvCxnSpPr>
          <p:cNvPr id="21" name="Straight Arrow Connector 20">
            <a:extLst>
              <a:ext uri="{FF2B5EF4-FFF2-40B4-BE49-F238E27FC236}">
                <a16:creationId xmlns:a16="http://schemas.microsoft.com/office/drawing/2014/main" id="{6E2351F3-D2DF-45F1-B948-24026124092F}"/>
              </a:ext>
            </a:extLst>
          </p:cNvPr>
          <p:cNvCxnSpPr>
            <a:cxnSpLocks/>
          </p:cNvCxnSpPr>
          <p:nvPr/>
        </p:nvCxnSpPr>
        <p:spPr>
          <a:xfrm>
            <a:off x="2528468" y="2353266"/>
            <a:ext cx="0" cy="7175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2CC80DCF-26E7-412F-8707-BE3C0292BC49}"/>
              </a:ext>
            </a:extLst>
          </p:cNvPr>
          <p:cNvCxnSpPr>
            <a:cxnSpLocks/>
          </p:cNvCxnSpPr>
          <p:nvPr/>
        </p:nvCxnSpPr>
        <p:spPr>
          <a:xfrm>
            <a:off x="2528468" y="3598673"/>
            <a:ext cx="0" cy="717528"/>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3E0B8FB-C5B8-4369-9727-8F3AEFBDEB39}"/>
              </a:ext>
            </a:extLst>
          </p:cNvPr>
          <p:cNvCxnSpPr>
            <a:cxnSpLocks/>
          </p:cNvCxnSpPr>
          <p:nvPr/>
        </p:nvCxnSpPr>
        <p:spPr>
          <a:xfrm>
            <a:off x="9291234" y="2604708"/>
            <a:ext cx="0" cy="522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6687A0B3-C264-4508-91F2-F3DBEED3DEDF}"/>
              </a:ext>
            </a:extLst>
          </p:cNvPr>
          <p:cNvCxnSpPr>
            <a:cxnSpLocks/>
          </p:cNvCxnSpPr>
          <p:nvPr/>
        </p:nvCxnSpPr>
        <p:spPr>
          <a:xfrm>
            <a:off x="9291234" y="4306070"/>
            <a:ext cx="0" cy="522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4D44E11A-7B82-4C02-A947-C07418645616}"/>
              </a:ext>
            </a:extLst>
          </p:cNvPr>
          <p:cNvCxnSpPr>
            <a:cxnSpLocks/>
          </p:cNvCxnSpPr>
          <p:nvPr/>
        </p:nvCxnSpPr>
        <p:spPr>
          <a:xfrm>
            <a:off x="9291233" y="5251645"/>
            <a:ext cx="0" cy="52253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0FD4EA78-A51B-435D-A516-F0C566157E89}"/>
              </a:ext>
            </a:extLst>
          </p:cNvPr>
          <p:cNvSpPr/>
          <p:nvPr/>
        </p:nvSpPr>
        <p:spPr>
          <a:xfrm>
            <a:off x="559837" y="1879504"/>
            <a:ext cx="4366944" cy="2841784"/>
          </a:xfrm>
          <a:prstGeom prst="rect">
            <a:avLst/>
          </a:prstGeom>
          <a:noFill/>
          <a:ln w="254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A9DCE46F-8A2A-4123-BE8D-D4F3320251C1}"/>
              </a:ext>
            </a:extLst>
          </p:cNvPr>
          <p:cNvSpPr/>
          <p:nvPr/>
        </p:nvSpPr>
        <p:spPr>
          <a:xfrm>
            <a:off x="6889753" y="1876669"/>
            <a:ext cx="4861979" cy="4551293"/>
          </a:xfrm>
          <a:prstGeom prst="rect">
            <a:avLst/>
          </a:prstGeom>
          <a:noFill/>
          <a:ln w="254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8" name="Straight Arrow Connector 27">
            <a:extLst>
              <a:ext uri="{FF2B5EF4-FFF2-40B4-BE49-F238E27FC236}">
                <a16:creationId xmlns:a16="http://schemas.microsoft.com/office/drawing/2014/main" id="{7B2A2B9E-D446-474C-BDAD-7E56226B9A24}"/>
              </a:ext>
            </a:extLst>
          </p:cNvPr>
          <p:cNvCxnSpPr>
            <a:cxnSpLocks/>
          </p:cNvCxnSpPr>
          <p:nvPr/>
        </p:nvCxnSpPr>
        <p:spPr>
          <a:xfrm flipH="1">
            <a:off x="4320073" y="1317306"/>
            <a:ext cx="1518522" cy="506217"/>
          </a:xfrm>
          <a:prstGeom prst="straightConnector1">
            <a:avLst/>
          </a:prstGeom>
          <a:ln w="254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F812A624-BAEE-486E-9674-C6216D1439B8}"/>
              </a:ext>
            </a:extLst>
          </p:cNvPr>
          <p:cNvCxnSpPr>
            <a:cxnSpLocks/>
          </p:cNvCxnSpPr>
          <p:nvPr/>
        </p:nvCxnSpPr>
        <p:spPr>
          <a:xfrm>
            <a:off x="7249451" y="1359975"/>
            <a:ext cx="345667" cy="461857"/>
          </a:xfrm>
          <a:prstGeom prst="straightConnector1">
            <a:avLst/>
          </a:prstGeom>
          <a:ln w="254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73783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19" name="Slide Number Placeholder 18">
            <a:extLst>
              <a:ext uri="{FF2B5EF4-FFF2-40B4-BE49-F238E27FC236}">
                <a16:creationId xmlns:a16="http://schemas.microsoft.com/office/drawing/2014/main" id="{59853340-B29D-4E0D-9366-BA708209F5EE}"/>
              </a:ext>
            </a:extLst>
          </p:cNvPr>
          <p:cNvSpPr>
            <a:spLocks noGrp="1"/>
          </p:cNvSpPr>
          <p:nvPr>
            <p:ph type="sldNum" sz="quarter" idx="12"/>
          </p:nvPr>
        </p:nvSpPr>
        <p:spPr>
          <a:xfrm>
            <a:off x="11895666" y="6643166"/>
            <a:ext cx="292957"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5</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40E19DD4-FB45-4D5C-A022-9ECEE5C04FF6}"/>
              </a:ext>
            </a:extLst>
          </p:cNvPr>
          <p:cNvSpPr txBox="1"/>
          <p:nvPr/>
        </p:nvSpPr>
        <p:spPr>
          <a:xfrm>
            <a:off x="4031721" y="1157100"/>
            <a:ext cx="4088709"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Electrons jump between different atoms</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B8A798BB-C3C2-4D46-BFA1-89B47FBE69F4}"/>
              </a:ext>
            </a:extLst>
          </p:cNvPr>
          <p:cNvSpPr txBox="1"/>
          <p:nvPr/>
        </p:nvSpPr>
        <p:spPr>
          <a:xfrm>
            <a:off x="1953462" y="10671"/>
            <a:ext cx="87714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 The Core Philosophy of Tight-Binding Method (TBM)</a:t>
            </a:r>
          </a:p>
        </p:txBody>
      </p:sp>
      <p:grpSp>
        <p:nvGrpSpPr>
          <p:cNvPr id="6" name="Group 5">
            <a:extLst>
              <a:ext uri="{FF2B5EF4-FFF2-40B4-BE49-F238E27FC236}">
                <a16:creationId xmlns:a16="http://schemas.microsoft.com/office/drawing/2014/main" id="{737F277C-CCCB-4995-900F-EEC588ADF710}"/>
              </a:ext>
            </a:extLst>
          </p:cNvPr>
          <p:cNvGrpSpPr/>
          <p:nvPr/>
        </p:nvGrpSpPr>
        <p:grpSpPr>
          <a:xfrm>
            <a:off x="286758" y="2382428"/>
            <a:ext cx="4456088" cy="1985064"/>
            <a:chOff x="286758" y="2251802"/>
            <a:chExt cx="4456088" cy="1985064"/>
          </a:xfrm>
        </p:grpSpPr>
        <p:grpSp>
          <p:nvGrpSpPr>
            <p:cNvPr id="28" name="Group 27">
              <a:extLst>
                <a:ext uri="{FF2B5EF4-FFF2-40B4-BE49-F238E27FC236}">
                  <a16:creationId xmlns:a16="http://schemas.microsoft.com/office/drawing/2014/main" id="{68777698-19D6-4172-9CA4-53E6338C07AD}"/>
                </a:ext>
              </a:extLst>
            </p:cNvPr>
            <p:cNvGrpSpPr/>
            <p:nvPr/>
          </p:nvGrpSpPr>
          <p:grpSpPr>
            <a:xfrm>
              <a:off x="286758" y="2347761"/>
              <a:ext cx="4456088" cy="1889105"/>
              <a:chOff x="4786780" y="1648072"/>
              <a:chExt cx="4456088" cy="1889105"/>
            </a:xfrm>
          </p:grpSpPr>
          <p:sp>
            <p:nvSpPr>
              <p:cNvPr id="29" name="Oval 28">
                <a:extLst>
                  <a:ext uri="{FF2B5EF4-FFF2-40B4-BE49-F238E27FC236}">
                    <a16:creationId xmlns:a16="http://schemas.microsoft.com/office/drawing/2014/main" id="{DC526606-ABF1-4DE3-B684-30E23FA6F28F}"/>
                  </a:ext>
                </a:extLst>
              </p:cNvPr>
              <p:cNvSpPr/>
              <p:nvPr/>
            </p:nvSpPr>
            <p:spPr>
              <a:xfrm>
                <a:off x="5789465"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Shape 29">
                <a:extLst>
                  <a:ext uri="{FF2B5EF4-FFF2-40B4-BE49-F238E27FC236}">
                    <a16:creationId xmlns:a16="http://schemas.microsoft.com/office/drawing/2014/main" id="{5EE13CC3-F58A-4E4F-8691-5935AADA904B}"/>
                  </a:ext>
                </a:extLst>
              </p:cNvPr>
              <p:cNvSpPr/>
              <p:nvPr/>
            </p:nvSpPr>
            <p:spPr>
              <a:xfrm>
                <a:off x="5164035" y="1950098"/>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838DA1CA-C33C-4798-9393-1B35131FCD8D}"/>
                  </a:ext>
                </a:extLst>
              </p:cNvPr>
              <p:cNvSpPr/>
              <p:nvPr/>
            </p:nvSpPr>
            <p:spPr>
              <a:xfrm>
                <a:off x="6950517" y="1950098"/>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Freeform: Shape 31">
                <a:extLst>
                  <a:ext uri="{FF2B5EF4-FFF2-40B4-BE49-F238E27FC236}">
                    <a16:creationId xmlns:a16="http://schemas.microsoft.com/office/drawing/2014/main" id="{5CF35315-0006-4F31-BB9A-90E751293E9E}"/>
                  </a:ext>
                </a:extLst>
              </p:cNvPr>
              <p:cNvSpPr/>
              <p:nvPr/>
            </p:nvSpPr>
            <p:spPr>
              <a:xfrm>
                <a:off x="6325087" y="1978751"/>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B90FED03-E441-417A-B7D2-DB4B85F8986E}"/>
                  </a:ext>
                </a:extLst>
              </p:cNvPr>
              <p:cNvSpPr/>
              <p:nvPr/>
            </p:nvSpPr>
            <p:spPr>
              <a:xfrm>
                <a:off x="8098988"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Freeform: Shape 33">
                <a:extLst>
                  <a:ext uri="{FF2B5EF4-FFF2-40B4-BE49-F238E27FC236}">
                    <a16:creationId xmlns:a16="http://schemas.microsoft.com/office/drawing/2014/main" id="{DBD063F3-6922-423D-953E-CBE53C1F04EF}"/>
                  </a:ext>
                </a:extLst>
              </p:cNvPr>
              <p:cNvSpPr/>
              <p:nvPr/>
            </p:nvSpPr>
            <p:spPr>
              <a:xfrm>
                <a:off x="7473558" y="1950098"/>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CB88D357-4672-4E8F-BB17-82179B6D22BE}"/>
                  </a:ext>
                </a:extLst>
              </p:cNvPr>
              <p:cNvSpPr/>
              <p:nvPr/>
            </p:nvSpPr>
            <p:spPr>
              <a:xfrm>
                <a:off x="5154559" y="25328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1CAD6345-9F20-4A73-A6CC-A290C08E4D3A}"/>
                  </a:ext>
                </a:extLst>
              </p:cNvPr>
              <p:cNvSpPr/>
              <p:nvPr/>
            </p:nvSpPr>
            <p:spPr>
              <a:xfrm>
                <a:off x="4952134" y="25299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49350315-ECA6-493C-8133-0E0E37A12DB7}"/>
                  </a:ext>
                </a:extLst>
              </p:cNvPr>
              <p:cNvSpPr/>
              <p:nvPr/>
            </p:nvSpPr>
            <p:spPr>
              <a:xfrm>
                <a:off x="4786780" y="252994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EF24CBD-50F4-44C1-8448-429114772525}"/>
                  </a:ext>
                </a:extLst>
              </p:cNvPr>
              <p:cNvSpPr/>
              <p:nvPr/>
            </p:nvSpPr>
            <p:spPr>
              <a:xfrm>
                <a:off x="9197149" y="252994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Oval 38">
                <a:extLst>
                  <a:ext uri="{FF2B5EF4-FFF2-40B4-BE49-F238E27FC236}">
                    <a16:creationId xmlns:a16="http://schemas.microsoft.com/office/drawing/2014/main" id="{2F2317F0-D055-4689-A5DC-2670B59C54A3}"/>
                  </a:ext>
                </a:extLst>
              </p:cNvPr>
              <p:cNvSpPr/>
              <p:nvPr/>
            </p:nvSpPr>
            <p:spPr>
              <a:xfrm>
                <a:off x="9014056" y="253305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10C8A626-1D86-4D99-B671-5BBACB6C3CB7}"/>
                  </a:ext>
                </a:extLst>
              </p:cNvPr>
              <p:cNvSpPr/>
              <p:nvPr/>
            </p:nvSpPr>
            <p:spPr>
              <a:xfrm>
                <a:off x="8848702" y="253305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2AB96923-F40E-429A-8C89-8D81445A7465}"/>
                  </a:ext>
                </a:extLst>
              </p:cNvPr>
              <p:cNvSpPr/>
              <p:nvPr/>
            </p:nvSpPr>
            <p:spPr>
              <a:xfrm>
                <a:off x="6104235" y="164807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25405715-CF4D-4A6F-AF45-A9702B7EBC28}"/>
                  </a:ext>
                </a:extLst>
              </p:cNvPr>
              <p:cNvSpPr/>
              <p:nvPr/>
            </p:nvSpPr>
            <p:spPr>
              <a:xfrm>
                <a:off x="7950234" y="1704320"/>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C6C153AE-74E8-4F3C-8B8F-AB3A27FA7390}"/>
                  </a:ext>
                </a:extLst>
              </p:cNvPr>
              <p:cNvSpPr/>
              <p:nvPr/>
            </p:nvSpPr>
            <p:spPr>
              <a:xfrm>
                <a:off x="6835096" y="166820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Freeform: Shape 2">
              <a:extLst>
                <a:ext uri="{FF2B5EF4-FFF2-40B4-BE49-F238E27FC236}">
                  <a16:creationId xmlns:a16="http://schemas.microsoft.com/office/drawing/2014/main" id="{3687A43C-17F8-4D74-BB0C-B158F70059B3}"/>
                </a:ext>
              </a:extLst>
            </p:cNvPr>
            <p:cNvSpPr/>
            <p:nvPr/>
          </p:nvSpPr>
          <p:spPr>
            <a:xfrm>
              <a:off x="1554477" y="2269789"/>
              <a:ext cx="961769" cy="298268"/>
            </a:xfrm>
            <a:custGeom>
              <a:avLst/>
              <a:gdLst>
                <a:gd name="connsiteX0" fmla="*/ 0 w 541175"/>
                <a:gd name="connsiteY0" fmla="*/ 288937 h 298268"/>
                <a:gd name="connsiteX1" fmla="*/ 149290 w 541175"/>
                <a:gd name="connsiteY1" fmla="*/ 55672 h 298268"/>
                <a:gd name="connsiteX2" fmla="*/ 363894 w 541175"/>
                <a:gd name="connsiteY2" fmla="*/ 18349 h 298268"/>
                <a:gd name="connsiteX3" fmla="*/ 541175 w 541175"/>
                <a:gd name="connsiteY3" fmla="*/ 298268 h 298268"/>
              </a:gdLst>
              <a:ahLst/>
              <a:cxnLst>
                <a:cxn ang="0">
                  <a:pos x="connsiteX0" y="connsiteY0"/>
                </a:cxn>
                <a:cxn ang="0">
                  <a:pos x="connsiteX1" y="connsiteY1"/>
                </a:cxn>
                <a:cxn ang="0">
                  <a:pos x="connsiteX2" y="connsiteY2"/>
                </a:cxn>
                <a:cxn ang="0">
                  <a:pos x="connsiteX3" y="connsiteY3"/>
                </a:cxn>
              </a:cxnLst>
              <a:rect l="l" t="t" r="r" b="b"/>
              <a:pathLst>
                <a:path w="541175" h="298268">
                  <a:moveTo>
                    <a:pt x="0" y="288937"/>
                  </a:moveTo>
                  <a:cubicBezTo>
                    <a:pt x="44320" y="194853"/>
                    <a:pt x="88641" y="100770"/>
                    <a:pt x="149290" y="55672"/>
                  </a:cubicBezTo>
                  <a:cubicBezTo>
                    <a:pt x="209939" y="10574"/>
                    <a:pt x="298580" y="-22084"/>
                    <a:pt x="363894" y="18349"/>
                  </a:cubicBezTo>
                  <a:cubicBezTo>
                    <a:pt x="429208" y="58782"/>
                    <a:pt x="485191" y="178525"/>
                    <a:pt x="541175" y="298268"/>
                  </a:cubicBezTo>
                </a:path>
              </a:pathLst>
            </a:custGeom>
            <a:noFill/>
            <a:ln w="254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Freeform: Shape 48">
              <a:extLst>
                <a:ext uri="{FF2B5EF4-FFF2-40B4-BE49-F238E27FC236}">
                  <a16:creationId xmlns:a16="http://schemas.microsoft.com/office/drawing/2014/main" id="{6929E44D-4C6C-4343-B314-64BC84BAA4FC}"/>
                </a:ext>
              </a:extLst>
            </p:cNvPr>
            <p:cNvSpPr/>
            <p:nvPr/>
          </p:nvSpPr>
          <p:spPr>
            <a:xfrm>
              <a:off x="2806455" y="2251802"/>
              <a:ext cx="792511" cy="369332"/>
            </a:xfrm>
            <a:custGeom>
              <a:avLst/>
              <a:gdLst>
                <a:gd name="connsiteX0" fmla="*/ 0 w 541175"/>
                <a:gd name="connsiteY0" fmla="*/ 288937 h 298268"/>
                <a:gd name="connsiteX1" fmla="*/ 149290 w 541175"/>
                <a:gd name="connsiteY1" fmla="*/ 55672 h 298268"/>
                <a:gd name="connsiteX2" fmla="*/ 363894 w 541175"/>
                <a:gd name="connsiteY2" fmla="*/ 18349 h 298268"/>
                <a:gd name="connsiteX3" fmla="*/ 541175 w 541175"/>
                <a:gd name="connsiteY3" fmla="*/ 298268 h 298268"/>
              </a:gdLst>
              <a:ahLst/>
              <a:cxnLst>
                <a:cxn ang="0">
                  <a:pos x="connsiteX0" y="connsiteY0"/>
                </a:cxn>
                <a:cxn ang="0">
                  <a:pos x="connsiteX1" y="connsiteY1"/>
                </a:cxn>
                <a:cxn ang="0">
                  <a:pos x="connsiteX2" y="connsiteY2"/>
                </a:cxn>
                <a:cxn ang="0">
                  <a:pos x="connsiteX3" y="connsiteY3"/>
                </a:cxn>
              </a:cxnLst>
              <a:rect l="l" t="t" r="r" b="b"/>
              <a:pathLst>
                <a:path w="541175" h="298268">
                  <a:moveTo>
                    <a:pt x="0" y="288937"/>
                  </a:moveTo>
                  <a:cubicBezTo>
                    <a:pt x="44320" y="194853"/>
                    <a:pt x="88641" y="100770"/>
                    <a:pt x="149290" y="55672"/>
                  </a:cubicBezTo>
                  <a:cubicBezTo>
                    <a:pt x="209939" y="10574"/>
                    <a:pt x="298580" y="-22084"/>
                    <a:pt x="363894" y="18349"/>
                  </a:cubicBezTo>
                  <a:cubicBezTo>
                    <a:pt x="429208" y="58782"/>
                    <a:pt x="485191" y="178525"/>
                    <a:pt x="541175" y="298268"/>
                  </a:cubicBezTo>
                </a:path>
              </a:pathLst>
            </a:custGeom>
            <a:noFill/>
            <a:ln w="254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0" name="Group 9">
            <a:extLst>
              <a:ext uri="{FF2B5EF4-FFF2-40B4-BE49-F238E27FC236}">
                <a16:creationId xmlns:a16="http://schemas.microsoft.com/office/drawing/2014/main" id="{4A8EF341-8D56-4FBA-8BEE-6C901BE36E13}"/>
              </a:ext>
            </a:extLst>
          </p:cNvPr>
          <p:cNvGrpSpPr/>
          <p:nvPr/>
        </p:nvGrpSpPr>
        <p:grpSpPr>
          <a:xfrm>
            <a:off x="6428924" y="1980752"/>
            <a:ext cx="5462393" cy="2701627"/>
            <a:chOff x="6428924" y="1850126"/>
            <a:chExt cx="5462393" cy="2701627"/>
          </a:xfrm>
        </p:grpSpPr>
        <p:sp>
          <p:nvSpPr>
            <p:cNvPr id="50" name="Freeform: Shape 49">
              <a:extLst>
                <a:ext uri="{FF2B5EF4-FFF2-40B4-BE49-F238E27FC236}">
                  <a16:creationId xmlns:a16="http://schemas.microsoft.com/office/drawing/2014/main" id="{392E561D-2F6F-43DF-807C-FD6E8A257641}"/>
                </a:ext>
              </a:extLst>
            </p:cNvPr>
            <p:cNvSpPr/>
            <p:nvPr/>
          </p:nvSpPr>
          <p:spPr>
            <a:xfrm>
              <a:off x="7982658" y="1850126"/>
              <a:ext cx="2314319" cy="701648"/>
            </a:xfrm>
            <a:custGeom>
              <a:avLst/>
              <a:gdLst>
                <a:gd name="connsiteX0" fmla="*/ 0 w 541175"/>
                <a:gd name="connsiteY0" fmla="*/ 288937 h 298268"/>
                <a:gd name="connsiteX1" fmla="*/ 149290 w 541175"/>
                <a:gd name="connsiteY1" fmla="*/ 55672 h 298268"/>
                <a:gd name="connsiteX2" fmla="*/ 363894 w 541175"/>
                <a:gd name="connsiteY2" fmla="*/ 18349 h 298268"/>
                <a:gd name="connsiteX3" fmla="*/ 541175 w 541175"/>
                <a:gd name="connsiteY3" fmla="*/ 298268 h 298268"/>
              </a:gdLst>
              <a:ahLst/>
              <a:cxnLst>
                <a:cxn ang="0">
                  <a:pos x="connsiteX0" y="connsiteY0"/>
                </a:cxn>
                <a:cxn ang="0">
                  <a:pos x="connsiteX1" y="connsiteY1"/>
                </a:cxn>
                <a:cxn ang="0">
                  <a:pos x="connsiteX2" y="connsiteY2"/>
                </a:cxn>
                <a:cxn ang="0">
                  <a:pos x="connsiteX3" y="connsiteY3"/>
                </a:cxn>
              </a:cxnLst>
              <a:rect l="l" t="t" r="r" b="b"/>
              <a:pathLst>
                <a:path w="541175" h="298268">
                  <a:moveTo>
                    <a:pt x="0" y="288937"/>
                  </a:moveTo>
                  <a:cubicBezTo>
                    <a:pt x="44320" y="194853"/>
                    <a:pt x="88641" y="100770"/>
                    <a:pt x="149290" y="55672"/>
                  </a:cubicBezTo>
                  <a:cubicBezTo>
                    <a:pt x="209939" y="10574"/>
                    <a:pt x="298580" y="-22084"/>
                    <a:pt x="363894" y="18349"/>
                  </a:cubicBezTo>
                  <a:cubicBezTo>
                    <a:pt x="429208" y="58782"/>
                    <a:pt x="485191" y="178525"/>
                    <a:pt x="541175" y="298268"/>
                  </a:cubicBezTo>
                </a:path>
              </a:pathLst>
            </a:custGeom>
            <a:noFill/>
            <a:ln w="254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6" name="Group 55">
              <a:extLst>
                <a:ext uri="{FF2B5EF4-FFF2-40B4-BE49-F238E27FC236}">
                  <a16:creationId xmlns:a16="http://schemas.microsoft.com/office/drawing/2014/main" id="{A148DB11-B4EE-4526-8B16-445712A36C5A}"/>
                </a:ext>
              </a:extLst>
            </p:cNvPr>
            <p:cNvGrpSpPr/>
            <p:nvPr/>
          </p:nvGrpSpPr>
          <p:grpSpPr>
            <a:xfrm>
              <a:off x="6813734" y="2184202"/>
              <a:ext cx="5077583" cy="2363708"/>
              <a:chOff x="4786780" y="1513166"/>
              <a:chExt cx="5077583" cy="2363708"/>
            </a:xfrm>
          </p:grpSpPr>
          <p:sp>
            <p:nvSpPr>
              <p:cNvPr id="59" name="Oval 58">
                <a:extLst>
                  <a:ext uri="{FF2B5EF4-FFF2-40B4-BE49-F238E27FC236}">
                    <a16:creationId xmlns:a16="http://schemas.microsoft.com/office/drawing/2014/main" id="{84178A62-5A9D-4488-B51A-110499509B4D}"/>
                  </a:ext>
                </a:extLst>
              </p:cNvPr>
              <p:cNvSpPr/>
              <p:nvPr/>
            </p:nvSpPr>
            <p:spPr>
              <a:xfrm>
                <a:off x="5789465"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BB8AD251-D177-4C6B-A634-268231ADD882}"/>
                  </a:ext>
                </a:extLst>
              </p:cNvPr>
              <p:cNvSpPr/>
              <p:nvPr/>
            </p:nvSpPr>
            <p:spPr>
              <a:xfrm>
                <a:off x="6950517" y="1950098"/>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6" name="Oval 75">
                <a:extLst>
                  <a:ext uri="{FF2B5EF4-FFF2-40B4-BE49-F238E27FC236}">
                    <a16:creationId xmlns:a16="http://schemas.microsoft.com/office/drawing/2014/main" id="{0A006B71-FF9D-4F32-8123-CEEF2E01651E}"/>
                  </a:ext>
                </a:extLst>
              </p:cNvPr>
              <p:cNvSpPr/>
              <p:nvPr/>
            </p:nvSpPr>
            <p:spPr>
              <a:xfrm>
                <a:off x="8098988"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7" name="Freeform: Shape 76">
                <a:extLst>
                  <a:ext uri="{FF2B5EF4-FFF2-40B4-BE49-F238E27FC236}">
                    <a16:creationId xmlns:a16="http://schemas.microsoft.com/office/drawing/2014/main" id="{2A624845-9FBC-405D-B2FB-44C6DF615DE3}"/>
                  </a:ext>
                </a:extLst>
              </p:cNvPr>
              <p:cNvSpPr/>
              <p:nvPr/>
            </p:nvSpPr>
            <p:spPr>
              <a:xfrm>
                <a:off x="6890548" y="1543247"/>
                <a:ext cx="2973815" cy="2333627"/>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Oval 77">
                <a:extLst>
                  <a:ext uri="{FF2B5EF4-FFF2-40B4-BE49-F238E27FC236}">
                    <a16:creationId xmlns:a16="http://schemas.microsoft.com/office/drawing/2014/main" id="{9761F8A9-9D12-4E37-89F4-19EC7336D7A4}"/>
                  </a:ext>
                </a:extLst>
              </p:cNvPr>
              <p:cNvSpPr/>
              <p:nvPr/>
            </p:nvSpPr>
            <p:spPr>
              <a:xfrm>
                <a:off x="5154559" y="25328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Oval 78">
                <a:extLst>
                  <a:ext uri="{FF2B5EF4-FFF2-40B4-BE49-F238E27FC236}">
                    <a16:creationId xmlns:a16="http://schemas.microsoft.com/office/drawing/2014/main" id="{48762EE8-1D89-4E3F-82D0-381BF5E32D9A}"/>
                  </a:ext>
                </a:extLst>
              </p:cNvPr>
              <p:cNvSpPr/>
              <p:nvPr/>
            </p:nvSpPr>
            <p:spPr>
              <a:xfrm>
                <a:off x="4952134" y="25299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BF1E04B1-C78E-4F53-BD9F-832B598217BC}"/>
                  </a:ext>
                </a:extLst>
              </p:cNvPr>
              <p:cNvSpPr/>
              <p:nvPr/>
            </p:nvSpPr>
            <p:spPr>
              <a:xfrm>
                <a:off x="4786780" y="252994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Oval 80">
                <a:extLst>
                  <a:ext uri="{FF2B5EF4-FFF2-40B4-BE49-F238E27FC236}">
                    <a16:creationId xmlns:a16="http://schemas.microsoft.com/office/drawing/2014/main" id="{B91738D2-2C00-4899-8824-FAEBFA1D84A3}"/>
                  </a:ext>
                </a:extLst>
              </p:cNvPr>
              <p:cNvSpPr/>
              <p:nvPr/>
            </p:nvSpPr>
            <p:spPr>
              <a:xfrm>
                <a:off x="9197149" y="252994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5200321C-4EFD-4BA7-B055-F699D6C6D12D}"/>
                  </a:ext>
                </a:extLst>
              </p:cNvPr>
              <p:cNvSpPr/>
              <p:nvPr/>
            </p:nvSpPr>
            <p:spPr>
              <a:xfrm>
                <a:off x="9014056" y="253305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3" name="Oval 82">
                <a:extLst>
                  <a:ext uri="{FF2B5EF4-FFF2-40B4-BE49-F238E27FC236}">
                    <a16:creationId xmlns:a16="http://schemas.microsoft.com/office/drawing/2014/main" id="{8E14CAD8-C234-4203-A92B-BA34F64F55F7}"/>
                  </a:ext>
                </a:extLst>
              </p:cNvPr>
              <p:cNvSpPr/>
              <p:nvPr/>
            </p:nvSpPr>
            <p:spPr>
              <a:xfrm>
                <a:off x="8848702" y="253305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Oval 83">
                <a:extLst>
                  <a:ext uri="{FF2B5EF4-FFF2-40B4-BE49-F238E27FC236}">
                    <a16:creationId xmlns:a16="http://schemas.microsoft.com/office/drawing/2014/main" id="{DFCDD347-12E9-4CE4-9A88-6E66CACD2D38}"/>
                  </a:ext>
                </a:extLst>
              </p:cNvPr>
              <p:cNvSpPr/>
              <p:nvPr/>
            </p:nvSpPr>
            <p:spPr>
              <a:xfrm>
                <a:off x="6150930" y="151316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781E4523-6E78-40FD-B2C1-2D5D3B50FE97}"/>
                  </a:ext>
                </a:extLst>
              </p:cNvPr>
              <p:cNvSpPr/>
              <p:nvPr/>
            </p:nvSpPr>
            <p:spPr>
              <a:xfrm>
                <a:off x="7960111" y="1529914"/>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6" name="Oval 85">
                <a:extLst>
                  <a:ext uri="{FF2B5EF4-FFF2-40B4-BE49-F238E27FC236}">
                    <a16:creationId xmlns:a16="http://schemas.microsoft.com/office/drawing/2014/main" id="{8432EED1-7134-4FF5-9F97-D1ECC9BAC863}"/>
                  </a:ext>
                </a:extLst>
              </p:cNvPr>
              <p:cNvSpPr/>
              <p:nvPr/>
            </p:nvSpPr>
            <p:spPr>
              <a:xfrm>
                <a:off x="7423251" y="160114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7" name="Freeform: Shape 86">
              <a:extLst>
                <a:ext uri="{FF2B5EF4-FFF2-40B4-BE49-F238E27FC236}">
                  <a16:creationId xmlns:a16="http://schemas.microsoft.com/office/drawing/2014/main" id="{166B1F5C-4D42-4388-AA3A-9478E858D68A}"/>
                </a:ext>
              </a:extLst>
            </p:cNvPr>
            <p:cNvSpPr/>
            <p:nvPr/>
          </p:nvSpPr>
          <p:spPr>
            <a:xfrm>
              <a:off x="7716021" y="2218126"/>
              <a:ext cx="2973815" cy="2333627"/>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8" name="Freeform: Shape 87">
              <a:extLst>
                <a:ext uri="{FF2B5EF4-FFF2-40B4-BE49-F238E27FC236}">
                  <a16:creationId xmlns:a16="http://schemas.microsoft.com/office/drawing/2014/main" id="{2ECF2575-996B-4B32-BA32-F683918F607C}"/>
                </a:ext>
              </a:extLst>
            </p:cNvPr>
            <p:cNvSpPr/>
            <p:nvPr/>
          </p:nvSpPr>
          <p:spPr>
            <a:xfrm>
              <a:off x="6428924" y="2136711"/>
              <a:ext cx="3383013" cy="2415042"/>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89" name="TextBox 88">
            <a:extLst>
              <a:ext uri="{FF2B5EF4-FFF2-40B4-BE49-F238E27FC236}">
                <a16:creationId xmlns:a16="http://schemas.microsoft.com/office/drawing/2014/main" id="{2C6B69A2-47C4-4D21-A354-1D72ECDF6A87}"/>
              </a:ext>
            </a:extLst>
          </p:cNvPr>
          <p:cNvSpPr txBox="1"/>
          <p:nvPr/>
        </p:nvSpPr>
        <p:spPr>
          <a:xfrm>
            <a:off x="796246" y="4981811"/>
            <a:ext cx="3613243"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hop between first </a:t>
            </a:r>
            <a:r>
              <a:rPr lang="en-US" b="1" dirty="0" err="1">
                <a:latin typeface="Times New Roman" panose="02020603050405020304" pitchFamily="18" charset="0"/>
                <a:cs typeface="Times New Roman" panose="02020603050405020304" pitchFamily="18" charset="0"/>
              </a:rPr>
              <a:t>neighbour</a:t>
            </a:r>
            <a:r>
              <a:rPr lang="en-US" b="1" dirty="0">
                <a:latin typeface="Times New Roman" panose="02020603050405020304" pitchFamily="18" charset="0"/>
                <a:cs typeface="Times New Roman" panose="02020603050405020304" pitchFamily="18" charset="0"/>
              </a:rPr>
              <a:t> atoms</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90" name="TextBox 89">
            <a:extLst>
              <a:ext uri="{FF2B5EF4-FFF2-40B4-BE49-F238E27FC236}">
                <a16:creationId xmlns:a16="http://schemas.microsoft.com/office/drawing/2014/main" id="{5A2DB693-AB62-4518-91CD-C4882A768220}"/>
              </a:ext>
            </a:extLst>
          </p:cNvPr>
          <p:cNvSpPr txBox="1"/>
          <p:nvPr/>
        </p:nvSpPr>
        <p:spPr>
          <a:xfrm>
            <a:off x="7193695" y="4981811"/>
            <a:ext cx="3844422"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hop between second </a:t>
            </a:r>
            <a:r>
              <a:rPr lang="en-US" b="1" dirty="0" err="1">
                <a:latin typeface="Times New Roman" panose="02020603050405020304" pitchFamily="18" charset="0"/>
                <a:cs typeface="Times New Roman" panose="02020603050405020304" pitchFamily="18" charset="0"/>
              </a:rPr>
              <a:t>neighbour</a:t>
            </a:r>
            <a:r>
              <a:rPr lang="en-US" b="1" dirty="0">
                <a:latin typeface="Times New Roman" panose="02020603050405020304" pitchFamily="18" charset="0"/>
                <a:cs typeface="Times New Roman" panose="02020603050405020304" pitchFamily="18" charset="0"/>
              </a:rPr>
              <a:t> atoms</a:t>
            </a:r>
            <a:endParaRPr lang="en-US" b="1" dirty="0">
              <a:solidFill>
                <a:srgbClr val="FF0000"/>
              </a:solidFill>
              <a:effectLst/>
              <a:latin typeface="Times New Roman" panose="02020603050405020304" pitchFamily="18" charset="0"/>
              <a:cs typeface="Times New Roman" panose="02020603050405020304" pitchFamily="18" charset="0"/>
            </a:endParaRPr>
          </a:p>
        </p:txBody>
      </p:sp>
      <p:sp>
        <p:nvSpPr>
          <p:cNvPr id="91" name="Freeform: Shape 90">
            <a:extLst>
              <a:ext uri="{FF2B5EF4-FFF2-40B4-BE49-F238E27FC236}">
                <a16:creationId xmlns:a16="http://schemas.microsoft.com/office/drawing/2014/main" id="{F372ACAA-1238-4449-8D51-F5C31FC123D8}"/>
              </a:ext>
            </a:extLst>
          </p:cNvPr>
          <p:cNvSpPr/>
          <p:nvPr/>
        </p:nvSpPr>
        <p:spPr>
          <a:xfrm>
            <a:off x="9283055" y="2049222"/>
            <a:ext cx="2314319" cy="701648"/>
          </a:xfrm>
          <a:custGeom>
            <a:avLst/>
            <a:gdLst>
              <a:gd name="connsiteX0" fmla="*/ 0 w 541175"/>
              <a:gd name="connsiteY0" fmla="*/ 288937 h 298268"/>
              <a:gd name="connsiteX1" fmla="*/ 149290 w 541175"/>
              <a:gd name="connsiteY1" fmla="*/ 55672 h 298268"/>
              <a:gd name="connsiteX2" fmla="*/ 363894 w 541175"/>
              <a:gd name="connsiteY2" fmla="*/ 18349 h 298268"/>
              <a:gd name="connsiteX3" fmla="*/ 541175 w 541175"/>
              <a:gd name="connsiteY3" fmla="*/ 298268 h 298268"/>
            </a:gdLst>
            <a:ahLst/>
            <a:cxnLst>
              <a:cxn ang="0">
                <a:pos x="connsiteX0" y="connsiteY0"/>
              </a:cxn>
              <a:cxn ang="0">
                <a:pos x="connsiteX1" y="connsiteY1"/>
              </a:cxn>
              <a:cxn ang="0">
                <a:pos x="connsiteX2" y="connsiteY2"/>
              </a:cxn>
              <a:cxn ang="0">
                <a:pos x="connsiteX3" y="connsiteY3"/>
              </a:cxn>
            </a:cxnLst>
            <a:rect l="l" t="t" r="r" b="b"/>
            <a:pathLst>
              <a:path w="541175" h="298268">
                <a:moveTo>
                  <a:pt x="0" y="288937"/>
                </a:moveTo>
                <a:cubicBezTo>
                  <a:pt x="44320" y="194853"/>
                  <a:pt x="88641" y="100770"/>
                  <a:pt x="149290" y="55672"/>
                </a:cubicBezTo>
                <a:cubicBezTo>
                  <a:pt x="209939" y="10574"/>
                  <a:pt x="298580" y="-22084"/>
                  <a:pt x="363894" y="18349"/>
                </a:cubicBezTo>
                <a:cubicBezTo>
                  <a:pt x="429208" y="58782"/>
                  <a:pt x="485191" y="178525"/>
                  <a:pt x="541175" y="298268"/>
                </a:cubicBezTo>
              </a:path>
            </a:pathLst>
          </a:custGeom>
          <a:noFill/>
          <a:ln w="254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8016787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 name="Slide Number Placeholder 1">
            <a:extLst>
              <a:ext uri="{FF2B5EF4-FFF2-40B4-BE49-F238E27FC236}">
                <a16:creationId xmlns:a16="http://schemas.microsoft.com/office/drawing/2014/main" id="{62595578-6B19-464A-8AA7-6F68494FF4BC}"/>
              </a:ext>
            </a:extLst>
          </p:cNvPr>
          <p:cNvSpPr>
            <a:spLocks noGrp="1"/>
          </p:cNvSpPr>
          <p:nvPr>
            <p:ph type="sldNum" sz="quarter" idx="12"/>
          </p:nvPr>
        </p:nvSpPr>
        <p:spPr>
          <a:xfrm>
            <a:off x="11844866" y="6643166"/>
            <a:ext cx="350509"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6</a:t>
            </a:fld>
            <a:endParaRPr lang="en-US" sz="16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6FB7705-A027-415A-AEA7-963EB9C29481}"/>
                  </a:ext>
                </a:extLst>
              </p:cNvPr>
              <p:cNvSpPr txBox="1"/>
              <p:nvPr/>
            </p:nvSpPr>
            <p:spPr>
              <a:xfrm>
                <a:off x="65314" y="853214"/>
                <a:ext cx="12072895" cy="646331"/>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Crystal wavefunction </a:t>
                </a:r>
                <a:r>
                  <a:rPr lang="el-GR" b="1" i="1" dirty="0">
                    <a:latin typeface="Times New Roman" panose="02020603050405020304" pitchFamily="18" charset="0"/>
                    <a:cs typeface="Times New Roman" panose="02020603050405020304" pitchFamily="18" charset="0"/>
                  </a:rPr>
                  <a:t>Ψ</a:t>
                </a:r>
                <a:r>
                  <a:rPr lang="en-US" b="1"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r</a:t>
                </a:r>
                <a:r>
                  <a:rPr lang="en-US" b="1" dirty="0">
                    <a:latin typeface="Times New Roman" panose="02020603050405020304" pitchFamily="18" charset="0"/>
                    <a:cs typeface="Times New Roman" panose="02020603050405020304" pitchFamily="18" charset="0"/>
                  </a:rPr>
                  <a:t>) is constructed by the linear combination of atomic orbital (LCAO), using a localized atomic orbital basis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m:rPr>
                            <m:sty m:val="p"/>
                          </m:rPr>
                          <a:rPr lang="en-US" b="1" i="1">
                            <a:latin typeface="Cambria Math" panose="02040503050406030204" pitchFamily="18" charset="0"/>
                            <a:ea typeface="Cambria Math" panose="02040503050406030204" pitchFamily="18" charset="0"/>
                            <a:cs typeface="Times New Roman" panose="02020603050405020304" pitchFamily="18" charset="0"/>
                          </a:rPr>
                          <m:t>Φ</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n-US" b="1" i="1" smtClean="0">
                            <a:latin typeface="Cambria Math" panose="02040503050406030204" pitchFamily="18" charset="0"/>
                            <a:cs typeface="Times New Roman" panose="02020603050405020304" pitchFamily="18" charset="0"/>
                          </a:rPr>
                        </m:ctrlPr>
                      </m:dPr>
                      <m:e>
                        <m:r>
                          <a:rPr lang="en-US" b="1" i="1" smtClean="0">
                            <a:latin typeface="Cambria Math" panose="02040503050406030204" pitchFamily="18" charset="0"/>
                            <a:cs typeface="Times New Roman" panose="02020603050405020304" pitchFamily="18" charset="0"/>
                          </a:rPr>
                          <m:t>𝒓</m:t>
                        </m:r>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cs typeface="Times New Roman" panose="02020603050405020304" pitchFamily="18" charset="0"/>
                              </a:rPr>
                              <m:t>𝒊</m:t>
                            </m:r>
                          </m:sub>
                        </m:sSub>
                      </m:e>
                    </m:d>
                  </m:oMath>
                </a14:m>
                <a:r>
                  <a:rPr lang="en-US" b="1" dirty="0">
                    <a:latin typeface="Times New Roman" panose="02020603050405020304" pitchFamily="18" charset="0"/>
                    <a:cs typeface="Times New Roman" panose="02020603050405020304" pitchFamily="18" charset="0"/>
                  </a:rPr>
                  <a:t>}:</a:t>
                </a:r>
                <a:endParaRPr lang="en-US" b="1" dirty="0">
                  <a:solidFill>
                    <a:srgbClr val="FF0000"/>
                  </a:solidFill>
                  <a:effectLst/>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A6FB7705-A027-415A-AEA7-963EB9C29481}"/>
                  </a:ext>
                </a:extLst>
              </p:cNvPr>
              <p:cNvSpPr txBox="1">
                <a:spLocks noRot="1" noChangeAspect="1" noMove="1" noResize="1" noEditPoints="1" noAdjustHandles="1" noChangeArrowheads="1" noChangeShapeType="1" noTextEdit="1"/>
              </p:cNvSpPr>
              <p:nvPr/>
            </p:nvSpPr>
            <p:spPr>
              <a:xfrm>
                <a:off x="65314" y="853214"/>
                <a:ext cx="12072895" cy="646331"/>
              </a:xfrm>
              <a:prstGeom prst="rect">
                <a:avLst/>
              </a:prstGeom>
              <a:blipFill>
                <a:blip r:embed="rId5"/>
                <a:stretch>
                  <a:fillRect l="-455" t="-5660" r="-404" b="-1415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2F5ACBFF-882F-46CF-9A9D-9609A3818624}"/>
                  </a:ext>
                </a:extLst>
              </p:cNvPr>
              <p:cNvSpPr txBox="1"/>
              <p:nvPr/>
            </p:nvSpPr>
            <p:spPr>
              <a:xfrm>
                <a:off x="4389138" y="1654268"/>
                <a:ext cx="2799182" cy="785728"/>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m:rPr>
                          <m:sty m:val="p"/>
                        </m:rPr>
                        <a:rPr lang="el-GR" b="1" i="1" smtClean="0">
                          <a:solidFill>
                            <a:schemeClr val="tx1"/>
                          </a:solidFill>
                          <a:effectLst/>
                          <a:latin typeface="Cambria Math" panose="02040503050406030204" pitchFamily="18" charset="0"/>
                          <a:cs typeface="Times New Roman" panose="02020603050405020304" pitchFamily="18" charset="0"/>
                        </a:rPr>
                        <m:t>Ψ</m:t>
                      </m:r>
                      <m:d>
                        <m:dPr>
                          <m:ctrlPr>
                            <a:rPr lang="en-US" b="1" i="1" smtClean="0">
                              <a:solidFill>
                                <a:schemeClr val="tx1"/>
                              </a:solidFill>
                              <a:effectLst/>
                              <a:latin typeface="Cambria Math" panose="02040503050406030204" pitchFamily="18" charset="0"/>
                              <a:cs typeface="Times New Roman" panose="02020603050405020304" pitchFamily="18" charset="0"/>
                            </a:rPr>
                          </m:ctrlPr>
                        </m:dPr>
                        <m:e>
                          <m:r>
                            <a:rPr lang="en-US" b="1" i="1" smtClean="0">
                              <a:solidFill>
                                <a:schemeClr val="tx1"/>
                              </a:solidFill>
                              <a:effectLst/>
                              <a:latin typeface="Cambria Math" panose="02040503050406030204" pitchFamily="18" charset="0"/>
                              <a:cs typeface="Times New Roman" panose="02020603050405020304" pitchFamily="18" charset="0"/>
                            </a:rPr>
                            <m:t>𝒓</m:t>
                          </m:r>
                        </m:e>
                      </m:d>
                      <m:r>
                        <a:rPr lang="en-US" b="1" i="1" smtClean="0">
                          <a:solidFill>
                            <a:schemeClr val="tx1"/>
                          </a:solidFill>
                          <a:effectLst/>
                          <a:latin typeface="Cambria Math" panose="02040503050406030204" pitchFamily="18" charset="0"/>
                          <a:cs typeface="Times New Roman" panose="02020603050405020304" pitchFamily="18" charset="0"/>
                        </a:rPr>
                        <m:t>=</m:t>
                      </m:r>
                      <m:nary>
                        <m:naryPr>
                          <m:chr m:val="∑"/>
                          <m:supHide m:val="on"/>
                          <m:ctrlPr>
                            <a:rPr lang="en-US" b="1" i="1" smtClean="0">
                              <a:solidFill>
                                <a:schemeClr val="tx1"/>
                              </a:solidFill>
                              <a:effectLst/>
                              <a:latin typeface="Cambria Math" panose="02040503050406030204" pitchFamily="18" charset="0"/>
                              <a:cs typeface="Times New Roman" panose="02020603050405020304" pitchFamily="18" charset="0"/>
                            </a:rPr>
                          </m:ctrlPr>
                        </m:naryPr>
                        <m:sub>
                          <m:r>
                            <m:rPr>
                              <m:brk m:alnAt="7"/>
                            </m:rPr>
                            <a:rPr lang="en-US" b="1" i="1" smtClean="0">
                              <a:solidFill>
                                <a:schemeClr val="tx1"/>
                              </a:solidFill>
                              <a:effectLst/>
                              <a:latin typeface="Cambria Math" panose="02040503050406030204" pitchFamily="18" charset="0"/>
                              <a:cs typeface="Times New Roman" panose="02020603050405020304" pitchFamily="18" charset="0"/>
                            </a:rPr>
                            <m:t>𝒊</m:t>
                          </m:r>
                          <m:r>
                            <a:rPr lang="en-US" b="1" i="1" smtClean="0">
                              <a:solidFill>
                                <a:schemeClr val="tx1"/>
                              </a:solidFill>
                              <a:effectLst/>
                              <a:latin typeface="Cambria Math" panose="02040503050406030204" pitchFamily="18" charset="0"/>
                              <a:cs typeface="Times New Roman" panose="02020603050405020304" pitchFamily="18" charset="0"/>
                            </a:rPr>
                            <m:t>,</m:t>
                          </m:r>
                          <m:r>
                            <a:rPr lang="en-US" b="1"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𝜶</m:t>
                          </m:r>
                        </m:sub>
                        <m:sup/>
                        <m:e>
                          <m:sSub>
                            <m:sSubPr>
                              <m:ctrlPr>
                                <a:rPr lang="en-US" b="1" i="1" smtClean="0">
                                  <a:solidFill>
                                    <a:schemeClr val="tx1"/>
                                  </a:solidFill>
                                  <a:effectLst/>
                                  <a:latin typeface="Cambria Math" panose="02040503050406030204" pitchFamily="18" charset="0"/>
                                  <a:cs typeface="Times New Roman" panose="02020603050405020304" pitchFamily="18" charset="0"/>
                                </a:rPr>
                              </m:ctrlPr>
                            </m:sSubPr>
                            <m:e>
                              <m:r>
                                <a:rPr lang="en-US" b="1" i="1" smtClean="0">
                                  <a:solidFill>
                                    <a:schemeClr val="tx1"/>
                                  </a:solidFill>
                                  <a:effectLst/>
                                  <a:latin typeface="Cambria Math" panose="02040503050406030204" pitchFamily="18" charset="0"/>
                                  <a:cs typeface="Times New Roman" panose="02020603050405020304" pitchFamily="18" charset="0"/>
                                </a:rPr>
                                <m:t>𝒄</m:t>
                              </m:r>
                            </m:e>
                            <m:sub>
                              <m:r>
                                <a:rPr lang="en-US" b="1" i="1" smtClean="0">
                                  <a:solidFill>
                                    <a:schemeClr val="tx1"/>
                                  </a:solidFill>
                                  <a:effectLst/>
                                  <a:latin typeface="Cambria Math" panose="02040503050406030204" pitchFamily="18" charset="0"/>
                                  <a:cs typeface="Times New Roman" panose="02020603050405020304" pitchFamily="18" charset="0"/>
                                </a:rPr>
                                <m:t>𝒊</m:t>
                              </m:r>
                              <m:r>
                                <a:rPr lang="en-US" b="1" i="1" smtClean="0">
                                  <a:solidFill>
                                    <a:schemeClr val="tx1"/>
                                  </a:solidFill>
                                  <a:effectLst/>
                                  <a:latin typeface="Cambria Math" panose="02040503050406030204" pitchFamily="18" charset="0"/>
                                  <a:cs typeface="Times New Roman" panose="02020603050405020304" pitchFamily="18" charset="0"/>
                                </a:rPr>
                                <m:t>,</m:t>
                              </m:r>
                              <m:r>
                                <a:rPr lang="en-US" b="1"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𝜶</m:t>
                              </m:r>
                            </m:sub>
                          </m:sSub>
                          <m:sSub>
                            <m:sSubPr>
                              <m:ctrlPr>
                                <a:rPr lang="en-US" b="1" i="1" smtClean="0">
                                  <a:solidFill>
                                    <a:schemeClr val="tx1"/>
                                  </a:solidFill>
                                  <a:effectLst/>
                                  <a:latin typeface="Cambria Math" panose="02040503050406030204" pitchFamily="18" charset="0"/>
                                  <a:cs typeface="Times New Roman" panose="02020603050405020304" pitchFamily="18" charset="0"/>
                                </a:rPr>
                              </m:ctrlPr>
                            </m:sSubPr>
                            <m:e>
                              <m:r>
                                <m:rPr>
                                  <m:sty m:val="p"/>
                                </m:rPr>
                                <a:rPr lang="el-GR" b="1" i="1" smtClean="0">
                                  <a:solidFill>
                                    <a:schemeClr val="tx1"/>
                                  </a:solidFill>
                                  <a:effectLst/>
                                  <a:latin typeface="Cambria Math" panose="02040503050406030204" pitchFamily="18" charset="0"/>
                                  <a:cs typeface="Times New Roman" panose="02020603050405020304" pitchFamily="18" charset="0"/>
                                </a:rPr>
                                <m:t>Φ</m:t>
                              </m:r>
                            </m:e>
                            <m:sub>
                              <m:r>
                                <a:rPr lang="en-US" b="1" i="1"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n-US" b="1" i="1" smtClean="0">
                                  <a:solidFill>
                                    <a:schemeClr val="tx1"/>
                                  </a:solidFill>
                                  <a:effectLst/>
                                  <a:latin typeface="Cambria Math" panose="02040503050406030204" pitchFamily="18" charset="0"/>
                                  <a:cs typeface="Times New Roman" panose="02020603050405020304" pitchFamily="18" charset="0"/>
                                </a:rPr>
                              </m:ctrlPr>
                            </m:dPr>
                            <m:e>
                              <m:r>
                                <a:rPr lang="en-US" b="1" i="1" smtClean="0">
                                  <a:solidFill>
                                    <a:schemeClr val="tx1"/>
                                  </a:solidFill>
                                  <a:effectLst/>
                                  <a:latin typeface="Cambria Math" panose="02040503050406030204" pitchFamily="18" charset="0"/>
                                  <a:cs typeface="Times New Roman" panose="02020603050405020304" pitchFamily="18" charset="0"/>
                                </a:rPr>
                                <m:t>𝒓</m:t>
                              </m:r>
                              <m:r>
                                <a:rPr lang="en-US" b="1" i="1" smtClean="0">
                                  <a:solidFill>
                                    <a:schemeClr val="tx1"/>
                                  </a:solidFill>
                                  <a:effectLst/>
                                  <a:latin typeface="Cambria Math" panose="02040503050406030204" pitchFamily="18" charset="0"/>
                                  <a:cs typeface="Times New Roman" panose="02020603050405020304" pitchFamily="18" charset="0"/>
                                </a:rPr>
                                <m:t>−</m:t>
                              </m:r>
                              <m:sSub>
                                <m:sSubPr>
                                  <m:ctrlPr>
                                    <a:rPr lang="en-US" b="1" i="1" smtClean="0">
                                      <a:solidFill>
                                        <a:srgbClr val="0070C0"/>
                                      </a:solidFill>
                                      <a:effectLst/>
                                      <a:latin typeface="Cambria Math" panose="02040503050406030204" pitchFamily="18" charset="0"/>
                                      <a:cs typeface="Times New Roman" panose="02020603050405020304" pitchFamily="18" charset="0"/>
                                    </a:rPr>
                                  </m:ctrlPr>
                                </m:sSubPr>
                                <m:e>
                                  <m:r>
                                    <a:rPr lang="en-US" b="1" i="1" smtClean="0">
                                      <a:solidFill>
                                        <a:srgbClr val="0070C0"/>
                                      </a:solidFill>
                                      <a:effectLst/>
                                      <a:latin typeface="Cambria Math" panose="02040503050406030204" pitchFamily="18" charset="0"/>
                                      <a:cs typeface="Times New Roman" panose="02020603050405020304" pitchFamily="18" charset="0"/>
                                    </a:rPr>
                                    <m:t>𝑹</m:t>
                                  </m:r>
                                </m:e>
                                <m:sub>
                                  <m:r>
                                    <a:rPr lang="en-US" b="1" i="1" smtClean="0">
                                      <a:solidFill>
                                        <a:srgbClr val="0070C0"/>
                                      </a:solidFill>
                                      <a:effectLst/>
                                      <a:latin typeface="Cambria Math" panose="02040503050406030204" pitchFamily="18" charset="0"/>
                                      <a:cs typeface="Times New Roman" panose="02020603050405020304" pitchFamily="18" charset="0"/>
                                    </a:rPr>
                                    <m:t>𝒊</m:t>
                                  </m:r>
                                </m:sub>
                              </m:sSub>
                            </m:e>
                          </m:d>
                        </m:e>
                      </m:nary>
                    </m:oMath>
                  </m:oMathPara>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2F5ACBFF-882F-46CF-9A9D-9609A3818624}"/>
                  </a:ext>
                </a:extLst>
              </p:cNvPr>
              <p:cNvSpPr txBox="1">
                <a:spLocks noRot="1" noChangeAspect="1" noMove="1" noResize="1" noEditPoints="1" noAdjustHandles="1" noChangeArrowheads="1" noChangeShapeType="1" noTextEdit="1"/>
              </p:cNvSpPr>
              <p:nvPr/>
            </p:nvSpPr>
            <p:spPr>
              <a:xfrm>
                <a:off x="4389138" y="1654268"/>
                <a:ext cx="2799182" cy="785728"/>
              </a:xfrm>
              <a:prstGeom prst="rect">
                <a:avLst/>
              </a:prstGeom>
              <a:blipFill>
                <a:blip r:embed="rId6"/>
                <a:stretch>
                  <a:fillRect/>
                </a:stretch>
              </a:blipFill>
            </p:spPr>
            <p:txBody>
              <a:bodyPr/>
              <a:lstStyle/>
              <a:p>
                <a:r>
                  <a:rPr lang="en-US">
                    <a:noFill/>
                  </a:rPr>
                  <a:t> </a:t>
                </a:r>
              </a:p>
            </p:txBody>
          </p:sp>
        </mc:Fallback>
      </mc:AlternateContent>
      <p:sp>
        <p:nvSpPr>
          <p:cNvPr id="25" name="TextBox 24">
            <a:extLst>
              <a:ext uri="{FF2B5EF4-FFF2-40B4-BE49-F238E27FC236}">
                <a16:creationId xmlns:a16="http://schemas.microsoft.com/office/drawing/2014/main" id="{1153D627-93BB-437E-8503-2B8061F218C2}"/>
              </a:ext>
            </a:extLst>
          </p:cNvPr>
          <p:cNvSpPr txBox="1"/>
          <p:nvPr/>
        </p:nvSpPr>
        <p:spPr>
          <a:xfrm>
            <a:off x="1746776" y="95101"/>
            <a:ext cx="9254066"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 </a:t>
            </a:r>
            <a:r>
              <a:rPr lang="en-US" sz="2800" b="1" dirty="0">
                <a:latin typeface="Times New Roman" panose="02020603050405020304" pitchFamily="18" charset="0"/>
                <a:cs typeface="Times New Roman" panose="02020603050405020304" pitchFamily="18" charset="0"/>
              </a:rPr>
              <a:t>Mathematical Formulation: The LCAO Basis Expansion</a:t>
            </a:r>
            <a:endParaRPr lang="en-US" sz="2800" b="1" dirty="0">
              <a:effectLst/>
              <a:latin typeface="Times New Roman" panose="02020603050405020304" pitchFamily="18" charset="0"/>
              <a:cs typeface="Times New Roman" panose="02020603050405020304" pitchFamily="18" charset="0"/>
            </a:endParaRPr>
          </a:p>
        </p:txBody>
      </p:sp>
      <p:sp>
        <p:nvSpPr>
          <p:cNvPr id="74" name="Oval 73">
            <a:extLst>
              <a:ext uri="{FF2B5EF4-FFF2-40B4-BE49-F238E27FC236}">
                <a16:creationId xmlns:a16="http://schemas.microsoft.com/office/drawing/2014/main" id="{B73CE730-C5B8-46A6-98E4-9B3B95387DDE}"/>
              </a:ext>
            </a:extLst>
          </p:cNvPr>
          <p:cNvSpPr/>
          <p:nvPr/>
        </p:nvSpPr>
        <p:spPr>
          <a:xfrm>
            <a:off x="1741742" y="3217754"/>
            <a:ext cx="138877" cy="13519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7" name="Group 86">
            <a:extLst>
              <a:ext uri="{FF2B5EF4-FFF2-40B4-BE49-F238E27FC236}">
                <a16:creationId xmlns:a16="http://schemas.microsoft.com/office/drawing/2014/main" id="{4C481B1E-2772-4A3D-A814-BB3F3F01F1E5}"/>
              </a:ext>
            </a:extLst>
          </p:cNvPr>
          <p:cNvGrpSpPr/>
          <p:nvPr/>
        </p:nvGrpSpPr>
        <p:grpSpPr>
          <a:xfrm>
            <a:off x="475843" y="2397970"/>
            <a:ext cx="3190400" cy="3367815"/>
            <a:chOff x="3161349" y="2385622"/>
            <a:chExt cx="3190400" cy="3367815"/>
          </a:xfrm>
        </p:grpSpPr>
        <p:sp>
          <p:nvSpPr>
            <p:cNvPr id="3" name="Rectangle 2">
              <a:extLst>
                <a:ext uri="{FF2B5EF4-FFF2-40B4-BE49-F238E27FC236}">
                  <a16:creationId xmlns:a16="http://schemas.microsoft.com/office/drawing/2014/main" id="{2AE9D166-1234-4F20-82D8-BE4C448E6FA1}"/>
                </a:ext>
              </a:extLst>
            </p:cNvPr>
            <p:cNvSpPr/>
            <p:nvPr/>
          </p:nvSpPr>
          <p:spPr>
            <a:xfrm>
              <a:off x="3172410" y="3511518"/>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a:extLst>
                <a:ext uri="{FF2B5EF4-FFF2-40B4-BE49-F238E27FC236}">
                  <a16:creationId xmlns:a16="http://schemas.microsoft.com/office/drawing/2014/main" id="{D8C6D2F2-891A-4A85-9A7B-975916B0F126}"/>
                </a:ext>
              </a:extLst>
            </p:cNvPr>
            <p:cNvSpPr/>
            <p:nvPr/>
          </p:nvSpPr>
          <p:spPr>
            <a:xfrm>
              <a:off x="3299441" y="368015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Oval 30">
              <a:extLst>
                <a:ext uri="{FF2B5EF4-FFF2-40B4-BE49-F238E27FC236}">
                  <a16:creationId xmlns:a16="http://schemas.microsoft.com/office/drawing/2014/main" id="{50A81884-7595-4A1C-9F38-0B38FAA788FA}"/>
                </a:ext>
              </a:extLst>
            </p:cNvPr>
            <p:cNvSpPr/>
            <p:nvPr/>
          </p:nvSpPr>
          <p:spPr>
            <a:xfrm>
              <a:off x="3853695" y="433094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Oval 31">
              <a:extLst>
                <a:ext uri="{FF2B5EF4-FFF2-40B4-BE49-F238E27FC236}">
                  <a16:creationId xmlns:a16="http://schemas.microsoft.com/office/drawing/2014/main" id="{2A9F0C37-487E-4D4E-B8AE-4C4E72EB1093}"/>
                </a:ext>
              </a:extLst>
            </p:cNvPr>
            <p:cNvSpPr/>
            <p:nvPr/>
          </p:nvSpPr>
          <p:spPr>
            <a:xfrm>
              <a:off x="3687765" y="393615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Oval 32">
              <a:extLst>
                <a:ext uri="{FF2B5EF4-FFF2-40B4-BE49-F238E27FC236}">
                  <a16:creationId xmlns:a16="http://schemas.microsoft.com/office/drawing/2014/main" id="{EB31005E-3BA8-475B-88BF-3C75B60FD971}"/>
                </a:ext>
              </a:extLst>
            </p:cNvPr>
            <p:cNvSpPr/>
            <p:nvPr/>
          </p:nvSpPr>
          <p:spPr>
            <a:xfrm>
              <a:off x="3540728" y="4229191"/>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15C65B54-F0A2-4142-B72F-19675644FAF0}"/>
                </a:ext>
              </a:extLst>
            </p:cNvPr>
            <p:cNvSpPr/>
            <p:nvPr/>
          </p:nvSpPr>
          <p:spPr>
            <a:xfrm>
              <a:off x="4226768" y="3511518"/>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894449D4-8B72-492E-8DDF-C36ACB04C020}"/>
                </a:ext>
              </a:extLst>
            </p:cNvPr>
            <p:cNvSpPr/>
            <p:nvPr/>
          </p:nvSpPr>
          <p:spPr>
            <a:xfrm>
              <a:off x="4353799" y="368015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7A4AECDD-FCEC-41BF-83EE-2C81E2289AA4}"/>
                </a:ext>
              </a:extLst>
            </p:cNvPr>
            <p:cNvSpPr/>
            <p:nvPr/>
          </p:nvSpPr>
          <p:spPr>
            <a:xfrm>
              <a:off x="4908053" y="433094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2621D2A7-A297-4134-AFE8-DF4F9012CD12}"/>
                </a:ext>
              </a:extLst>
            </p:cNvPr>
            <p:cNvSpPr/>
            <p:nvPr/>
          </p:nvSpPr>
          <p:spPr>
            <a:xfrm>
              <a:off x="4742123" y="393615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Oval 37">
              <a:extLst>
                <a:ext uri="{FF2B5EF4-FFF2-40B4-BE49-F238E27FC236}">
                  <a16:creationId xmlns:a16="http://schemas.microsoft.com/office/drawing/2014/main" id="{4946E88F-4A7F-4DB3-82FA-5C3E1B326F6A}"/>
                </a:ext>
              </a:extLst>
            </p:cNvPr>
            <p:cNvSpPr/>
            <p:nvPr/>
          </p:nvSpPr>
          <p:spPr>
            <a:xfrm>
              <a:off x="4595086" y="4229191"/>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9" name="Rectangle 38">
              <a:extLst>
                <a:ext uri="{FF2B5EF4-FFF2-40B4-BE49-F238E27FC236}">
                  <a16:creationId xmlns:a16="http://schemas.microsoft.com/office/drawing/2014/main" id="{8891FF1A-D4CD-490C-B351-B3E0DFA9CEC3}"/>
                </a:ext>
              </a:extLst>
            </p:cNvPr>
            <p:cNvSpPr/>
            <p:nvPr/>
          </p:nvSpPr>
          <p:spPr>
            <a:xfrm>
              <a:off x="5284947" y="3511518"/>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Oval 39">
              <a:extLst>
                <a:ext uri="{FF2B5EF4-FFF2-40B4-BE49-F238E27FC236}">
                  <a16:creationId xmlns:a16="http://schemas.microsoft.com/office/drawing/2014/main" id="{AB0FB835-ABFB-48CF-93AA-C8C704D861C2}"/>
                </a:ext>
              </a:extLst>
            </p:cNvPr>
            <p:cNvSpPr/>
            <p:nvPr/>
          </p:nvSpPr>
          <p:spPr>
            <a:xfrm>
              <a:off x="5411978" y="368015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92370145-F8A2-41A9-B21F-396C33907828}"/>
                </a:ext>
              </a:extLst>
            </p:cNvPr>
            <p:cNvSpPr/>
            <p:nvPr/>
          </p:nvSpPr>
          <p:spPr>
            <a:xfrm>
              <a:off x="5966232" y="433094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54241542-F472-4205-A8A2-B18D6C4D687B}"/>
                </a:ext>
              </a:extLst>
            </p:cNvPr>
            <p:cNvSpPr/>
            <p:nvPr/>
          </p:nvSpPr>
          <p:spPr>
            <a:xfrm>
              <a:off x="5800302" y="393615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Oval 42">
              <a:extLst>
                <a:ext uri="{FF2B5EF4-FFF2-40B4-BE49-F238E27FC236}">
                  <a16:creationId xmlns:a16="http://schemas.microsoft.com/office/drawing/2014/main" id="{67EA1BC7-9B86-45AC-B97E-B22B6AAD81EB}"/>
                </a:ext>
              </a:extLst>
            </p:cNvPr>
            <p:cNvSpPr/>
            <p:nvPr/>
          </p:nvSpPr>
          <p:spPr>
            <a:xfrm>
              <a:off x="5653265" y="4229191"/>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9E73EB43-4563-4725-A69E-4112919F3A16}"/>
                </a:ext>
              </a:extLst>
            </p:cNvPr>
            <p:cNvSpPr/>
            <p:nvPr/>
          </p:nvSpPr>
          <p:spPr>
            <a:xfrm>
              <a:off x="3166186" y="4624969"/>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Oval 44">
              <a:extLst>
                <a:ext uri="{FF2B5EF4-FFF2-40B4-BE49-F238E27FC236}">
                  <a16:creationId xmlns:a16="http://schemas.microsoft.com/office/drawing/2014/main" id="{01CC80C5-8AEB-486F-8483-A346C5FE93AD}"/>
                </a:ext>
              </a:extLst>
            </p:cNvPr>
            <p:cNvSpPr/>
            <p:nvPr/>
          </p:nvSpPr>
          <p:spPr>
            <a:xfrm>
              <a:off x="3293217" y="4793608"/>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Oval 45">
              <a:extLst>
                <a:ext uri="{FF2B5EF4-FFF2-40B4-BE49-F238E27FC236}">
                  <a16:creationId xmlns:a16="http://schemas.microsoft.com/office/drawing/2014/main" id="{89FF7FC4-3CA7-4363-A181-6C8635F9FDD8}"/>
                </a:ext>
              </a:extLst>
            </p:cNvPr>
            <p:cNvSpPr/>
            <p:nvPr/>
          </p:nvSpPr>
          <p:spPr>
            <a:xfrm>
              <a:off x="3847471" y="5444393"/>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Oval 46">
              <a:extLst>
                <a:ext uri="{FF2B5EF4-FFF2-40B4-BE49-F238E27FC236}">
                  <a16:creationId xmlns:a16="http://schemas.microsoft.com/office/drawing/2014/main" id="{41AA12E2-8778-44C1-BAA3-5D2925566F85}"/>
                </a:ext>
              </a:extLst>
            </p:cNvPr>
            <p:cNvSpPr/>
            <p:nvPr/>
          </p:nvSpPr>
          <p:spPr>
            <a:xfrm>
              <a:off x="3681541" y="504960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Oval 47">
              <a:extLst>
                <a:ext uri="{FF2B5EF4-FFF2-40B4-BE49-F238E27FC236}">
                  <a16:creationId xmlns:a16="http://schemas.microsoft.com/office/drawing/2014/main" id="{9368E4A0-B418-406C-BE90-7609E29A1047}"/>
                </a:ext>
              </a:extLst>
            </p:cNvPr>
            <p:cNvSpPr/>
            <p:nvPr/>
          </p:nvSpPr>
          <p:spPr>
            <a:xfrm>
              <a:off x="3534504" y="534264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D98F4B32-D4D6-43FB-9A47-F782B8A8AD9A}"/>
                </a:ext>
              </a:extLst>
            </p:cNvPr>
            <p:cNvSpPr/>
            <p:nvPr/>
          </p:nvSpPr>
          <p:spPr>
            <a:xfrm>
              <a:off x="4229875" y="4624969"/>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Oval 49">
              <a:extLst>
                <a:ext uri="{FF2B5EF4-FFF2-40B4-BE49-F238E27FC236}">
                  <a16:creationId xmlns:a16="http://schemas.microsoft.com/office/drawing/2014/main" id="{164629D5-2D42-4CFC-A2D4-E63FCE60D666}"/>
                </a:ext>
              </a:extLst>
            </p:cNvPr>
            <p:cNvSpPr/>
            <p:nvPr/>
          </p:nvSpPr>
          <p:spPr>
            <a:xfrm>
              <a:off x="4356906" y="4793608"/>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Oval 50">
              <a:extLst>
                <a:ext uri="{FF2B5EF4-FFF2-40B4-BE49-F238E27FC236}">
                  <a16:creationId xmlns:a16="http://schemas.microsoft.com/office/drawing/2014/main" id="{D92A206B-9B2B-4964-B23F-19F19A8D1334}"/>
                </a:ext>
              </a:extLst>
            </p:cNvPr>
            <p:cNvSpPr/>
            <p:nvPr/>
          </p:nvSpPr>
          <p:spPr>
            <a:xfrm>
              <a:off x="4911160" y="5444393"/>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Oval 51">
              <a:extLst>
                <a:ext uri="{FF2B5EF4-FFF2-40B4-BE49-F238E27FC236}">
                  <a16:creationId xmlns:a16="http://schemas.microsoft.com/office/drawing/2014/main" id="{724C83D9-BDB5-42DB-9B53-1F2217E807FF}"/>
                </a:ext>
              </a:extLst>
            </p:cNvPr>
            <p:cNvSpPr/>
            <p:nvPr/>
          </p:nvSpPr>
          <p:spPr>
            <a:xfrm>
              <a:off x="4745230" y="504960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Oval 52">
              <a:extLst>
                <a:ext uri="{FF2B5EF4-FFF2-40B4-BE49-F238E27FC236}">
                  <a16:creationId xmlns:a16="http://schemas.microsoft.com/office/drawing/2014/main" id="{0C240ACD-795A-4423-8286-6F0D2A79CBD1}"/>
                </a:ext>
              </a:extLst>
            </p:cNvPr>
            <p:cNvSpPr/>
            <p:nvPr/>
          </p:nvSpPr>
          <p:spPr>
            <a:xfrm>
              <a:off x="4598193" y="534264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4" name="Rectangle 53">
              <a:extLst>
                <a:ext uri="{FF2B5EF4-FFF2-40B4-BE49-F238E27FC236}">
                  <a16:creationId xmlns:a16="http://schemas.microsoft.com/office/drawing/2014/main" id="{4041B87C-1D0B-413D-80ED-417174662981}"/>
                </a:ext>
              </a:extLst>
            </p:cNvPr>
            <p:cNvSpPr/>
            <p:nvPr/>
          </p:nvSpPr>
          <p:spPr>
            <a:xfrm>
              <a:off x="5288054" y="4624969"/>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Oval 54">
              <a:extLst>
                <a:ext uri="{FF2B5EF4-FFF2-40B4-BE49-F238E27FC236}">
                  <a16:creationId xmlns:a16="http://schemas.microsoft.com/office/drawing/2014/main" id="{6F01F2A5-DA49-436C-A709-28429FD04103}"/>
                </a:ext>
              </a:extLst>
            </p:cNvPr>
            <p:cNvSpPr/>
            <p:nvPr/>
          </p:nvSpPr>
          <p:spPr>
            <a:xfrm>
              <a:off x="5415085" y="4793608"/>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Oval 55">
              <a:extLst>
                <a:ext uri="{FF2B5EF4-FFF2-40B4-BE49-F238E27FC236}">
                  <a16:creationId xmlns:a16="http://schemas.microsoft.com/office/drawing/2014/main" id="{CCC9545B-D222-4F8A-B1DC-86474F7569DA}"/>
                </a:ext>
              </a:extLst>
            </p:cNvPr>
            <p:cNvSpPr/>
            <p:nvPr/>
          </p:nvSpPr>
          <p:spPr>
            <a:xfrm>
              <a:off x="5969339" y="5444393"/>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7" name="Oval 56">
              <a:extLst>
                <a:ext uri="{FF2B5EF4-FFF2-40B4-BE49-F238E27FC236}">
                  <a16:creationId xmlns:a16="http://schemas.microsoft.com/office/drawing/2014/main" id="{F9BA06E3-A7D7-40E4-A01A-3E517C363451}"/>
                </a:ext>
              </a:extLst>
            </p:cNvPr>
            <p:cNvSpPr/>
            <p:nvPr/>
          </p:nvSpPr>
          <p:spPr>
            <a:xfrm>
              <a:off x="5803409" y="5049607"/>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Oval 57">
              <a:extLst>
                <a:ext uri="{FF2B5EF4-FFF2-40B4-BE49-F238E27FC236}">
                  <a16:creationId xmlns:a16="http://schemas.microsoft.com/office/drawing/2014/main" id="{D1043316-7EF9-451C-B194-9F3A964BAED4}"/>
                </a:ext>
              </a:extLst>
            </p:cNvPr>
            <p:cNvSpPr/>
            <p:nvPr/>
          </p:nvSpPr>
          <p:spPr>
            <a:xfrm>
              <a:off x="5656372" y="5342642"/>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48314452-C220-4FD8-94E1-DFB3CF11F3FB}"/>
                </a:ext>
              </a:extLst>
            </p:cNvPr>
            <p:cNvSpPr/>
            <p:nvPr/>
          </p:nvSpPr>
          <p:spPr>
            <a:xfrm>
              <a:off x="3166191" y="2385622"/>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Oval 59">
              <a:extLst>
                <a:ext uri="{FF2B5EF4-FFF2-40B4-BE49-F238E27FC236}">
                  <a16:creationId xmlns:a16="http://schemas.microsoft.com/office/drawing/2014/main" id="{32428E0F-27AB-48B1-B8C7-D9F00E4AAF48}"/>
                </a:ext>
              </a:extLst>
            </p:cNvPr>
            <p:cNvSpPr/>
            <p:nvPr/>
          </p:nvSpPr>
          <p:spPr>
            <a:xfrm>
              <a:off x="3293222" y="2554261"/>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1" name="Oval 60">
              <a:extLst>
                <a:ext uri="{FF2B5EF4-FFF2-40B4-BE49-F238E27FC236}">
                  <a16:creationId xmlns:a16="http://schemas.microsoft.com/office/drawing/2014/main" id="{9495C8B6-EF3F-4F17-BD59-E581FE4AE7C7}"/>
                </a:ext>
              </a:extLst>
            </p:cNvPr>
            <p:cNvSpPr/>
            <p:nvPr/>
          </p:nvSpPr>
          <p:spPr>
            <a:xfrm>
              <a:off x="3847476" y="320504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Oval 61">
              <a:extLst>
                <a:ext uri="{FF2B5EF4-FFF2-40B4-BE49-F238E27FC236}">
                  <a16:creationId xmlns:a16="http://schemas.microsoft.com/office/drawing/2014/main" id="{D5C4C97C-775E-4F3E-9039-CC83C3FB6CEF}"/>
                </a:ext>
              </a:extLst>
            </p:cNvPr>
            <p:cNvSpPr/>
            <p:nvPr/>
          </p:nvSpPr>
          <p:spPr>
            <a:xfrm>
              <a:off x="3681546" y="2810260"/>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3" name="Oval 62">
              <a:extLst>
                <a:ext uri="{FF2B5EF4-FFF2-40B4-BE49-F238E27FC236}">
                  <a16:creationId xmlns:a16="http://schemas.microsoft.com/office/drawing/2014/main" id="{14EACCB0-5D23-4D5E-AEEB-E7DE3B6DF291}"/>
                </a:ext>
              </a:extLst>
            </p:cNvPr>
            <p:cNvSpPr/>
            <p:nvPr/>
          </p:nvSpPr>
          <p:spPr>
            <a:xfrm>
              <a:off x="3534509" y="3103295"/>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942A63C9-5784-495A-9690-B263245BA4DF}"/>
                </a:ext>
              </a:extLst>
            </p:cNvPr>
            <p:cNvSpPr/>
            <p:nvPr/>
          </p:nvSpPr>
          <p:spPr>
            <a:xfrm>
              <a:off x="4229880" y="2385622"/>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Oval 64">
              <a:extLst>
                <a:ext uri="{FF2B5EF4-FFF2-40B4-BE49-F238E27FC236}">
                  <a16:creationId xmlns:a16="http://schemas.microsoft.com/office/drawing/2014/main" id="{CBBA0227-60E8-4A7B-BE68-6476AF9B6844}"/>
                </a:ext>
              </a:extLst>
            </p:cNvPr>
            <p:cNvSpPr/>
            <p:nvPr/>
          </p:nvSpPr>
          <p:spPr>
            <a:xfrm>
              <a:off x="4356911" y="2554261"/>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3883C235-667B-4CC9-BF0D-4F0D0FDC6A6D}"/>
                </a:ext>
              </a:extLst>
            </p:cNvPr>
            <p:cNvSpPr/>
            <p:nvPr/>
          </p:nvSpPr>
          <p:spPr>
            <a:xfrm>
              <a:off x="4911165" y="320504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Oval 66">
              <a:extLst>
                <a:ext uri="{FF2B5EF4-FFF2-40B4-BE49-F238E27FC236}">
                  <a16:creationId xmlns:a16="http://schemas.microsoft.com/office/drawing/2014/main" id="{23ABD998-93EC-49F9-93B9-4ED81E701231}"/>
                </a:ext>
              </a:extLst>
            </p:cNvPr>
            <p:cNvSpPr/>
            <p:nvPr/>
          </p:nvSpPr>
          <p:spPr>
            <a:xfrm>
              <a:off x="4745235" y="2810260"/>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7CA75947-B1D0-4095-8181-7474805A5E0C}"/>
                </a:ext>
              </a:extLst>
            </p:cNvPr>
            <p:cNvSpPr/>
            <p:nvPr/>
          </p:nvSpPr>
          <p:spPr>
            <a:xfrm>
              <a:off x="4598198" y="3103295"/>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Rectangle 68">
              <a:extLst>
                <a:ext uri="{FF2B5EF4-FFF2-40B4-BE49-F238E27FC236}">
                  <a16:creationId xmlns:a16="http://schemas.microsoft.com/office/drawing/2014/main" id="{7013F850-F512-479D-88B2-A1840A9645F3}"/>
                </a:ext>
              </a:extLst>
            </p:cNvPr>
            <p:cNvSpPr/>
            <p:nvPr/>
          </p:nvSpPr>
          <p:spPr>
            <a:xfrm>
              <a:off x="5288059" y="2385622"/>
              <a:ext cx="1063690" cy="1119674"/>
            </a:xfrm>
            <a:prstGeom prst="rect">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Oval 69">
              <a:extLst>
                <a:ext uri="{FF2B5EF4-FFF2-40B4-BE49-F238E27FC236}">
                  <a16:creationId xmlns:a16="http://schemas.microsoft.com/office/drawing/2014/main" id="{E8D125AA-5C2F-4023-BF20-3F3DC9915219}"/>
                </a:ext>
              </a:extLst>
            </p:cNvPr>
            <p:cNvSpPr/>
            <p:nvPr/>
          </p:nvSpPr>
          <p:spPr>
            <a:xfrm>
              <a:off x="5415090" y="2554261"/>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0ACC5819-932D-4778-837B-B72E055786E9}"/>
                </a:ext>
              </a:extLst>
            </p:cNvPr>
            <p:cNvSpPr/>
            <p:nvPr/>
          </p:nvSpPr>
          <p:spPr>
            <a:xfrm>
              <a:off x="5969344" y="3205046"/>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Oval 71">
              <a:extLst>
                <a:ext uri="{FF2B5EF4-FFF2-40B4-BE49-F238E27FC236}">
                  <a16:creationId xmlns:a16="http://schemas.microsoft.com/office/drawing/2014/main" id="{76366F49-92D5-4508-B945-85725E64AAB9}"/>
                </a:ext>
              </a:extLst>
            </p:cNvPr>
            <p:cNvSpPr/>
            <p:nvPr/>
          </p:nvSpPr>
          <p:spPr>
            <a:xfrm>
              <a:off x="5803414" y="2810260"/>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3" name="Oval 72">
              <a:extLst>
                <a:ext uri="{FF2B5EF4-FFF2-40B4-BE49-F238E27FC236}">
                  <a16:creationId xmlns:a16="http://schemas.microsoft.com/office/drawing/2014/main" id="{98E6B7F8-B211-490A-9C59-6C060D8A0E07}"/>
                </a:ext>
              </a:extLst>
            </p:cNvPr>
            <p:cNvSpPr/>
            <p:nvPr/>
          </p:nvSpPr>
          <p:spPr>
            <a:xfrm>
              <a:off x="5656377" y="3103295"/>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2B43D57A-16AF-46E7-A908-9949BA0FA2F1}"/>
                </a:ext>
              </a:extLst>
            </p:cNvPr>
            <p:cNvCxnSpPr>
              <a:cxnSpLocks/>
              <a:stCxn id="74" idx="0"/>
              <a:endCxn id="65" idx="4"/>
            </p:cNvCxnSpPr>
            <p:nvPr/>
          </p:nvCxnSpPr>
          <p:spPr>
            <a:xfrm flipH="1" flipV="1">
              <a:off x="4426350" y="2689460"/>
              <a:ext cx="70337" cy="515946"/>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2D42EDEA-554B-4215-B066-4633A210CE4E}"/>
                </a:ext>
              </a:extLst>
            </p:cNvPr>
            <p:cNvCxnSpPr>
              <a:cxnSpLocks/>
              <a:endCxn id="74" idx="4"/>
            </p:cNvCxnSpPr>
            <p:nvPr/>
          </p:nvCxnSpPr>
          <p:spPr>
            <a:xfrm flipV="1">
              <a:off x="3172410" y="3340605"/>
              <a:ext cx="1324277" cy="2404038"/>
            </a:xfrm>
            <a:prstGeom prst="straightConnector1">
              <a:avLst/>
            </a:prstGeom>
            <a:ln w="25400">
              <a:solidFill>
                <a:srgbClr val="0070C0"/>
              </a:solidFill>
              <a:tailEnd type="triangle"/>
            </a:ln>
          </p:spPr>
          <p:style>
            <a:lnRef idx="1">
              <a:schemeClr val="accent1"/>
            </a:lnRef>
            <a:fillRef idx="0">
              <a:schemeClr val="accent1"/>
            </a:fillRef>
            <a:effectRef idx="0">
              <a:schemeClr val="accent1"/>
            </a:effectRef>
            <a:fontRef idx="minor">
              <a:schemeClr val="tx1"/>
            </a:fontRef>
          </p:style>
        </p:cxnSp>
        <p:cxnSp>
          <p:nvCxnSpPr>
            <p:cNvPr id="76" name="Straight Arrow Connector 75">
              <a:extLst>
                <a:ext uri="{FF2B5EF4-FFF2-40B4-BE49-F238E27FC236}">
                  <a16:creationId xmlns:a16="http://schemas.microsoft.com/office/drawing/2014/main" id="{E4FA1A9D-5ED6-48A4-9C50-8CF29603EE6C}"/>
                </a:ext>
              </a:extLst>
            </p:cNvPr>
            <p:cNvCxnSpPr>
              <a:cxnSpLocks/>
            </p:cNvCxnSpPr>
            <p:nvPr/>
          </p:nvCxnSpPr>
          <p:spPr>
            <a:xfrm flipV="1">
              <a:off x="3161349" y="2688450"/>
              <a:ext cx="1231415" cy="306498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79" name="TextBox 78">
                  <a:extLst>
                    <a:ext uri="{FF2B5EF4-FFF2-40B4-BE49-F238E27FC236}">
                      <a16:creationId xmlns:a16="http://schemas.microsoft.com/office/drawing/2014/main" id="{F39A431C-C65A-4896-9BE1-9740DEB73C59}"/>
                    </a:ext>
                  </a:extLst>
                </p:cNvPr>
                <p:cNvSpPr txBox="1"/>
                <p:nvPr/>
              </p:nvSpPr>
              <p:spPr>
                <a:xfrm>
                  <a:off x="3637015" y="4636740"/>
                  <a:ext cx="342242"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b="1" i="1" smtClean="0">
                                <a:solidFill>
                                  <a:srgbClr val="0070C0"/>
                                </a:solidFill>
                                <a:effectLst/>
                                <a:latin typeface="Cambria Math" panose="02040503050406030204" pitchFamily="18" charset="0"/>
                                <a:cs typeface="Times New Roman" panose="02020603050405020304" pitchFamily="18" charset="0"/>
                              </a:rPr>
                            </m:ctrlPr>
                          </m:sSubPr>
                          <m:e>
                            <m:r>
                              <a:rPr lang="en-US" b="1" i="1" smtClean="0">
                                <a:solidFill>
                                  <a:srgbClr val="0070C0"/>
                                </a:solidFill>
                                <a:effectLst/>
                                <a:latin typeface="Cambria Math" panose="02040503050406030204" pitchFamily="18" charset="0"/>
                                <a:cs typeface="Times New Roman" panose="02020603050405020304" pitchFamily="18" charset="0"/>
                              </a:rPr>
                              <m:t>𝑹</m:t>
                            </m:r>
                          </m:e>
                          <m:sub>
                            <m:r>
                              <a:rPr lang="en-US" b="1" i="1" smtClean="0">
                                <a:solidFill>
                                  <a:srgbClr val="0070C0"/>
                                </a:solidFill>
                                <a:effectLst/>
                                <a:latin typeface="Cambria Math" panose="02040503050406030204" pitchFamily="18" charset="0"/>
                                <a:cs typeface="Times New Roman" panose="02020603050405020304" pitchFamily="18" charset="0"/>
                              </a:rPr>
                              <m:t>𝒊</m:t>
                            </m:r>
                          </m:sub>
                        </m:sSub>
                      </m:oMath>
                    </m:oMathPara>
                  </a14:m>
                  <a:endParaRPr lang="en-US" dirty="0"/>
                </a:p>
              </p:txBody>
            </p:sp>
          </mc:Choice>
          <mc:Fallback xmlns="">
            <p:sp>
              <p:nvSpPr>
                <p:cNvPr id="79" name="TextBox 78">
                  <a:extLst>
                    <a:ext uri="{FF2B5EF4-FFF2-40B4-BE49-F238E27FC236}">
                      <a16:creationId xmlns:a16="http://schemas.microsoft.com/office/drawing/2014/main" id="{F39A431C-C65A-4896-9BE1-9740DEB73C59}"/>
                    </a:ext>
                  </a:extLst>
                </p:cNvPr>
                <p:cNvSpPr txBox="1">
                  <a:spLocks noRot="1" noChangeAspect="1" noMove="1" noResize="1" noEditPoints="1" noAdjustHandles="1" noChangeArrowheads="1" noChangeShapeType="1" noTextEdit="1"/>
                </p:cNvSpPr>
                <p:nvPr/>
              </p:nvSpPr>
              <p:spPr>
                <a:xfrm>
                  <a:off x="3637015" y="4636740"/>
                  <a:ext cx="342242" cy="369332"/>
                </a:xfrm>
                <a:prstGeom prst="rect">
                  <a:avLst/>
                </a:prstGeom>
                <a:blipFill>
                  <a:blip r:embed="rId7"/>
                  <a:stretch>
                    <a:fillRect r="-892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1" name="TextBox 80">
                  <a:extLst>
                    <a:ext uri="{FF2B5EF4-FFF2-40B4-BE49-F238E27FC236}">
                      <a16:creationId xmlns:a16="http://schemas.microsoft.com/office/drawing/2014/main" id="{D21FE255-977F-4DAC-84EA-3113BA8CC5C2}"/>
                    </a:ext>
                  </a:extLst>
                </p:cNvPr>
                <p:cNvSpPr txBox="1"/>
                <p:nvPr/>
              </p:nvSpPr>
              <p:spPr>
                <a:xfrm>
                  <a:off x="3734180" y="3529418"/>
                  <a:ext cx="230321"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effectLst/>
                            <a:latin typeface="Cambria Math" panose="02040503050406030204" pitchFamily="18" charset="0"/>
                            <a:cs typeface="Times New Roman" panose="02020603050405020304" pitchFamily="18" charset="0"/>
                          </a:rPr>
                          <m:t>𝒓</m:t>
                        </m:r>
                      </m:oMath>
                    </m:oMathPara>
                  </a14:m>
                  <a:endParaRPr lang="en-US" dirty="0"/>
                </a:p>
              </p:txBody>
            </p:sp>
          </mc:Choice>
          <mc:Fallback xmlns="">
            <p:sp>
              <p:nvSpPr>
                <p:cNvPr id="81" name="TextBox 80">
                  <a:extLst>
                    <a:ext uri="{FF2B5EF4-FFF2-40B4-BE49-F238E27FC236}">
                      <a16:creationId xmlns:a16="http://schemas.microsoft.com/office/drawing/2014/main" id="{D21FE255-977F-4DAC-84EA-3113BA8CC5C2}"/>
                    </a:ext>
                  </a:extLst>
                </p:cNvPr>
                <p:cNvSpPr txBox="1">
                  <a:spLocks noRot="1" noChangeAspect="1" noMove="1" noResize="1" noEditPoints="1" noAdjustHandles="1" noChangeArrowheads="1" noChangeShapeType="1" noTextEdit="1"/>
                </p:cNvSpPr>
                <p:nvPr/>
              </p:nvSpPr>
              <p:spPr>
                <a:xfrm>
                  <a:off x="3734180" y="3529418"/>
                  <a:ext cx="230321" cy="369332"/>
                </a:xfrm>
                <a:prstGeom prst="rect">
                  <a:avLst/>
                </a:prstGeom>
                <a:blipFill>
                  <a:blip r:embed="rId8"/>
                  <a:stretch>
                    <a:fillRect r="-1842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6" name="TextBox 85">
                  <a:extLst>
                    <a:ext uri="{FF2B5EF4-FFF2-40B4-BE49-F238E27FC236}">
                      <a16:creationId xmlns:a16="http://schemas.microsoft.com/office/drawing/2014/main" id="{41D8E17C-8F9F-486A-B8C0-0618BBBA3F35}"/>
                    </a:ext>
                  </a:extLst>
                </p:cNvPr>
                <p:cNvSpPr txBox="1"/>
                <p:nvPr/>
              </p:nvSpPr>
              <p:spPr>
                <a:xfrm>
                  <a:off x="4411472" y="2837090"/>
                  <a:ext cx="830426" cy="369332"/>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a:solidFill>
                                  <a:srgbClr val="0070C0"/>
                                </a:solidFill>
                                <a:latin typeface="Cambria Math" panose="02040503050406030204" pitchFamily="18" charset="0"/>
                                <a:cs typeface="Times New Roman" panose="02020603050405020304" pitchFamily="18" charset="0"/>
                              </a:rPr>
                            </m:ctrlPr>
                          </m:sSubPr>
                          <m:e>
                            <m:r>
                              <a:rPr lang="en-US" b="1" i="1">
                                <a:solidFill>
                                  <a:srgbClr val="0070C0"/>
                                </a:solidFill>
                                <a:latin typeface="Cambria Math" panose="02040503050406030204" pitchFamily="18" charset="0"/>
                                <a:cs typeface="Times New Roman" panose="02020603050405020304" pitchFamily="18" charset="0"/>
                              </a:rPr>
                              <m:t>𝑹</m:t>
                            </m:r>
                          </m:e>
                          <m:sub>
                            <m:r>
                              <a:rPr lang="en-US" b="1" i="1">
                                <a:solidFill>
                                  <a:srgbClr val="0070C0"/>
                                </a:solidFill>
                                <a:latin typeface="Cambria Math" panose="02040503050406030204" pitchFamily="18" charset="0"/>
                                <a:cs typeface="Times New Roman" panose="02020603050405020304" pitchFamily="18" charset="0"/>
                              </a:rPr>
                              <m:t>𝒊</m:t>
                            </m:r>
                          </m:sub>
                        </m:sSub>
                      </m:oMath>
                    </m:oMathPara>
                  </a14:m>
                  <a:endParaRPr lang="en-US" dirty="0"/>
                </a:p>
              </p:txBody>
            </p:sp>
          </mc:Choice>
          <mc:Fallback xmlns="">
            <p:sp>
              <p:nvSpPr>
                <p:cNvPr id="86" name="TextBox 85">
                  <a:extLst>
                    <a:ext uri="{FF2B5EF4-FFF2-40B4-BE49-F238E27FC236}">
                      <a16:creationId xmlns:a16="http://schemas.microsoft.com/office/drawing/2014/main" id="{41D8E17C-8F9F-486A-B8C0-0618BBBA3F35}"/>
                    </a:ext>
                  </a:extLst>
                </p:cNvPr>
                <p:cNvSpPr txBox="1">
                  <a:spLocks noRot="1" noChangeAspect="1" noMove="1" noResize="1" noEditPoints="1" noAdjustHandles="1" noChangeArrowheads="1" noChangeShapeType="1" noTextEdit="1"/>
                </p:cNvSpPr>
                <p:nvPr/>
              </p:nvSpPr>
              <p:spPr>
                <a:xfrm>
                  <a:off x="4411472" y="2837090"/>
                  <a:ext cx="830426" cy="369332"/>
                </a:xfrm>
                <a:prstGeom prst="rect">
                  <a:avLst/>
                </a:prstGeom>
                <a:blipFill>
                  <a:blip r:embed="rId9"/>
                  <a:stretch>
                    <a:fillRect/>
                  </a:stretch>
                </a:blipFill>
              </p:spPr>
              <p:txBody>
                <a:bodyPr/>
                <a:lstStyle/>
                <a:p>
                  <a:r>
                    <a:rPr lang="en-US">
                      <a:noFill/>
                    </a:rPr>
                    <a:t> </a:t>
                  </a:r>
                </a:p>
              </p:txBody>
            </p:sp>
          </mc:Fallback>
        </mc:AlternateContent>
      </p:grpSp>
      <p:sp>
        <p:nvSpPr>
          <p:cNvPr id="88" name="TextBox 87">
            <a:extLst>
              <a:ext uri="{FF2B5EF4-FFF2-40B4-BE49-F238E27FC236}">
                <a16:creationId xmlns:a16="http://schemas.microsoft.com/office/drawing/2014/main" id="{415852F4-276B-423C-B7B0-2433515CC0F1}"/>
              </a:ext>
            </a:extLst>
          </p:cNvPr>
          <p:cNvSpPr txBox="1"/>
          <p:nvPr/>
        </p:nvSpPr>
        <p:spPr>
          <a:xfrm>
            <a:off x="7591878" y="2044448"/>
            <a:ext cx="4198005" cy="369332"/>
          </a:xfrm>
          <a:prstGeom prst="rect">
            <a:avLst/>
          </a:prstGeom>
          <a:noFill/>
        </p:spPr>
        <p:txBody>
          <a:bodyPr wrap="square">
            <a:spAutoFit/>
          </a:bodyPr>
          <a:lstStyle/>
          <a:p>
            <a:pPr algn="just"/>
            <a:r>
              <a:rPr lang="el-GR" b="1" dirty="0">
                <a:latin typeface="Times New Roman" panose="02020603050405020304" pitchFamily="18" charset="0"/>
                <a:cs typeface="Times New Roman" panose="02020603050405020304" pitchFamily="18" charset="0"/>
              </a:rPr>
              <a:t>α</a:t>
            </a:r>
            <a:r>
              <a:rPr lang="en-US" b="1" dirty="0">
                <a:latin typeface="Times New Roman" panose="02020603050405020304" pitchFamily="18" charset="0"/>
                <a:cs typeface="Times New Roman" panose="02020603050405020304" pitchFamily="18" charset="0"/>
              </a:rPr>
              <a:t> — d</a:t>
            </a:r>
            <a:r>
              <a:rPr lang="en-US" b="1" dirty="0">
                <a:solidFill>
                  <a:schemeClr val="tx1"/>
                </a:solidFill>
                <a:effectLst/>
                <a:latin typeface="Times New Roman" panose="02020603050405020304" pitchFamily="18" charset="0"/>
                <a:cs typeface="Times New Roman" panose="02020603050405020304" pitchFamily="18" charset="0"/>
              </a:rPr>
              <a:t>ifferent orbitals (</a:t>
            </a:r>
            <a:r>
              <a:rPr lang="en-US" b="1" i="1" dirty="0">
                <a:solidFill>
                  <a:schemeClr val="tx1"/>
                </a:solidFill>
                <a:effectLst/>
                <a:latin typeface="Times New Roman" panose="02020603050405020304" pitchFamily="18" charset="0"/>
                <a:cs typeface="Times New Roman" panose="02020603050405020304" pitchFamily="18" charset="0"/>
              </a:rPr>
              <a:t>s</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a:solidFill>
                  <a:schemeClr val="tx1"/>
                </a:solidFill>
                <a:effectLst/>
                <a:latin typeface="Times New Roman" panose="02020603050405020304" pitchFamily="18" charset="0"/>
                <a:cs typeface="Times New Roman" panose="02020603050405020304" pitchFamily="18" charset="0"/>
              </a:rPr>
              <a:t>p</a:t>
            </a:r>
            <a:r>
              <a:rPr lang="en-US" sz="1100" b="1" i="1" dirty="0">
                <a:solidFill>
                  <a:schemeClr val="tx1"/>
                </a:solidFill>
                <a:effectLst/>
                <a:latin typeface="Times New Roman" panose="02020603050405020304" pitchFamily="18" charset="0"/>
                <a:cs typeface="Times New Roman" panose="02020603050405020304" pitchFamily="18" charset="0"/>
              </a:rPr>
              <a:t>x</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err="1">
                <a:solidFill>
                  <a:schemeClr val="tx1"/>
                </a:solidFill>
                <a:effectLst/>
                <a:latin typeface="Times New Roman" panose="02020603050405020304" pitchFamily="18" charset="0"/>
                <a:cs typeface="Times New Roman" panose="02020603050405020304" pitchFamily="18" charset="0"/>
              </a:rPr>
              <a:t>p</a:t>
            </a:r>
            <a:r>
              <a:rPr lang="en-US" sz="1100" b="1" i="1" dirty="0" err="1">
                <a:solidFill>
                  <a:schemeClr val="tx1"/>
                </a:solidFill>
                <a:effectLst/>
                <a:latin typeface="Times New Roman" panose="02020603050405020304" pitchFamily="18" charset="0"/>
                <a:cs typeface="Times New Roman" panose="02020603050405020304" pitchFamily="18" charset="0"/>
              </a:rPr>
              <a:t>y</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err="1">
                <a:solidFill>
                  <a:schemeClr val="tx1"/>
                </a:solidFill>
                <a:effectLst/>
                <a:latin typeface="Times New Roman" panose="02020603050405020304" pitchFamily="18" charset="0"/>
                <a:cs typeface="Times New Roman" panose="02020603050405020304" pitchFamily="18" charset="0"/>
              </a:rPr>
              <a:t>p</a:t>
            </a:r>
            <a:r>
              <a:rPr lang="en-US" sz="1100" b="1" i="1" dirty="0" err="1">
                <a:solidFill>
                  <a:schemeClr val="tx1"/>
                </a:solidFill>
                <a:effectLst/>
                <a:latin typeface="Times New Roman" panose="02020603050405020304" pitchFamily="18" charset="0"/>
                <a:cs typeface="Times New Roman" panose="02020603050405020304" pitchFamily="18" charset="0"/>
              </a:rPr>
              <a:t>z</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err="1">
                <a:solidFill>
                  <a:schemeClr val="tx1"/>
                </a:solidFill>
                <a:effectLst/>
                <a:latin typeface="Times New Roman" panose="02020603050405020304" pitchFamily="18" charset="0"/>
                <a:cs typeface="Times New Roman" panose="02020603050405020304" pitchFamily="18" charset="0"/>
              </a:rPr>
              <a:t>d</a:t>
            </a:r>
            <a:r>
              <a:rPr lang="en-US" sz="1100" b="1" i="1" dirty="0" err="1">
                <a:solidFill>
                  <a:schemeClr val="tx1"/>
                </a:solidFill>
                <a:effectLst/>
                <a:latin typeface="Times New Roman" panose="02020603050405020304" pitchFamily="18" charset="0"/>
                <a:cs typeface="Times New Roman" panose="02020603050405020304" pitchFamily="18" charset="0"/>
              </a:rPr>
              <a:t>xy</a:t>
            </a:r>
            <a:r>
              <a:rPr lang="en-US" b="1" dirty="0">
                <a:solidFill>
                  <a:schemeClr val="tx1"/>
                </a:solidFill>
                <a:effectLst/>
                <a:latin typeface="Times New Roman" panose="02020603050405020304" pitchFamily="18" charset="0"/>
                <a:cs typeface="Times New Roman" panose="02020603050405020304" pitchFamily="18" charset="0"/>
              </a:rPr>
              <a:t>, …)</a:t>
            </a:r>
          </a:p>
        </p:txBody>
      </p:sp>
      <p:sp>
        <p:nvSpPr>
          <p:cNvPr id="89" name="TextBox 88">
            <a:extLst>
              <a:ext uri="{FF2B5EF4-FFF2-40B4-BE49-F238E27FC236}">
                <a16:creationId xmlns:a16="http://schemas.microsoft.com/office/drawing/2014/main" id="{B457C21A-DAD3-4281-8637-6D884C8E33C1}"/>
              </a:ext>
            </a:extLst>
          </p:cNvPr>
          <p:cNvSpPr txBox="1"/>
          <p:nvPr/>
        </p:nvSpPr>
        <p:spPr>
          <a:xfrm>
            <a:off x="7596770" y="1575620"/>
            <a:ext cx="3117483" cy="369332"/>
          </a:xfrm>
          <a:prstGeom prst="rect">
            <a:avLst/>
          </a:prstGeom>
          <a:noFill/>
        </p:spPr>
        <p:txBody>
          <a:bodyPr wrap="square">
            <a:spAutoFit/>
          </a:bodyPr>
          <a:lstStyle/>
          <a:p>
            <a:pPr algn="just"/>
            <a:r>
              <a:rPr lang="en-US" b="1" i="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 d</a:t>
            </a:r>
            <a:r>
              <a:rPr lang="en-US" b="1" dirty="0">
                <a:solidFill>
                  <a:schemeClr val="tx1"/>
                </a:solidFill>
                <a:effectLst/>
                <a:latin typeface="Times New Roman" panose="02020603050405020304" pitchFamily="18" charset="0"/>
                <a:cs typeface="Times New Roman" panose="02020603050405020304" pitchFamily="18" charset="0"/>
              </a:rPr>
              <a:t>ifferent position in space</a:t>
            </a:r>
          </a:p>
        </p:txBody>
      </p:sp>
      <mc:AlternateContent xmlns:mc="http://schemas.openxmlformats.org/markup-compatibility/2006" xmlns:a14="http://schemas.microsoft.com/office/drawing/2010/main">
        <mc:Choice Requires="a14">
          <p:graphicFrame>
            <p:nvGraphicFramePr>
              <p:cNvPr id="95" name="Table 95">
                <a:extLst>
                  <a:ext uri="{FF2B5EF4-FFF2-40B4-BE49-F238E27FC236}">
                    <a16:creationId xmlns:a16="http://schemas.microsoft.com/office/drawing/2014/main" id="{47DBD30B-E293-442A-9569-042696C1A919}"/>
                  </a:ext>
                </a:extLst>
              </p:cNvPr>
              <p:cNvGraphicFramePr>
                <a:graphicFrameLocks noGrp="1"/>
              </p:cNvGraphicFramePr>
              <p:nvPr>
                <p:extLst>
                  <p:ext uri="{D42A27DB-BD31-4B8C-83A1-F6EECF244321}">
                    <p14:modId xmlns:p14="http://schemas.microsoft.com/office/powerpoint/2010/main" val="3743933654"/>
                  </p:ext>
                </p:extLst>
              </p:nvPr>
            </p:nvGraphicFramePr>
            <p:xfrm>
              <a:off x="6829270" y="2943703"/>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𝟏𝟏</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𝟐𝟏</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𝒊</m:t>
                                    </m:r>
                                    <m:r>
                                      <a:rPr lang="en-US" b="1" i="1" smtClean="0">
                                        <a:solidFill>
                                          <a:schemeClr val="tx1"/>
                                        </a:solidFill>
                                        <a:latin typeface="Cambria Math" panose="02040503050406030204" pitchFamily="18" charset="0"/>
                                        <a:ea typeface="Cambria Math" panose="02040503050406030204" pitchFamily="18" charset="0"/>
                                      </a:rPr>
                                      <m:t>𝜶</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95" name="Table 95">
                <a:extLst>
                  <a:ext uri="{FF2B5EF4-FFF2-40B4-BE49-F238E27FC236}">
                    <a16:creationId xmlns:a16="http://schemas.microsoft.com/office/drawing/2014/main" id="{47DBD30B-E293-442A-9569-042696C1A919}"/>
                  </a:ext>
                </a:extLst>
              </p:cNvPr>
              <p:cNvGraphicFramePr>
                <a:graphicFrameLocks noGrp="1"/>
              </p:cNvGraphicFramePr>
              <p:nvPr>
                <p:extLst>
                  <p:ext uri="{D42A27DB-BD31-4B8C-83A1-F6EECF244321}">
                    <p14:modId xmlns:p14="http://schemas.microsoft.com/office/powerpoint/2010/main" val="3743933654"/>
                  </p:ext>
                </p:extLst>
              </p:nvPr>
            </p:nvGraphicFramePr>
            <p:xfrm>
              <a:off x="6829270" y="2943703"/>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0"/>
                          <a:stretch>
                            <a:fillRect l="-870" t="-775" r="-3478" b="-300000"/>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0"/>
                          <a:stretch>
                            <a:fillRect l="-870" t="-101563" r="-3478" b="-202344"/>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0"/>
                          <a:stretch>
                            <a:fillRect l="-870" t="-200000" r="-3478" b="-100775"/>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0"/>
                          <a:stretch>
                            <a:fillRect l="-870" t="-302344"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6" name="Table 95">
                <a:extLst>
                  <a:ext uri="{FF2B5EF4-FFF2-40B4-BE49-F238E27FC236}">
                    <a16:creationId xmlns:a16="http://schemas.microsoft.com/office/drawing/2014/main" id="{7EE65E81-975A-4E98-9CA8-A47072DD40EF}"/>
                  </a:ext>
                </a:extLst>
              </p:cNvPr>
              <p:cNvGraphicFramePr>
                <a:graphicFrameLocks noGrp="1"/>
              </p:cNvGraphicFramePr>
              <p:nvPr>
                <p:extLst>
                  <p:ext uri="{D42A27DB-BD31-4B8C-83A1-F6EECF244321}">
                    <p14:modId xmlns:p14="http://schemas.microsoft.com/office/powerpoint/2010/main" val="2018984995"/>
                  </p:ext>
                </p:extLst>
              </p:nvPr>
            </p:nvGraphicFramePr>
            <p:xfrm>
              <a:off x="7515358" y="2943703"/>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𝒊</m:t>
                                    </m:r>
                                    <m:r>
                                      <a:rPr lang="en-US" b="1" i="1" smtClean="0">
                                        <a:solidFill>
                                          <a:schemeClr val="tx1"/>
                                        </a:solidFill>
                                        <a:latin typeface="Cambria Math" panose="02040503050406030204" pitchFamily="18" charset="0"/>
                                        <a:ea typeface="Cambria Math" panose="02040503050406030204" pitchFamily="18" charset="0"/>
                                      </a:rPr>
                                      <m:t>𝜷</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96" name="Table 95">
                <a:extLst>
                  <a:ext uri="{FF2B5EF4-FFF2-40B4-BE49-F238E27FC236}">
                    <a16:creationId xmlns:a16="http://schemas.microsoft.com/office/drawing/2014/main" id="{7EE65E81-975A-4E98-9CA8-A47072DD40EF}"/>
                  </a:ext>
                </a:extLst>
              </p:cNvPr>
              <p:cNvGraphicFramePr>
                <a:graphicFrameLocks noGrp="1"/>
              </p:cNvGraphicFramePr>
              <p:nvPr>
                <p:extLst>
                  <p:ext uri="{D42A27DB-BD31-4B8C-83A1-F6EECF244321}">
                    <p14:modId xmlns:p14="http://schemas.microsoft.com/office/powerpoint/2010/main" val="2018984995"/>
                  </p:ext>
                </p:extLst>
              </p:nvPr>
            </p:nvGraphicFramePr>
            <p:xfrm>
              <a:off x="7515358" y="2943703"/>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1"/>
                          <a:stretch>
                            <a:fillRect l="-870" t="-775" r="-3478" b="-300000"/>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1"/>
                          <a:stretch>
                            <a:fillRect l="-870" t="-101563" r="-3478" b="-202344"/>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1"/>
                          <a:stretch>
                            <a:fillRect l="-870" t="-200000" r="-3478" b="-100775"/>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1"/>
                          <a:stretch>
                            <a:fillRect l="-870" t="-302344"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7" name="Table 96">
                <a:extLst>
                  <a:ext uri="{FF2B5EF4-FFF2-40B4-BE49-F238E27FC236}">
                    <a16:creationId xmlns:a16="http://schemas.microsoft.com/office/drawing/2014/main" id="{CEAA6EC9-BAD3-4DCA-9974-4D64851756D2}"/>
                  </a:ext>
                </a:extLst>
              </p:cNvPr>
              <p:cNvGraphicFramePr>
                <a:graphicFrameLocks noGrp="1"/>
              </p:cNvGraphicFramePr>
              <p:nvPr>
                <p:extLst>
                  <p:ext uri="{D42A27DB-BD31-4B8C-83A1-F6EECF244321}">
                    <p14:modId xmlns:p14="http://schemas.microsoft.com/office/powerpoint/2010/main" val="951834012"/>
                  </p:ext>
                </p:extLst>
              </p:nvPr>
            </p:nvGraphicFramePr>
            <p:xfrm>
              <a:off x="8209212" y="2953034"/>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97" name="Table 96">
                <a:extLst>
                  <a:ext uri="{FF2B5EF4-FFF2-40B4-BE49-F238E27FC236}">
                    <a16:creationId xmlns:a16="http://schemas.microsoft.com/office/drawing/2014/main" id="{CEAA6EC9-BAD3-4DCA-9974-4D64851756D2}"/>
                  </a:ext>
                </a:extLst>
              </p:cNvPr>
              <p:cNvGraphicFramePr>
                <a:graphicFrameLocks noGrp="1"/>
              </p:cNvGraphicFramePr>
              <p:nvPr>
                <p:extLst>
                  <p:ext uri="{D42A27DB-BD31-4B8C-83A1-F6EECF244321}">
                    <p14:modId xmlns:p14="http://schemas.microsoft.com/office/powerpoint/2010/main" val="951834012"/>
                  </p:ext>
                </p:extLst>
              </p:nvPr>
            </p:nvGraphicFramePr>
            <p:xfrm>
              <a:off x="8209212" y="2953034"/>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2"/>
                          <a:stretch>
                            <a:fillRect l="-870" t="-781" r="-3478" b="-302344"/>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2"/>
                          <a:stretch>
                            <a:fillRect l="-870" t="-100000" r="-3478" b="-200000"/>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2"/>
                          <a:stretch>
                            <a:fillRect l="-870" t="-201563" r="-3478" b="-101563"/>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2"/>
                          <a:stretch>
                            <a:fillRect l="-870" t="-301563"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8" name="Table 97">
                <a:extLst>
                  <a:ext uri="{FF2B5EF4-FFF2-40B4-BE49-F238E27FC236}">
                    <a16:creationId xmlns:a16="http://schemas.microsoft.com/office/drawing/2014/main" id="{F564DF5D-0C5B-465E-A376-632404AE7F69}"/>
                  </a:ext>
                </a:extLst>
              </p:cNvPr>
              <p:cNvGraphicFramePr>
                <a:graphicFrameLocks noGrp="1"/>
              </p:cNvGraphicFramePr>
              <p:nvPr>
                <p:extLst>
                  <p:ext uri="{D42A27DB-BD31-4B8C-83A1-F6EECF244321}">
                    <p14:modId xmlns:p14="http://schemas.microsoft.com/office/powerpoint/2010/main" val="3543261055"/>
                  </p:ext>
                </p:extLst>
              </p:nvPr>
            </p:nvGraphicFramePr>
            <p:xfrm>
              <a:off x="8909462" y="2952725"/>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𝒊</m:t>
                                    </m:r>
                                    <m:r>
                                      <a:rPr lang="en-US" b="1" i="1" smtClean="0">
                                        <a:solidFill>
                                          <a:schemeClr val="tx1"/>
                                        </a:solidFill>
                                        <a:latin typeface="Cambria Math" panose="02040503050406030204" pitchFamily="18" charset="0"/>
                                        <a:ea typeface="Cambria Math" panose="02040503050406030204" pitchFamily="18" charset="0"/>
                                      </a:rPr>
                                      <m:t>𝜸</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98" name="Table 97">
                <a:extLst>
                  <a:ext uri="{FF2B5EF4-FFF2-40B4-BE49-F238E27FC236}">
                    <a16:creationId xmlns:a16="http://schemas.microsoft.com/office/drawing/2014/main" id="{F564DF5D-0C5B-465E-A376-632404AE7F69}"/>
                  </a:ext>
                </a:extLst>
              </p:cNvPr>
              <p:cNvGraphicFramePr>
                <a:graphicFrameLocks noGrp="1"/>
              </p:cNvGraphicFramePr>
              <p:nvPr>
                <p:extLst>
                  <p:ext uri="{D42A27DB-BD31-4B8C-83A1-F6EECF244321}">
                    <p14:modId xmlns:p14="http://schemas.microsoft.com/office/powerpoint/2010/main" val="3543261055"/>
                  </p:ext>
                </p:extLst>
              </p:nvPr>
            </p:nvGraphicFramePr>
            <p:xfrm>
              <a:off x="8909462" y="2952725"/>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3"/>
                          <a:stretch>
                            <a:fillRect l="-870" t="-781" r="-3478" b="-302344"/>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3"/>
                          <a:stretch>
                            <a:fillRect l="-870" t="-100000" r="-3478" b="-200000"/>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3"/>
                          <a:stretch>
                            <a:fillRect l="-870" t="-201563" r="-3478" b="-101563"/>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3"/>
                          <a:stretch>
                            <a:fillRect l="-870" t="-301563" r="-3478" b="-1563"/>
                          </a:stretch>
                        </a:blipFill>
                      </a:tcPr>
                    </a:tc>
                    <a:extLst>
                      <a:ext uri="{0D108BD9-81ED-4DB2-BD59-A6C34878D82A}">
                        <a16:rowId xmlns:a16="http://schemas.microsoft.com/office/drawing/2014/main" val="2866282081"/>
                      </a:ext>
                    </a:extLst>
                  </a:tr>
                </a:tbl>
              </a:graphicData>
            </a:graphic>
          </p:graphicFrame>
        </mc:Fallback>
      </mc:AlternateContent>
      <p:cxnSp>
        <p:nvCxnSpPr>
          <p:cNvPr id="100" name="Straight Connector 99">
            <a:extLst>
              <a:ext uri="{FF2B5EF4-FFF2-40B4-BE49-F238E27FC236}">
                <a16:creationId xmlns:a16="http://schemas.microsoft.com/office/drawing/2014/main" id="{BE3729C8-2322-464E-8CA4-8D8EA0DF9B96}"/>
              </a:ext>
            </a:extLst>
          </p:cNvPr>
          <p:cNvCxnSpPr/>
          <p:nvPr/>
        </p:nvCxnSpPr>
        <p:spPr>
          <a:xfrm>
            <a:off x="6829270" y="3163095"/>
            <a:ext cx="0" cy="2705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a:extLst>
              <a:ext uri="{FF2B5EF4-FFF2-40B4-BE49-F238E27FC236}">
                <a16:creationId xmlns:a16="http://schemas.microsoft.com/office/drawing/2014/main" id="{6DC0E87C-C438-4278-B529-6867CBEB3242}"/>
              </a:ext>
            </a:extLst>
          </p:cNvPr>
          <p:cNvCxnSpPr/>
          <p:nvPr/>
        </p:nvCxnSpPr>
        <p:spPr>
          <a:xfrm>
            <a:off x="9591131" y="3158750"/>
            <a:ext cx="0" cy="2705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03" name="TextBox 102">
                <a:extLst>
                  <a:ext uri="{FF2B5EF4-FFF2-40B4-BE49-F238E27FC236}">
                    <a16:creationId xmlns:a16="http://schemas.microsoft.com/office/drawing/2014/main" id="{4F89F7D9-5046-4695-B6B5-EC7929C82484}"/>
                  </a:ext>
                </a:extLst>
              </p:cNvPr>
              <p:cNvSpPr txBox="1"/>
              <p:nvPr/>
            </p:nvSpPr>
            <p:spPr>
              <a:xfrm>
                <a:off x="5897338" y="4268030"/>
                <a:ext cx="926154" cy="369332"/>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r>
                        <m:rPr>
                          <m:sty m:val="p"/>
                        </m:rPr>
                        <a:rPr lang="el-GR" b="1" i="1" smtClean="0">
                          <a:solidFill>
                            <a:schemeClr val="tx1"/>
                          </a:solidFill>
                          <a:effectLst/>
                          <a:latin typeface="Cambria Math" panose="02040503050406030204" pitchFamily="18" charset="0"/>
                          <a:cs typeface="Times New Roman" panose="02020603050405020304" pitchFamily="18" charset="0"/>
                        </a:rPr>
                        <m:t>Ψ</m:t>
                      </m:r>
                      <m:d>
                        <m:dPr>
                          <m:ctrlPr>
                            <a:rPr lang="en-US" b="1" i="1" smtClean="0">
                              <a:solidFill>
                                <a:schemeClr val="tx1"/>
                              </a:solidFill>
                              <a:effectLst/>
                              <a:latin typeface="Cambria Math" panose="02040503050406030204" pitchFamily="18" charset="0"/>
                              <a:cs typeface="Times New Roman" panose="02020603050405020304" pitchFamily="18" charset="0"/>
                            </a:rPr>
                          </m:ctrlPr>
                        </m:dPr>
                        <m:e>
                          <m:r>
                            <a:rPr lang="en-US" b="1" i="1" smtClean="0">
                              <a:solidFill>
                                <a:schemeClr val="tx1"/>
                              </a:solidFill>
                              <a:effectLst/>
                              <a:latin typeface="Cambria Math" panose="02040503050406030204" pitchFamily="18" charset="0"/>
                              <a:cs typeface="Times New Roman" panose="02020603050405020304" pitchFamily="18" charset="0"/>
                            </a:rPr>
                            <m:t>𝒓</m:t>
                          </m:r>
                        </m:e>
                      </m:d>
                      <m:r>
                        <a:rPr lang="en-US" b="1" i="1" smtClean="0">
                          <a:solidFill>
                            <a:schemeClr val="tx1"/>
                          </a:solidFill>
                          <a:effectLst/>
                          <a:latin typeface="Cambria Math" panose="02040503050406030204" pitchFamily="18" charset="0"/>
                          <a:cs typeface="Times New Roman" panose="02020603050405020304" pitchFamily="18" charset="0"/>
                        </a:rPr>
                        <m:t>=</m:t>
                      </m:r>
                    </m:oMath>
                  </m:oMathPara>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103" name="TextBox 102">
                <a:extLst>
                  <a:ext uri="{FF2B5EF4-FFF2-40B4-BE49-F238E27FC236}">
                    <a16:creationId xmlns:a16="http://schemas.microsoft.com/office/drawing/2014/main" id="{4F89F7D9-5046-4695-B6B5-EC7929C82484}"/>
                  </a:ext>
                </a:extLst>
              </p:cNvPr>
              <p:cNvSpPr txBox="1">
                <a:spLocks noRot="1" noChangeAspect="1" noMove="1" noResize="1" noEditPoints="1" noAdjustHandles="1" noChangeArrowheads="1" noChangeShapeType="1" noTextEdit="1"/>
              </p:cNvSpPr>
              <p:nvPr/>
            </p:nvSpPr>
            <p:spPr>
              <a:xfrm>
                <a:off x="5897338" y="4268030"/>
                <a:ext cx="926154" cy="369332"/>
              </a:xfrm>
              <a:prstGeom prst="rect">
                <a:avLst/>
              </a:prstGeom>
              <a:blipFill>
                <a:blip r:embed="rId14"/>
                <a:stretch>
                  <a:fillRect/>
                </a:stretch>
              </a:blipFill>
            </p:spPr>
            <p:txBody>
              <a:bodyPr/>
              <a:lstStyle/>
              <a:p>
                <a:r>
                  <a:rPr lang="en-US">
                    <a:noFill/>
                  </a:rPr>
                  <a:t> </a:t>
                </a:r>
              </a:p>
            </p:txBody>
          </p:sp>
        </mc:Fallback>
      </mc:AlternateContent>
      <p:cxnSp>
        <p:nvCxnSpPr>
          <p:cNvPr id="104" name="Straight Arrow Connector 103">
            <a:extLst>
              <a:ext uri="{FF2B5EF4-FFF2-40B4-BE49-F238E27FC236}">
                <a16:creationId xmlns:a16="http://schemas.microsoft.com/office/drawing/2014/main" id="{A8FDDE28-ABBB-4D2D-A118-27D88F9C4576}"/>
              </a:ext>
            </a:extLst>
          </p:cNvPr>
          <p:cNvCxnSpPr>
            <a:cxnSpLocks/>
          </p:cNvCxnSpPr>
          <p:nvPr/>
        </p:nvCxnSpPr>
        <p:spPr>
          <a:xfrm>
            <a:off x="5427414" y="2538862"/>
            <a:ext cx="1236610" cy="1372237"/>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a:extLst>
              <a:ext uri="{FF2B5EF4-FFF2-40B4-BE49-F238E27FC236}">
                <a16:creationId xmlns:a16="http://schemas.microsoft.com/office/drawing/2014/main" id="{A8CA0ED3-BD54-4034-87EC-9DDACC82C35C}"/>
              </a:ext>
            </a:extLst>
          </p:cNvPr>
          <p:cNvSpPr txBox="1"/>
          <p:nvPr/>
        </p:nvSpPr>
        <p:spPr>
          <a:xfrm>
            <a:off x="4536026" y="3040314"/>
            <a:ext cx="1481216" cy="369332"/>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Matrix Form</a:t>
            </a:r>
            <a:endParaRPr lang="en-US" b="1" dirty="0">
              <a:solidFill>
                <a:schemeClr val="tx1"/>
              </a:solidFill>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9" name="TextBox 108">
                <a:extLst>
                  <a:ext uri="{FF2B5EF4-FFF2-40B4-BE49-F238E27FC236}">
                    <a16:creationId xmlns:a16="http://schemas.microsoft.com/office/drawing/2014/main" id="{3F1CD142-C382-497E-AE14-61B3DEA1D4DE}"/>
                  </a:ext>
                </a:extLst>
              </p:cNvPr>
              <p:cNvSpPr txBox="1"/>
              <p:nvPr/>
            </p:nvSpPr>
            <p:spPr>
              <a:xfrm>
                <a:off x="7056509" y="2664772"/>
                <a:ext cx="1704936" cy="369332"/>
              </a:xfrm>
              <a:prstGeom prst="rect">
                <a:avLst/>
              </a:prstGeom>
              <a:noFill/>
            </p:spPr>
            <p:txBody>
              <a:bodyPr wrap="square">
                <a:spAutoFit/>
              </a:bodyPr>
              <a:lstStyle/>
              <a:p>
                <a:pPr algn="just"/>
                <a:r>
                  <a:rPr lang="en-US" b="1" i="1" dirty="0">
                    <a:solidFill>
                      <a:schemeClr val="tx1"/>
                    </a:solidFill>
                    <a:effectLst/>
                    <a:latin typeface="Times New Roman" panose="02020603050405020304" pitchFamily="18" charset="0"/>
                    <a:cs typeface="Times New Roman" panose="02020603050405020304" pitchFamily="18" charset="0"/>
                  </a:rPr>
                  <a:t>s</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a:solidFill>
                      <a:schemeClr val="tx1"/>
                    </a:solidFill>
                    <a:effectLst/>
                    <a:latin typeface="Times New Roman" panose="02020603050405020304" pitchFamily="18" charset="0"/>
                    <a:cs typeface="Times New Roman" panose="02020603050405020304" pitchFamily="18" charset="0"/>
                  </a:rPr>
                  <a:t>p</a:t>
                </a:r>
                <a:r>
                  <a:rPr lang="en-US" sz="1100" b="1" i="1" dirty="0">
                    <a:solidFill>
                      <a:schemeClr val="tx1"/>
                    </a:solidFill>
                    <a:effectLst/>
                    <a:latin typeface="Times New Roman" panose="02020603050405020304" pitchFamily="18" charset="0"/>
                    <a:cs typeface="Times New Roman" panose="02020603050405020304" pitchFamily="18" charset="0"/>
                  </a:rPr>
                  <a:t>x</a:t>
                </a:r>
                <a:r>
                  <a:rPr lang="en-US" b="1" dirty="0">
                    <a:solidFill>
                      <a:schemeClr val="tx1"/>
                    </a:solidFill>
                    <a:effectLst/>
                    <a:latin typeface="Times New Roman" panose="02020603050405020304" pitchFamily="18" charset="0"/>
                    <a:cs typeface="Times New Roman" panose="02020603050405020304" pitchFamily="18" charset="0"/>
                  </a:rPr>
                  <a:t> ,      </a:t>
                </a:r>
                <a14:m>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9" name="TextBox 108">
                <a:extLst>
                  <a:ext uri="{FF2B5EF4-FFF2-40B4-BE49-F238E27FC236}">
                    <a16:creationId xmlns:a16="http://schemas.microsoft.com/office/drawing/2014/main" id="{3F1CD142-C382-497E-AE14-61B3DEA1D4DE}"/>
                  </a:ext>
                </a:extLst>
              </p:cNvPr>
              <p:cNvSpPr txBox="1">
                <a:spLocks noRot="1" noChangeAspect="1" noMove="1" noResize="1" noEditPoints="1" noAdjustHandles="1" noChangeArrowheads="1" noChangeShapeType="1" noTextEdit="1"/>
              </p:cNvSpPr>
              <p:nvPr/>
            </p:nvSpPr>
            <p:spPr>
              <a:xfrm>
                <a:off x="7056509" y="2664772"/>
                <a:ext cx="1704936" cy="369332"/>
              </a:xfrm>
              <a:prstGeom prst="rect">
                <a:avLst/>
              </a:prstGeom>
              <a:blipFill>
                <a:blip r:embed="rId15"/>
                <a:stretch>
                  <a:fillRect l="-3226"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48273110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BD3A3029-BDF9-40F7-B6A0-F60E8E3D1862}"/>
              </a:ext>
            </a:extLst>
          </p:cNvPr>
          <p:cNvPicPr>
            <a:picLocks noChangeAspect="1"/>
          </p:cNvPicPr>
          <p:nvPr/>
        </p:nvPicPr>
        <p:blipFill>
          <a:blip r:embed="rId2">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7" name="Rectangle 6">
            <a:extLst>
              <a:ext uri="{FF2B5EF4-FFF2-40B4-BE49-F238E27FC236}">
                <a16:creationId xmlns:a16="http://schemas.microsoft.com/office/drawing/2014/main" id="{A5257F49-8016-44C6-B361-FBFAF42C9BC3}"/>
              </a:ext>
            </a:extLst>
          </p:cNvPr>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D20F3C7-2FC3-4AF9-991A-7FA79CD80F1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9" name="Slide Number Placeholder 2">
            <a:extLst>
              <a:ext uri="{FF2B5EF4-FFF2-40B4-BE49-F238E27FC236}">
                <a16:creationId xmlns:a16="http://schemas.microsoft.com/office/drawing/2014/main" id="{B6BD37A9-D919-45A4-91FA-3AA973CA5B82}"/>
              </a:ext>
            </a:extLst>
          </p:cNvPr>
          <p:cNvSpPr txBox="1">
            <a:spLocks/>
          </p:cNvSpPr>
          <p:nvPr/>
        </p:nvSpPr>
        <p:spPr>
          <a:xfrm>
            <a:off x="11751732" y="6643166"/>
            <a:ext cx="443643" cy="21483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pPr/>
              <a:t>7</a:t>
            </a:fld>
            <a:endParaRPr lang="en-US" sz="1600" b="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469A371-3746-4C49-AC28-2724C5970AF4}"/>
                  </a:ext>
                </a:extLst>
              </p:cNvPr>
              <p:cNvSpPr txBox="1"/>
              <p:nvPr/>
            </p:nvSpPr>
            <p:spPr>
              <a:xfrm>
                <a:off x="1828801" y="1297469"/>
                <a:ext cx="8845419" cy="403957"/>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Schrödinger Equation to Matrix Form: </a:t>
                </a:r>
                <a14:m>
                  <m:oMath xmlns:m="http://schemas.openxmlformats.org/officeDocument/2006/math">
                    <m:r>
                      <a:rPr lang="en-US" b="1" i="1" smtClean="0">
                        <a:latin typeface="Cambria Math" panose="02040503050406030204" pitchFamily="18" charset="0"/>
                        <a:cs typeface="Times New Roman" panose="02020603050405020304" pitchFamily="18" charset="0"/>
                      </a:rPr>
                      <m:t>𝑯</m:t>
                    </m:r>
                    <m:r>
                      <a:rPr lang="en-US" b="1" i="1" smtClean="0">
                        <a:latin typeface="Cambria Math" panose="02040503050406030204" pitchFamily="18" charset="0"/>
                        <a:cs typeface="Times New Roman" panose="02020603050405020304" pitchFamily="18" charset="0"/>
                      </a:rPr>
                      <m:t>|</m:t>
                    </m:r>
                    <m:d>
                      <m:dPr>
                        <m:begChr m:val=""/>
                        <m:endChr m:val="⟩"/>
                        <m:ctrlPr>
                          <a:rPr lang="en-US" b="1" i="1" smtClean="0">
                            <a:latin typeface="Cambria Math" panose="02040503050406030204" pitchFamily="18" charset="0"/>
                            <a:cs typeface="Times New Roman" panose="02020603050405020304" pitchFamily="18" charset="0"/>
                          </a:rPr>
                        </m:ctrlPr>
                      </m:dPr>
                      <m:e>
                        <m:r>
                          <m:rPr>
                            <m:sty m:val="p"/>
                          </m:rPr>
                          <a:rPr lang="el-GR" b="1" i="1" smtClean="0">
                            <a:latin typeface="Cambria Math" panose="02040503050406030204" pitchFamily="18" charset="0"/>
                            <a:cs typeface="Times New Roman" panose="02020603050405020304" pitchFamily="18" charset="0"/>
                          </a:rPr>
                          <m:t>Ψ</m:t>
                        </m:r>
                      </m:e>
                    </m:d>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cs typeface="Times New Roman" panose="02020603050405020304" pitchFamily="18" charset="0"/>
                      </a:rPr>
                      <m:t>𝑬</m:t>
                    </m:r>
                    <m:r>
                      <a:rPr lang="en-US" b="1" i="1" smtClean="0">
                        <a:latin typeface="Cambria Math" panose="02040503050406030204" pitchFamily="18" charset="0"/>
                        <a:cs typeface="Times New Roman" panose="02020603050405020304" pitchFamily="18" charset="0"/>
                      </a:rPr>
                      <m:t>|</m:t>
                    </m:r>
                    <m:d>
                      <m:dPr>
                        <m:begChr m:val=""/>
                        <m:endChr m:val="⟩"/>
                        <m:ctrlPr>
                          <a:rPr lang="en-US" b="1" i="1" smtClean="0">
                            <a:latin typeface="Cambria Math" panose="02040503050406030204" pitchFamily="18" charset="0"/>
                            <a:cs typeface="Times New Roman" panose="02020603050405020304" pitchFamily="18" charset="0"/>
                          </a:rPr>
                        </m:ctrlPr>
                      </m:dPr>
                      <m:e>
                        <m:r>
                          <m:rPr>
                            <m:sty m:val="p"/>
                          </m:rPr>
                          <a:rPr lang="el-GR" b="1" i="1" smtClean="0">
                            <a:latin typeface="Cambria Math" panose="02040503050406030204" pitchFamily="18" charset="0"/>
                            <a:cs typeface="Times New Roman" panose="02020603050405020304" pitchFamily="18" charset="0"/>
                          </a:rPr>
                          <m:t>Ψ</m:t>
                        </m:r>
                      </m:e>
                    </m:d>
                  </m:oMath>
                </a14:m>
                <a:r>
                  <a:rPr lang="en-US" b="1" dirty="0">
                    <a:solidFill>
                      <a:schemeClr val="tx1"/>
                    </a:solidFill>
                    <a:effectLst/>
                    <a:latin typeface="Times New Roman" panose="02020603050405020304" pitchFamily="18" charset="0"/>
                    <a:cs typeface="Times New Roman" panose="02020603050405020304" pitchFamily="18" charset="0"/>
                  </a:rPr>
                  <a:t>   →   </a:t>
                </a:r>
                <a14:m>
                  <m:oMath xmlns:m="http://schemas.openxmlformats.org/officeDocument/2006/math">
                    <m:nary>
                      <m:naryPr>
                        <m:chr m:val="∑"/>
                        <m:supHide m:val="on"/>
                        <m:ctrlPr>
                          <a:rPr lang="en-US" b="1" i="1" dirty="0" smtClean="0">
                            <a:solidFill>
                              <a:schemeClr val="tx1"/>
                            </a:solidFill>
                            <a:effectLst/>
                            <a:latin typeface="Cambria Math" panose="02040503050406030204" pitchFamily="18" charset="0"/>
                            <a:cs typeface="Times New Roman" panose="02020603050405020304" pitchFamily="18" charset="0"/>
                          </a:rPr>
                        </m:ctrlPr>
                      </m:naryPr>
                      <m:sub>
                        <m:r>
                          <m:rPr>
                            <m:brk m:alnAt="7"/>
                          </m:rPr>
                          <a:rPr lang="en-US" b="1" i="1" dirty="0" smtClean="0">
                            <a:solidFill>
                              <a:schemeClr val="tx1"/>
                            </a:solidFill>
                            <a:effectLst/>
                            <a:latin typeface="Cambria Math" panose="02040503050406030204" pitchFamily="18" charset="0"/>
                            <a:cs typeface="Times New Roman" panose="02020603050405020304" pitchFamily="18" charset="0"/>
                          </a:rPr>
                          <m:t>𝒋</m:t>
                        </m:r>
                        <m:r>
                          <a:rPr lang="en-US" b="1" i="1" dirty="0" smtClean="0">
                            <a:solidFill>
                              <a:schemeClr val="tx1"/>
                            </a:solidFill>
                            <a:effectLst/>
                            <a:latin typeface="Cambria Math" panose="02040503050406030204" pitchFamily="18" charset="0"/>
                            <a:cs typeface="Times New Roman" panose="02020603050405020304" pitchFamily="18" charset="0"/>
                          </a:rPr>
                          <m:t>,</m:t>
                        </m:r>
                        <m:r>
                          <m:rPr>
                            <m:sty m:val="p"/>
                          </m:rPr>
                          <a:rPr lang="el-GR" b="1" i="1" dirty="0" smtClean="0">
                            <a:solidFill>
                              <a:schemeClr val="tx1"/>
                            </a:solidFill>
                            <a:effectLst/>
                            <a:latin typeface="Cambria Math" panose="02040503050406030204" pitchFamily="18" charset="0"/>
                            <a:cs typeface="Times New Roman" panose="02020603050405020304" pitchFamily="18" charset="0"/>
                          </a:rPr>
                          <m:t>ν</m:t>
                        </m:r>
                      </m:sub>
                      <m:sup/>
                      <m:e>
                        <m:sSub>
                          <m:sSubPr>
                            <m:ctrlPr>
                              <a:rPr lang="en-US" b="1" i="1" dirty="0" smtClean="0">
                                <a:solidFill>
                                  <a:schemeClr val="tx1"/>
                                </a:solidFill>
                                <a:effectLst/>
                                <a:latin typeface="Cambria Math" panose="02040503050406030204" pitchFamily="18" charset="0"/>
                                <a:cs typeface="Times New Roman" panose="02020603050405020304" pitchFamily="18" charset="0"/>
                              </a:rPr>
                            </m:ctrlPr>
                          </m:sSubPr>
                          <m:e>
                            <m:r>
                              <a:rPr lang="en-US" b="1" i="1" dirty="0" smtClean="0">
                                <a:solidFill>
                                  <a:schemeClr val="tx1"/>
                                </a:solidFill>
                                <a:effectLst/>
                                <a:latin typeface="Cambria Math" panose="02040503050406030204" pitchFamily="18" charset="0"/>
                                <a:cs typeface="Times New Roman" panose="02020603050405020304" pitchFamily="18" charset="0"/>
                              </a:rPr>
                              <m:t>𝒄</m:t>
                            </m:r>
                          </m:e>
                          <m:sub>
                            <m:r>
                              <a:rPr lang="en-US" b="1" i="1" dirty="0" smtClean="0">
                                <a:solidFill>
                                  <a:schemeClr val="tx1"/>
                                </a:solidFill>
                                <a:effectLst/>
                                <a:latin typeface="Cambria Math" panose="02040503050406030204" pitchFamily="18" charset="0"/>
                                <a:cs typeface="Times New Roman" panose="02020603050405020304" pitchFamily="18" charset="0"/>
                              </a:rPr>
                              <m:t>𝒋</m:t>
                            </m:r>
                            <m:r>
                              <m:rPr>
                                <m:sty m:val="p"/>
                              </m:rPr>
                              <a:rPr lang="el-GR" b="1" i="1" dirty="0" smtClean="0">
                                <a:solidFill>
                                  <a:schemeClr val="tx1"/>
                                </a:solidFill>
                                <a:effectLst/>
                                <a:latin typeface="Cambria Math" panose="02040503050406030204" pitchFamily="18" charset="0"/>
                                <a:cs typeface="Times New Roman" panose="02020603050405020304" pitchFamily="18" charset="0"/>
                              </a:rPr>
                              <m:t>ν</m:t>
                            </m:r>
                          </m:sub>
                        </m:sSub>
                        <m:sSub>
                          <m:sSubPr>
                            <m:ctrlPr>
                              <a:rPr lang="en-US" b="1" i="1" dirty="0" smtClean="0">
                                <a:solidFill>
                                  <a:schemeClr val="tx1"/>
                                </a:solidFill>
                                <a:effectLst/>
                                <a:latin typeface="Cambria Math" panose="02040503050406030204" pitchFamily="18" charset="0"/>
                                <a:cs typeface="Times New Roman" panose="02020603050405020304" pitchFamily="18" charset="0"/>
                              </a:rPr>
                            </m:ctrlPr>
                          </m:sSubPr>
                          <m:e>
                            <m:r>
                              <a:rPr lang="en-US" b="1" i="1" dirty="0" smtClean="0">
                                <a:solidFill>
                                  <a:schemeClr val="tx1"/>
                                </a:solidFill>
                                <a:effectLst/>
                                <a:latin typeface="Cambria Math" panose="02040503050406030204" pitchFamily="18" charset="0"/>
                                <a:cs typeface="Times New Roman" panose="02020603050405020304" pitchFamily="18" charset="0"/>
                              </a:rPr>
                              <m:t>𝑯</m:t>
                            </m:r>
                          </m:e>
                          <m:sub>
                            <m:r>
                              <a:rPr lang="en-US" b="1" i="1" dirty="0" smtClean="0">
                                <a:solidFill>
                                  <a:schemeClr val="tx1"/>
                                </a:solidFill>
                                <a:effectLst/>
                                <a:latin typeface="Cambria Math" panose="02040503050406030204" pitchFamily="18" charset="0"/>
                                <a:cs typeface="Times New Roman" panose="02020603050405020304" pitchFamily="18" charset="0"/>
                              </a:rPr>
                              <m:t>𝒊</m:t>
                            </m:r>
                            <m:r>
                              <a:rPr lang="en-US" b="1" i="1" dirty="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𝜶</m:t>
                            </m:r>
                            <m:r>
                              <a:rPr lang="en-US" b="1" i="1" dirty="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m:t>
                            </m:r>
                            <m:r>
                              <a:rPr lang="en-US" b="1" i="1" dirty="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dirty="0" smtClean="0">
                                <a:solidFill>
                                  <a:schemeClr val="tx1"/>
                                </a:solidFill>
                                <a:effectLst/>
                                <a:latin typeface="Cambria Math" panose="02040503050406030204" pitchFamily="18" charset="0"/>
                                <a:ea typeface="Cambria Math" panose="02040503050406030204" pitchFamily="18" charset="0"/>
                                <a:cs typeface="Times New Roman" panose="02020603050405020304" pitchFamily="18" charset="0"/>
                              </a:rPr>
                              <m:t>ν</m:t>
                            </m:r>
                          </m:sub>
                        </m:sSub>
                      </m:e>
                    </m:nary>
                    <m:r>
                      <a:rPr lang="en-US" b="1" i="1" dirty="0" smtClean="0">
                        <a:solidFill>
                          <a:schemeClr val="tx1"/>
                        </a:solidFill>
                        <a:effectLst/>
                        <a:latin typeface="Cambria Math" panose="02040503050406030204" pitchFamily="18" charset="0"/>
                        <a:cs typeface="Times New Roman" panose="02020603050405020304" pitchFamily="18" charset="0"/>
                      </a:rPr>
                      <m:t>=</m:t>
                    </m:r>
                    <m:r>
                      <a:rPr lang="en-US" b="1" i="1" dirty="0" smtClean="0">
                        <a:solidFill>
                          <a:schemeClr val="tx1"/>
                        </a:solidFill>
                        <a:effectLst/>
                        <a:latin typeface="Cambria Math" panose="02040503050406030204" pitchFamily="18" charset="0"/>
                        <a:cs typeface="Times New Roman" panose="02020603050405020304" pitchFamily="18" charset="0"/>
                      </a:rPr>
                      <m:t>𝑬</m:t>
                    </m:r>
                    <m:nary>
                      <m:naryPr>
                        <m:chr m:val="∑"/>
                        <m:supHide m:val="on"/>
                        <m:ctrlPr>
                          <a:rPr lang="en-US" b="1" i="1" dirty="0" smtClean="0">
                            <a:solidFill>
                              <a:schemeClr val="tx1"/>
                            </a:solidFill>
                            <a:effectLst/>
                            <a:latin typeface="Cambria Math" panose="02040503050406030204" pitchFamily="18" charset="0"/>
                            <a:cs typeface="Times New Roman" panose="02020603050405020304" pitchFamily="18" charset="0"/>
                          </a:rPr>
                        </m:ctrlPr>
                      </m:naryPr>
                      <m:sub>
                        <m:r>
                          <m:rPr>
                            <m:brk m:alnAt="7"/>
                          </m:rPr>
                          <a:rPr lang="en-US" b="1" i="1" dirty="0" smtClean="0">
                            <a:solidFill>
                              <a:schemeClr val="tx1"/>
                            </a:solidFill>
                            <a:effectLst/>
                            <a:latin typeface="Cambria Math" panose="02040503050406030204" pitchFamily="18" charset="0"/>
                            <a:cs typeface="Times New Roman" panose="02020603050405020304" pitchFamily="18" charset="0"/>
                          </a:rPr>
                          <m:t>𝒋</m:t>
                        </m:r>
                        <m:r>
                          <a:rPr lang="en-US" b="1" i="1" dirty="0" smtClean="0">
                            <a:solidFill>
                              <a:schemeClr val="tx1"/>
                            </a:solidFill>
                            <a:effectLst/>
                            <a:latin typeface="Cambria Math" panose="02040503050406030204" pitchFamily="18" charset="0"/>
                            <a:cs typeface="Times New Roman" panose="02020603050405020304" pitchFamily="18" charset="0"/>
                          </a:rPr>
                          <m:t>,</m:t>
                        </m:r>
                        <m:r>
                          <m:rPr>
                            <m:sty m:val="p"/>
                          </m:rPr>
                          <a:rPr lang="el-GR" b="1" i="1" dirty="0" smtClean="0">
                            <a:solidFill>
                              <a:schemeClr val="tx1"/>
                            </a:solidFill>
                            <a:effectLst/>
                            <a:latin typeface="Cambria Math" panose="02040503050406030204" pitchFamily="18" charset="0"/>
                            <a:cs typeface="Times New Roman" panose="02020603050405020304" pitchFamily="18" charset="0"/>
                          </a:rPr>
                          <m:t>ν</m:t>
                        </m:r>
                      </m:sub>
                      <m:sup/>
                      <m:e>
                        <m:sSub>
                          <m:sSubPr>
                            <m:ctrlPr>
                              <a:rPr lang="en-US" b="1" i="1" dirty="0">
                                <a:latin typeface="Cambria Math" panose="02040503050406030204" pitchFamily="18" charset="0"/>
                                <a:cs typeface="Times New Roman" panose="02020603050405020304" pitchFamily="18" charset="0"/>
                              </a:rPr>
                            </m:ctrlPr>
                          </m:sSubPr>
                          <m:e>
                            <m:r>
                              <a:rPr lang="en-US" b="1" i="1" dirty="0">
                                <a:latin typeface="Cambria Math" panose="02040503050406030204" pitchFamily="18" charset="0"/>
                                <a:cs typeface="Times New Roman" panose="02020603050405020304" pitchFamily="18" charset="0"/>
                              </a:rPr>
                              <m:t>𝒄</m:t>
                            </m:r>
                          </m:e>
                          <m:sub>
                            <m:r>
                              <a:rPr lang="en-US" b="1" i="1" dirty="0">
                                <a:latin typeface="Cambria Math" panose="02040503050406030204" pitchFamily="18" charset="0"/>
                                <a:cs typeface="Times New Roman" panose="02020603050405020304" pitchFamily="18" charset="0"/>
                              </a:rPr>
                              <m:t>𝒋</m:t>
                            </m:r>
                            <m:r>
                              <m:rPr>
                                <m:sty m:val="p"/>
                              </m:rPr>
                              <a:rPr lang="el-GR" b="1" i="1" dirty="0">
                                <a:latin typeface="Cambria Math" panose="02040503050406030204" pitchFamily="18" charset="0"/>
                                <a:cs typeface="Times New Roman" panose="02020603050405020304" pitchFamily="18" charset="0"/>
                              </a:rPr>
                              <m:t>ν</m:t>
                            </m:r>
                          </m:sub>
                        </m:sSub>
                        <m:sSub>
                          <m:sSubPr>
                            <m:ctrlPr>
                              <a:rPr lang="en-US" b="1" i="1" dirty="0">
                                <a:latin typeface="Cambria Math" panose="02040503050406030204" pitchFamily="18" charset="0"/>
                                <a:cs typeface="Times New Roman" panose="02020603050405020304" pitchFamily="18" charset="0"/>
                              </a:rPr>
                            </m:ctrlPr>
                          </m:sSubPr>
                          <m:e>
                            <m:r>
                              <a:rPr lang="en-US" b="1" i="1" dirty="0" smtClean="0">
                                <a:latin typeface="Cambria Math" panose="02040503050406030204" pitchFamily="18" charset="0"/>
                                <a:cs typeface="Times New Roman" panose="02020603050405020304" pitchFamily="18" charset="0"/>
                              </a:rPr>
                              <m:t>𝑺</m:t>
                            </m:r>
                          </m:e>
                          <m:sub>
                            <m:r>
                              <a:rPr lang="en-US" b="1" i="1" dirty="0">
                                <a:latin typeface="Cambria Math" panose="02040503050406030204" pitchFamily="18" charset="0"/>
                                <a:cs typeface="Times New Roman" panose="02020603050405020304" pitchFamily="18" charset="0"/>
                              </a:rPr>
                              <m:t>𝒊</m:t>
                            </m:r>
                            <m:r>
                              <a:rPr 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b="1" i="1" dirty="0">
                                <a:latin typeface="Cambria Math" panose="02040503050406030204" pitchFamily="18" charset="0"/>
                                <a:ea typeface="Cambria Math" panose="02040503050406030204" pitchFamily="18" charset="0"/>
                                <a:cs typeface="Times New Roman" panose="02020603050405020304" pitchFamily="18" charset="0"/>
                              </a:rPr>
                              <m:t>,</m:t>
                            </m:r>
                            <m:r>
                              <a:rPr lang="en-US" b="1" i="1" dirty="0">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dirty="0">
                                <a:latin typeface="Cambria Math" panose="02040503050406030204" pitchFamily="18" charset="0"/>
                                <a:ea typeface="Cambria Math" panose="02040503050406030204" pitchFamily="18" charset="0"/>
                                <a:cs typeface="Times New Roman" panose="02020603050405020304" pitchFamily="18" charset="0"/>
                              </a:rPr>
                              <m:t>ν</m:t>
                            </m:r>
                          </m:sub>
                        </m:sSub>
                      </m:e>
                    </m:nary>
                  </m:oMath>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37" name="TextBox 36">
                <a:extLst>
                  <a:ext uri="{FF2B5EF4-FFF2-40B4-BE49-F238E27FC236}">
                    <a16:creationId xmlns:a16="http://schemas.microsoft.com/office/drawing/2014/main" id="{E469A371-3746-4C49-AC28-2724C5970AF4}"/>
                  </a:ext>
                </a:extLst>
              </p:cNvPr>
              <p:cNvSpPr txBox="1">
                <a:spLocks noRot="1" noChangeAspect="1" noMove="1" noResize="1" noEditPoints="1" noAdjustHandles="1" noChangeArrowheads="1" noChangeShapeType="1" noTextEdit="1"/>
              </p:cNvSpPr>
              <p:nvPr/>
            </p:nvSpPr>
            <p:spPr>
              <a:xfrm>
                <a:off x="1828801" y="1297469"/>
                <a:ext cx="8845419" cy="403957"/>
              </a:xfrm>
              <a:prstGeom prst="rect">
                <a:avLst/>
              </a:prstGeom>
              <a:blipFill>
                <a:blip r:embed="rId4"/>
                <a:stretch>
                  <a:fillRect l="-551" t="-109091" b="-163636"/>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E472AAEF-3C89-42DD-90E1-3D0D6B626D13}"/>
              </a:ext>
            </a:extLst>
          </p:cNvPr>
          <p:cNvSpPr txBox="1"/>
          <p:nvPr/>
        </p:nvSpPr>
        <p:spPr>
          <a:xfrm>
            <a:off x="1746776" y="95101"/>
            <a:ext cx="9254066"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 </a:t>
            </a:r>
            <a:r>
              <a:rPr lang="en-US" sz="2800" b="1" dirty="0">
                <a:latin typeface="Times New Roman" panose="02020603050405020304" pitchFamily="18" charset="0"/>
                <a:cs typeface="Times New Roman" panose="02020603050405020304" pitchFamily="18" charset="0"/>
              </a:rPr>
              <a:t>Mathematical Formulation: The LCAO Basis Expansion</a:t>
            </a:r>
            <a:endParaRPr lang="en-US" sz="2800" b="1" dirty="0">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3A5A2102-36BC-4477-ADC2-4333D880965E}"/>
                  </a:ext>
                </a:extLst>
              </p:cNvPr>
              <p:cNvSpPr txBox="1"/>
              <p:nvPr/>
            </p:nvSpPr>
            <p:spPr>
              <a:xfrm>
                <a:off x="1828801" y="2375500"/>
                <a:ext cx="6352195" cy="415370"/>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Matrix Elements Defined: </a:t>
                </a:r>
                <a14:m>
                  <m:oMath xmlns:m="http://schemas.openxmlformats.org/officeDocument/2006/math">
                    <m:sSub>
                      <m:sSubPr>
                        <m:ctrlPr>
                          <a:rPr lang="en-US" b="1" i="1" dirty="0">
                            <a:latin typeface="Cambria Math" panose="02040503050406030204" pitchFamily="18" charset="0"/>
                            <a:cs typeface="Times New Roman" panose="02020603050405020304" pitchFamily="18" charset="0"/>
                          </a:rPr>
                        </m:ctrlPr>
                      </m:sSubPr>
                      <m:e>
                        <m:r>
                          <a:rPr lang="en-US" b="1" i="1" dirty="0">
                            <a:latin typeface="Cambria Math" panose="02040503050406030204" pitchFamily="18" charset="0"/>
                            <a:cs typeface="Times New Roman" panose="02020603050405020304" pitchFamily="18" charset="0"/>
                          </a:rPr>
                          <m:t>𝑯</m:t>
                        </m:r>
                      </m:e>
                      <m:sub>
                        <m:r>
                          <a:rPr lang="en-US" b="1" i="1" dirty="0">
                            <a:latin typeface="Cambria Math" panose="02040503050406030204" pitchFamily="18" charset="0"/>
                            <a:cs typeface="Times New Roman" panose="02020603050405020304" pitchFamily="18" charset="0"/>
                          </a:rPr>
                          <m:t>𝒊</m:t>
                        </m:r>
                        <m:r>
                          <a:rPr 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b="1" i="1" dirty="0">
                            <a:latin typeface="Cambria Math" panose="02040503050406030204" pitchFamily="18" charset="0"/>
                            <a:ea typeface="Cambria Math" panose="02040503050406030204" pitchFamily="18" charset="0"/>
                            <a:cs typeface="Times New Roman" panose="02020603050405020304" pitchFamily="18" charset="0"/>
                          </a:rPr>
                          <m:t>,</m:t>
                        </m:r>
                        <m:r>
                          <a:rPr lang="en-US" b="1" i="1" dirty="0">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dirty="0">
                            <a:latin typeface="Cambria Math" panose="02040503050406030204" pitchFamily="18" charset="0"/>
                            <a:ea typeface="Cambria Math" panose="02040503050406030204" pitchFamily="18" charset="0"/>
                            <a:cs typeface="Times New Roman" panose="02020603050405020304" pitchFamily="18" charset="0"/>
                          </a:rPr>
                          <m:t>ν</m:t>
                        </m:r>
                      </m:sub>
                    </m:sSub>
                    <m:r>
                      <a:rPr lang="en-US" b="1" i="1" dirty="0" smtClean="0">
                        <a:solidFill>
                          <a:schemeClr val="tx1"/>
                        </a:solidFill>
                        <a:effectLst/>
                        <a:latin typeface="Cambria Math" panose="02040503050406030204" pitchFamily="18" charset="0"/>
                        <a:cs typeface="Times New Roman" panose="02020603050405020304" pitchFamily="18" charset="0"/>
                      </a:rPr>
                      <m:t>=</m:t>
                    </m:r>
                    <m:d>
                      <m:dPr>
                        <m:begChr m:val="⟨"/>
                        <m:endChr m:val="⟩"/>
                        <m:ctrlPr>
                          <a:rPr lang="en-US" b="1" i="1" dirty="0" smtClean="0">
                            <a:solidFill>
                              <a:schemeClr val="tx1"/>
                            </a:solidFill>
                            <a:effectLst/>
                            <a:latin typeface="Cambria Math" panose="02040503050406030204" pitchFamily="18" charset="0"/>
                            <a:cs typeface="Times New Roman" panose="02020603050405020304" pitchFamily="18" charset="0"/>
                          </a:rPr>
                        </m:ctrlPr>
                      </m:dPr>
                      <m:e>
                        <m:sSub>
                          <m:sSubPr>
                            <m:ctrlPr>
                              <a:rPr lang="en-US" b="1" i="1" dirty="0">
                                <a:latin typeface="Cambria Math" panose="02040503050406030204" pitchFamily="18" charset="0"/>
                                <a:cs typeface="Times New Roman" panose="02020603050405020304" pitchFamily="18" charset="0"/>
                              </a:rPr>
                            </m:ctrlPr>
                          </m:sSubPr>
                          <m:e>
                            <m:r>
                              <m:rPr>
                                <m:sty m:val="p"/>
                              </m:rPr>
                              <a:rPr lang="el-GR" b="1" i="1" dirty="0">
                                <a:latin typeface="Cambria Math" panose="02040503050406030204" pitchFamily="18" charset="0"/>
                                <a:cs typeface="Times New Roman" panose="02020603050405020304" pitchFamily="18" charset="0"/>
                              </a:rPr>
                              <m:t>Φ</m:t>
                            </m:r>
                          </m:e>
                          <m:sub>
                            <m:r>
                              <a:rPr lang="en-US" b="1" i="1" dirty="0">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l-GR" b="1" i="1" dirty="0">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a:latin typeface="Cambria Math" panose="02040503050406030204" pitchFamily="18" charset="0"/>
                                    <a:cs typeface="Times New Roman" panose="02020603050405020304" pitchFamily="18" charset="0"/>
                                  </a:rPr>
                                  <m:t>𝒊</m:t>
                                </m:r>
                              </m:sub>
                            </m:sSub>
                          </m:e>
                        </m:d>
                      </m:e>
                      <m:e>
                        <m:r>
                          <a:rPr lang="en-US" b="1" i="1" dirty="0" smtClean="0">
                            <a:solidFill>
                              <a:schemeClr val="tx1"/>
                            </a:solidFill>
                            <a:effectLst/>
                            <a:latin typeface="Cambria Math" panose="02040503050406030204" pitchFamily="18" charset="0"/>
                            <a:cs typeface="Times New Roman" panose="02020603050405020304" pitchFamily="18" charset="0"/>
                          </a:rPr>
                          <m:t>𝑯</m:t>
                        </m:r>
                      </m:e>
                      <m:e>
                        <m:sSub>
                          <m:sSubPr>
                            <m:ctrlPr>
                              <a:rPr lang="en-US" b="1" i="1" dirty="0">
                                <a:latin typeface="Cambria Math" panose="02040503050406030204" pitchFamily="18" charset="0"/>
                                <a:cs typeface="Times New Roman" panose="02020603050405020304" pitchFamily="18" charset="0"/>
                              </a:rPr>
                            </m:ctrlPr>
                          </m:sSubPr>
                          <m:e>
                            <m:r>
                              <m:rPr>
                                <m:sty m:val="p"/>
                              </m:rPr>
                              <a:rPr lang="el-GR" b="1" i="1" dirty="0" smtClean="0">
                                <a:latin typeface="Cambria Math" panose="02040503050406030204" pitchFamily="18" charset="0"/>
                                <a:cs typeface="Times New Roman" panose="02020603050405020304" pitchFamily="18" charset="0"/>
                              </a:rPr>
                              <m:t>Φ</m:t>
                            </m:r>
                          </m:e>
                          <m:sub>
                            <m:r>
                              <m:rPr>
                                <m:sty m:val="p"/>
                              </m:rPr>
                              <a:rPr lang="el-GR" b="1" i="1" dirty="0">
                                <a:latin typeface="Cambria Math" panose="02040503050406030204" pitchFamily="18" charset="0"/>
                                <a:cs typeface="Times New Roman" panose="02020603050405020304" pitchFamily="18" charset="0"/>
                              </a:rPr>
                              <m:t>ν</m:t>
                            </m:r>
                          </m:sub>
                        </m:sSub>
                        <m:d>
                          <m:dPr>
                            <m:ctrlPr>
                              <a:rPr lang="el-GR" b="1" i="1" dirty="0" smtClean="0">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smtClean="0">
                                    <a:solidFill>
                                      <a:schemeClr val="tx1"/>
                                    </a:solidFill>
                                    <a:latin typeface="Cambria Math" panose="02040503050406030204" pitchFamily="18" charset="0"/>
                                    <a:cs typeface="Times New Roman" panose="02020603050405020304" pitchFamily="18" charset="0"/>
                                  </a:rPr>
                                </m:ctrlPr>
                              </m:sSubPr>
                              <m:e>
                                <m:r>
                                  <a:rPr lang="en-US" b="1" i="1">
                                    <a:solidFill>
                                      <a:schemeClr val="tx1"/>
                                    </a:solidFill>
                                    <a:latin typeface="Cambria Math" panose="02040503050406030204" pitchFamily="18" charset="0"/>
                                    <a:cs typeface="Times New Roman" panose="02020603050405020304" pitchFamily="18" charset="0"/>
                                  </a:rPr>
                                  <m:t>𝑹</m:t>
                                </m:r>
                              </m:e>
                              <m:sub>
                                <m:r>
                                  <a:rPr lang="en-US" b="1" i="1" smtClean="0">
                                    <a:solidFill>
                                      <a:schemeClr val="tx1"/>
                                    </a:solidFill>
                                    <a:latin typeface="Cambria Math" panose="02040503050406030204" pitchFamily="18" charset="0"/>
                                    <a:cs typeface="Times New Roman" panose="02020603050405020304" pitchFamily="18" charset="0"/>
                                  </a:rPr>
                                  <m:t>𝒋</m:t>
                                </m:r>
                              </m:sub>
                            </m:sSub>
                          </m:e>
                        </m:d>
                      </m:e>
                    </m:d>
                  </m:oMath>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3A5A2102-36BC-4477-ADC2-4333D880965E}"/>
                  </a:ext>
                </a:extLst>
              </p:cNvPr>
              <p:cNvSpPr txBox="1">
                <a:spLocks noRot="1" noChangeAspect="1" noMove="1" noResize="1" noEditPoints="1" noAdjustHandles="1" noChangeArrowheads="1" noChangeShapeType="1" noTextEdit="1"/>
              </p:cNvSpPr>
              <p:nvPr/>
            </p:nvSpPr>
            <p:spPr>
              <a:xfrm>
                <a:off x="1828801" y="2375500"/>
                <a:ext cx="6352195" cy="415370"/>
              </a:xfrm>
              <a:prstGeom prst="rect">
                <a:avLst/>
              </a:prstGeom>
              <a:blipFill>
                <a:blip r:embed="rId5"/>
                <a:stretch>
                  <a:fillRect l="-768" t="-441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7822A6B0-52E0-4FDA-A09F-31EB0C1C31E0}"/>
                  </a:ext>
                </a:extLst>
              </p:cNvPr>
              <p:cNvSpPr txBox="1"/>
              <p:nvPr/>
            </p:nvSpPr>
            <p:spPr>
              <a:xfrm>
                <a:off x="1828801" y="3524292"/>
                <a:ext cx="5962260" cy="415370"/>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Overlap Matrix Defined: </a:t>
                </a:r>
                <a14:m>
                  <m:oMath xmlns:m="http://schemas.openxmlformats.org/officeDocument/2006/math">
                    <m:sSub>
                      <m:sSubPr>
                        <m:ctrlPr>
                          <a:rPr lang="en-US" b="1" i="1" dirty="0">
                            <a:latin typeface="Cambria Math" panose="02040503050406030204" pitchFamily="18" charset="0"/>
                            <a:cs typeface="Times New Roman" panose="02020603050405020304" pitchFamily="18" charset="0"/>
                          </a:rPr>
                        </m:ctrlPr>
                      </m:sSubPr>
                      <m:e>
                        <m:r>
                          <a:rPr lang="en-US" b="1" i="1" dirty="0" smtClean="0">
                            <a:latin typeface="Cambria Math" panose="02040503050406030204" pitchFamily="18" charset="0"/>
                            <a:cs typeface="Times New Roman" panose="02020603050405020304" pitchFamily="18" charset="0"/>
                          </a:rPr>
                          <m:t>𝑺</m:t>
                        </m:r>
                      </m:e>
                      <m:sub>
                        <m:r>
                          <a:rPr lang="en-US" b="1" i="1" dirty="0">
                            <a:latin typeface="Cambria Math" panose="02040503050406030204" pitchFamily="18" charset="0"/>
                            <a:cs typeface="Times New Roman" panose="02020603050405020304" pitchFamily="18" charset="0"/>
                          </a:rPr>
                          <m:t>𝒊</m:t>
                        </m:r>
                        <m:r>
                          <a:rPr lang="en-US" b="1" i="1" dirty="0">
                            <a:latin typeface="Cambria Math" panose="02040503050406030204" pitchFamily="18" charset="0"/>
                            <a:ea typeface="Cambria Math" panose="02040503050406030204" pitchFamily="18" charset="0"/>
                            <a:cs typeface="Times New Roman" panose="02020603050405020304" pitchFamily="18" charset="0"/>
                          </a:rPr>
                          <m:t>𝜶</m:t>
                        </m:r>
                        <m:r>
                          <a:rPr lang="en-US" b="1" i="1" dirty="0">
                            <a:latin typeface="Cambria Math" panose="02040503050406030204" pitchFamily="18" charset="0"/>
                            <a:ea typeface="Cambria Math" panose="02040503050406030204" pitchFamily="18" charset="0"/>
                            <a:cs typeface="Times New Roman" panose="02020603050405020304" pitchFamily="18" charset="0"/>
                          </a:rPr>
                          <m:t>,</m:t>
                        </m:r>
                        <m:r>
                          <a:rPr lang="en-US" b="1" i="1" dirty="0">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dirty="0">
                            <a:latin typeface="Cambria Math" panose="02040503050406030204" pitchFamily="18" charset="0"/>
                            <a:ea typeface="Cambria Math" panose="02040503050406030204" pitchFamily="18" charset="0"/>
                            <a:cs typeface="Times New Roman" panose="02020603050405020304" pitchFamily="18" charset="0"/>
                          </a:rPr>
                          <m:t>ν</m:t>
                        </m:r>
                      </m:sub>
                    </m:sSub>
                    <m:r>
                      <a:rPr lang="en-US" b="1" i="1" dirty="0" smtClean="0">
                        <a:solidFill>
                          <a:schemeClr val="tx1"/>
                        </a:solidFill>
                        <a:effectLst/>
                        <a:latin typeface="Cambria Math" panose="02040503050406030204" pitchFamily="18" charset="0"/>
                        <a:cs typeface="Times New Roman" panose="02020603050405020304" pitchFamily="18" charset="0"/>
                      </a:rPr>
                      <m:t>=</m:t>
                    </m:r>
                    <m:d>
                      <m:dPr>
                        <m:begChr m:val="⟨"/>
                        <m:endChr m:val="⟩"/>
                        <m:ctrlPr>
                          <a:rPr lang="en-US" b="1" i="1" dirty="0" smtClean="0">
                            <a:solidFill>
                              <a:schemeClr val="tx1"/>
                            </a:solidFill>
                            <a:effectLst/>
                            <a:latin typeface="Cambria Math" panose="02040503050406030204" pitchFamily="18" charset="0"/>
                            <a:cs typeface="Times New Roman" panose="02020603050405020304" pitchFamily="18" charset="0"/>
                          </a:rPr>
                        </m:ctrlPr>
                      </m:dPr>
                      <m:e>
                        <m:sSub>
                          <m:sSubPr>
                            <m:ctrlPr>
                              <a:rPr lang="en-US" b="1" i="1" dirty="0">
                                <a:latin typeface="Cambria Math" panose="02040503050406030204" pitchFamily="18" charset="0"/>
                                <a:cs typeface="Times New Roman" panose="02020603050405020304" pitchFamily="18" charset="0"/>
                              </a:rPr>
                            </m:ctrlPr>
                          </m:sSubPr>
                          <m:e>
                            <m:r>
                              <m:rPr>
                                <m:sty m:val="p"/>
                              </m:rPr>
                              <a:rPr lang="el-GR" b="1" i="1" dirty="0">
                                <a:latin typeface="Cambria Math" panose="02040503050406030204" pitchFamily="18" charset="0"/>
                                <a:cs typeface="Times New Roman" panose="02020603050405020304" pitchFamily="18" charset="0"/>
                              </a:rPr>
                              <m:t>Φ</m:t>
                            </m:r>
                          </m:e>
                          <m:sub>
                            <m:r>
                              <a:rPr lang="en-US" b="1" i="1" dirty="0">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l-GR" b="1" i="1" dirty="0">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a:latin typeface="Cambria Math" panose="02040503050406030204" pitchFamily="18" charset="0"/>
                                    <a:cs typeface="Times New Roman" panose="02020603050405020304" pitchFamily="18" charset="0"/>
                                  </a:rPr>
                                  <m:t>𝒊</m:t>
                                </m:r>
                              </m:sub>
                            </m:sSub>
                          </m:e>
                        </m:d>
                      </m:e>
                      <m:e>
                        <m:sSub>
                          <m:sSubPr>
                            <m:ctrlPr>
                              <a:rPr lang="en-US" b="1" i="1" dirty="0">
                                <a:latin typeface="Cambria Math" panose="02040503050406030204" pitchFamily="18" charset="0"/>
                                <a:cs typeface="Times New Roman" panose="02020603050405020304" pitchFamily="18" charset="0"/>
                              </a:rPr>
                            </m:ctrlPr>
                          </m:sSubPr>
                          <m:e>
                            <m:r>
                              <m:rPr>
                                <m:sty m:val="p"/>
                              </m:rPr>
                              <a:rPr lang="el-GR" b="1" i="1" dirty="0">
                                <a:latin typeface="Cambria Math" panose="02040503050406030204" pitchFamily="18" charset="0"/>
                                <a:cs typeface="Times New Roman" panose="02020603050405020304" pitchFamily="18" charset="0"/>
                              </a:rPr>
                              <m:t>Φ</m:t>
                            </m:r>
                          </m:e>
                          <m:sub>
                            <m:r>
                              <m:rPr>
                                <m:sty m:val="p"/>
                              </m:rPr>
                              <a:rPr lang="el-GR" b="1" i="1" dirty="0">
                                <a:latin typeface="Cambria Math" panose="02040503050406030204" pitchFamily="18" charset="0"/>
                                <a:cs typeface="Times New Roman" panose="02020603050405020304" pitchFamily="18" charset="0"/>
                              </a:rPr>
                              <m:t>ν</m:t>
                            </m:r>
                          </m:sub>
                        </m:sSub>
                        <m:d>
                          <m:dPr>
                            <m:ctrlPr>
                              <a:rPr lang="el-GR" b="1" i="1" dirty="0">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a:latin typeface="Cambria Math" panose="02040503050406030204" pitchFamily="18" charset="0"/>
                                    <a:cs typeface="Times New Roman" panose="02020603050405020304" pitchFamily="18" charset="0"/>
                                  </a:rPr>
                                  <m:t>𝒋</m:t>
                                </m:r>
                              </m:sub>
                            </m:sSub>
                          </m:e>
                        </m:d>
                      </m:e>
                    </m:d>
                  </m:oMath>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7822A6B0-52E0-4FDA-A09F-31EB0C1C31E0}"/>
                  </a:ext>
                </a:extLst>
              </p:cNvPr>
              <p:cNvSpPr txBox="1">
                <a:spLocks noRot="1" noChangeAspect="1" noMove="1" noResize="1" noEditPoints="1" noAdjustHandles="1" noChangeArrowheads="1" noChangeShapeType="1" noTextEdit="1"/>
              </p:cNvSpPr>
              <p:nvPr/>
            </p:nvSpPr>
            <p:spPr>
              <a:xfrm>
                <a:off x="1828801" y="3524292"/>
                <a:ext cx="5962260" cy="415370"/>
              </a:xfrm>
              <a:prstGeom prst="rect">
                <a:avLst/>
              </a:prstGeom>
              <a:blipFill>
                <a:blip r:embed="rId6"/>
                <a:stretch>
                  <a:fillRect l="-818" t="-2941" b="-16176"/>
                </a:stretch>
              </a:blipFill>
            </p:spPr>
            <p:txBody>
              <a:bodyPr/>
              <a:lstStyle/>
              <a:p>
                <a:r>
                  <a:rPr lang="en-US">
                    <a:noFill/>
                  </a:rPr>
                  <a:t> </a:t>
                </a:r>
              </a:p>
            </p:txBody>
          </p:sp>
        </mc:Fallback>
      </mc:AlternateContent>
    </p:spTree>
    <p:extLst>
      <p:ext uri="{BB962C8B-B14F-4D97-AF65-F5344CB8AC3E}">
        <p14:creationId xmlns:p14="http://schemas.microsoft.com/office/powerpoint/2010/main" val="1520194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00A0960-457D-43DB-A948-CB10161603F9}"/>
              </a:ext>
            </a:extLst>
          </p:cNvPr>
          <p:cNvPicPr>
            <a:picLocks noChangeAspect="1"/>
          </p:cNvPicPr>
          <p:nvPr/>
        </p:nvPicPr>
        <p:blipFill>
          <a:blip r:embed="rId2">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7" name="Rectangle 6">
            <a:extLst>
              <a:ext uri="{FF2B5EF4-FFF2-40B4-BE49-F238E27FC236}">
                <a16:creationId xmlns:a16="http://schemas.microsoft.com/office/drawing/2014/main" id="{A5257F49-8016-44C6-B361-FBFAF42C9BC3}"/>
              </a:ext>
            </a:extLst>
          </p:cNvPr>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8D20F3C7-2FC3-4AF9-991A-7FA79CD80F1B}"/>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9" name="Slide Number Placeholder 2">
            <a:extLst>
              <a:ext uri="{FF2B5EF4-FFF2-40B4-BE49-F238E27FC236}">
                <a16:creationId xmlns:a16="http://schemas.microsoft.com/office/drawing/2014/main" id="{B6BD37A9-D919-45A4-91FA-3AA973CA5B82}"/>
              </a:ext>
            </a:extLst>
          </p:cNvPr>
          <p:cNvSpPr txBox="1">
            <a:spLocks/>
          </p:cNvSpPr>
          <p:nvPr/>
        </p:nvSpPr>
        <p:spPr>
          <a:xfrm>
            <a:off x="11751732" y="6643166"/>
            <a:ext cx="443643" cy="214834"/>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pPr/>
              <a:t>8</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47" name="TextBox 46">
            <a:extLst>
              <a:ext uri="{FF2B5EF4-FFF2-40B4-BE49-F238E27FC236}">
                <a16:creationId xmlns:a16="http://schemas.microsoft.com/office/drawing/2014/main" id="{4B3D1DA7-DCA2-4E16-BD3D-ADE1360D777A}"/>
              </a:ext>
            </a:extLst>
          </p:cNvPr>
          <p:cNvSpPr txBox="1"/>
          <p:nvPr/>
        </p:nvSpPr>
        <p:spPr>
          <a:xfrm>
            <a:off x="3489846" y="847589"/>
            <a:ext cx="5113289"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Real-Space Matrix Elements: On-site </a:t>
            </a:r>
            <a:r>
              <a:rPr lang="en-US" b="1" dirty="0" err="1">
                <a:latin typeface="Times New Roman" panose="02020603050405020304" pitchFamily="18" charset="0"/>
                <a:cs typeface="Times New Roman" panose="02020603050405020304" pitchFamily="18" charset="0"/>
              </a:rPr>
              <a:t>v.s</a:t>
            </a:r>
            <a:r>
              <a:rPr lang="en-US" b="1" dirty="0">
                <a:latin typeface="Times New Roman" panose="02020603050405020304" pitchFamily="18" charset="0"/>
                <a:cs typeface="Times New Roman" panose="02020603050405020304" pitchFamily="18" charset="0"/>
              </a:rPr>
              <a:t>. Hopping</a:t>
            </a:r>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F5E248F5-6C53-4824-8C3D-A552AE49A9F1}"/>
                  </a:ext>
                </a:extLst>
              </p:cNvPr>
              <p:cNvSpPr txBox="1"/>
              <p:nvPr/>
            </p:nvSpPr>
            <p:spPr>
              <a:xfrm>
                <a:off x="8449303" y="6156873"/>
                <a:ext cx="396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chemeClr val="bg1"/>
                              </a:solidFill>
                              <a:latin typeface="Cambria Math" panose="02040503050406030204" pitchFamily="18" charset="0"/>
                              <a:cs typeface="Times New Roman" panose="02020603050405020304" pitchFamily="18" charset="0"/>
                            </a:rPr>
                          </m:ctrlPr>
                        </m:sSubPr>
                        <m:e>
                          <m:r>
                            <a:rPr lang="en-US" altLang="zh-CN" b="1" i="1" dirty="0" smtClean="0">
                              <a:solidFill>
                                <a:schemeClr val="bg1"/>
                              </a:solidFill>
                              <a:latin typeface="Cambria Math" panose="02040503050406030204" pitchFamily="18" charset="0"/>
                              <a:cs typeface="Times New Roman" panose="02020603050405020304" pitchFamily="18" charset="0"/>
                            </a:rPr>
                            <m:t>𝒃</m:t>
                          </m:r>
                        </m:e>
                        <m:sub>
                          <m:r>
                            <a:rPr lang="en-US" altLang="zh-CN" b="1" i="1" dirty="0" smtClean="0">
                              <a:solidFill>
                                <a:schemeClr val="bg1"/>
                              </a:solidFill>
                              <a:latin typeface="Cambria Math" panose="02040503050406030204" pitchFamily="18" charset="0"/>
                              <a:cs typeface="Times New Roman" panose="02020603050405020304" pitchFamily="18" charset="0"/>
                            </a:rPr>
                            <m:t>𝟏</m:t>
                          </m:r>
                        </m:sub>
                      </m:sSub>
                    </m:oMath>
                  </m:oMathPara>
                </a14:m>
                <a:endParaRPr lang="en-US" b="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F5E248F5-6C53-4824-8C3D-A552AE49A9F1}"/>
                  </a:ext>
                </a:extLst>
              </p:cNvPr>
              <p:cNvSpPr txBox="1">
                <a:spLocks noRot="1" noChangeAspect="1" noMove="1" noResize="1" noEditPoints="1" noAdjustHandles="1" noChangeArrowheads="1" noChangeShapeType="1" noTextEdit="1"/>
              </p:cNvSpPr>
              <p:nvPr/>
            </p:nvSpPr>
            <p:spPr>
              <a:xfrm>
                <a:off x="8449303" y="6156873"/>
                <a:ext cx="396118"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Box 23">
                <a:extLst>
                  <a:ext uri="{FF2B5EF4-FFF2-40B4-BE49-F238E27FC236}">
                    <a16:creationId xmlns:a16="http://schemas.microsoft.com/office/drawing/2014/main" id="{A10D3F13-41D7-4445-A694-A2FD4BE6D8F1}"/>
                  </a:ext>
                </a:extLst>
              </p:cNvPr>
              <p:cNvSpPr txBox="1"/>
              <p:nvPr/>
            </p:nvSpPr>
            <p:spPr>
              <a:xfrm>
                <a:off x="5726430" y="5537777"/>
                <a:ext cx="39611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chemeClr val="bg1"/>
                              </a:solidFill>
                              <a:latin typeface="Cambria Math" panose="02040503050406030204" pitchFamily="18" charset="0"/>
                              <a:cs typeface="Times New Roman" panose="02020603050405020304" pitchFamily="18" charset="0"/>
                            </a:rPr>
                          </m:ctrlPr>
                        </m:sSubPr>
                        <m:e>
                          <m:r>
                            <a:rPr lang="en-US" altLang="zh-CN" b="1" i="1" dirty="0" smtClean="0">
                              <a:solidFill>
                                <a:schemeClr val="bg1"/>
                              </a:solidFill>
                              <a:latin typeface="Cambria Math" panose="02040503050406030204" pitchFamily="18" charset="0"/>
                              <a:cs typeface="Times New Roman" panose="02020603050405020304" pitchFamily="18" charset="0"/>
                            </a:rPr>
                            <m:t>𝒃</m:t>
                          </m:r>
                        </m:e>
                        <m:sub>
                          <m:r>
                            <a:rPr lang="en-US" altLang="zh-CN" b="1" i="1" dirty="0" smtClean="0">
                              <a:solidFill>
                                <a:schemeClr val="bg1"/>
                              </a:solidFill>
                              <a:latin typeface="Cambria Math" panose="02040503050406030204" pitchFamily="18" charset="0"/>
                              <a:cs typeface="Times New Roman" panose="02020603050405020304" pitchFamily="18" charset="0"/>
                            </a:rPr>
                            <m:t>𝟐</m:t>
                          </m:r>
                        </m:sub>
                      </m:sSub>
                    </m:oMath>
                  </m:oMathPara>
                </a14:m>
                <a:endParaRPr lang="en-US" b="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24" name="TextBox 23">
                <a:extLst>
                  <a:ext uri="{FF2B5EF4-FFF2-40B4-BE49-F238E27FC236}">
                    <a16:creationId xmlns:a16="http://schemas.microsoft.com/office/drawing/2014/main" id="{A10D3F13-41D7-4445-A694-A2FD4BE6D8F1}"/>
                  </a:ext>
                </a:extLst>
              </p:cNvPr>
              <p:cNvSpPr txBox="1">
                <a:spLocks noRot="1" noChangeAspect="1" noMove="1" noResize="1" noEditPoints="1" noAdjustHandles="1" noChangeArrowheads="1" noChangeShapeType="1" noTextEdit="1"/>
              </p:cNvSpPr>
              <p:nvPr/>
            </p:nvSpPr>
            <p:spPr>
              <a:xfrm>
                <a:off x="5726430" y="5537777"/>
                <a:ext cx="396118" cy="369332"/>
              </a:xfrm>
              <a:prstGeom prst="rect">
                <a:avLst/>
              </a:prstGeom>
              <a:blipFill>
                <a:blip r:embed="rId7"/>
                <a:stretch>
                  <a:fillRect b="-163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A75BDD94-18BA-4168-8809-FBB5F2E3C1C8}"/>
                  </a:ext>
                </a:extLst>
              </p:cNvPr>
              <p:cNvSpPr txBox="1"/>
              <p:nvPr/>
            </p:nvSpPr>
            <p:spPr>
              <a:xfrm>
                <a:off x="6653780" y="4889100"/>
                <a:ext cx="45006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altLang="zh-CN" b="1" i="1" dirty="0" smtClean="0">
                              <a:solidFill>
                                <a:schemeClr val="bg1"/>
                              </a:solidFill>
                              <a:latin typeface="Cambria Math" panose="02040503050406030204" pitchFamily="18" charset="0"/>
                              <a:cs typeface="Times New Roman" panose="02020603050405020304" pitchFamily="18" charset="0"/>
                            </a:rPr>
                          </m:ctrlPr>
                        </m:sSubPr>
                        <m:e>
                          <m:r>
                            <a:rPr lang="en-US" altLang="zh-CN" b="1" i="1" dirty="0" smtClean="0">
                              <a:solidFill>
                                <a:schemeClr val="bg1"/>
                              </a:solidFill>
                              <a:latin typeface="Cambria Math" panose="02040503050406030204" pitchFamily="18" charset="0"/>
                              <a:cs typeface="Times New Roman" panose="02020603050405020304" pitchFamily="18" charset="0"/>
                            </a:rPr>
                            <m:t>𝑮</m:t>
                          </m:r>
                        </m:e>
                        <m:sub>
                          <m:r>
                            <a:rPr lang="en-US" altLang="zh-CN" b="1" i="1" dirty="0" smtClean="0">
                              <a:solidFill>
                                <a:schemeClr val="bg1"/>
                              </a:solidFill>
                              <a:latin typeface="Cambria Math" panose="02040503050406030204" pitchFamily="18" charset="0"/>
                              <a:cs typeface="Times New Roman" panose="02020603050405020304" pitchFamily="18" charset="0"/>
                            </a:rPr>
                            <m:t>𝒎</m:t>
                          </m:r>
                        </m:sub>
                      </m:sSub>
                    </m:oMath>
                  </m:oMathPara>
                </a14:m>
                <a:endParaRPr lang="en-US" b="1" dirty="0">
                  <a:solidFill>
                    <a:schemeClr val="bg1"/>
                  </a:solidFill>
                  <a:latin typeface="Times New Roman" panose="02020603050405020304" pitchFamily="18" charset="0"/>
                  <a:cs typeface="Times New Roman" panose="02020603050405020304" pitchFamily="18" charset="0"/>
                </a:endParaRPr>
              </a:p>
            </p:txBody>
          </p:sp>
        </mc:Choice>
        <mc:Fallback xmlns="">
          <p:sp>
            <p:nvSpPr>
              <p:cNvPr id="27" name="TextBox 26">
                <a:extLst>
                  <a:ext uri="{FF2B5EF4-FFF2-40B4-BE49-F238E27FC236}">
                    <a16:creationId xmlns:a16="http://schemas.microsoft.com/office/drawing/2014/main" id="{A75BDD94-18BA-4168-8809-FBB5F2E3C1C8}"/>
                  </a:ext>
                </a:extLst>
              </p:cNvPr>
              <p:cNvSpPr txBox="1">
                <a:spLocks noRot="1" noChangeAspect="1" noMove="1" noResize="1" noEditPoints="1" noAdjustHandles="1" noChangeArrowheads="1" noChangeShapeType="1" noTextEdit="1"/>
              </p:cNvSpPr>
              <p:nvPr/>
            </p:nvSpPr>
            <p:spPr>
              <a:xfrm>
                <a:off x="6653780" y="4889100"/>
                <a:ext cx="450061" cy="369332"/>
              </a:xfrm>
              <a:prstGeom prst="rect">
                <a:avLst/>
              </a:prstGeom>
              <a:blipFill>
                <a:blip r:embed="rId8"/>
                <a:stretch>
                  <a:fillRect r="-1351"/>
                </a:stretch>
              </a:blipFill>
            </p:spPr>
            <p:txBody>
              <a:bodyPr/>
              <a:lstStyle/>
              <a:p>
                <a:r>
                  <a:rPr lang="en-US">
                    <a:noFill/>
                  </a:rPr>
                  <a:t> </a:t>
                </a:r>
              </a:p>
            </p:txBody>
          </p:sp>
        </mc:Fallback>
      </mc:AlternateContent>
      <p:sp>
        <p:nvSpPr>
          <p:cNvPr id="13" name="TextBox 12">
            <a:extLst>
              <a:ext uri="{FF2B5EF4-FFF2-40B4-BE49-F238E27FC236}">
                <a16:creationId xmlns:a16="http://schemas.microsoft.com/office/drawing/2014/main" id="{7B908CDC-6030-4858-B9CB-6F29AC67F6BB}"/>
              </a:ext>
            </a:extLst>
          </p:cNvPr>
          <p:cNvSpPr txBox="1"/>
          <p:nvPr/>
        </p:nvSpPr>
        <p:spPr>
          <a:xfrm>
            <a:off x="1746776" y="95101"/>
            <a:ext cx="9254066"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 </a:t>
            </a:r>
            <a:r>
              <a:rPr lang="en-US" sz="2800" b="1" dirty="0">
                <a:latin typeface="Times New Roman" panose="02020603050405020304" pitchFamily="18" charset="0"/>
                <a:cs typeface="Times New Roman" panose="02020603050405020304" pitchFamily="18" charset="0"/>
              </a:rPr>
              <a:t>Mathematical Formulation: The LCAO Basis Expansion</a:t>
            </a:r>
            <a:endParaRPr lang="en-US" sz="2800" b="1" dirty="0">
              <a:effectLst/>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65C5E70F-EA86-4F73-963E-0B7E7AACF940}"/>
              </a:ext>
            </a:extLst>
          </p:cNvPr>
          <p:cNvSpPr txBox="1"/>
          <p:nvPr/>
        </p:nvSpPr>
        <p:spPr>
          <a:xfrm>
            <a:off x="2789039" y="1734142"/>
            <a:ext cx="2925237"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On-site Energy (</a:t>
            </a:r>
            <a:r>
              <a:rPr lang="en-US" b="1" i="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 </a:t>
            </a:r>
            <a:r>
              <a:rPr lang="en-US" b="1" i="1" dirty="0">
                <a:latin typeface="Times New Roman" panose="02020603050405020304" pitchFamily="18" charset="0"/>
                <a:cs typeface="Times New Roman" panose="02020603050405020304" pitchFamily="18" charset="0"/>
              </a:rPr>
              <a:t>j</a:t>
            </a:r>
            <a:r>
              <a:rPr lang="en-US" b="1" dirty="0">
                <a:latin typeface="Times New Roman" panose="02020603050405020304" pitchFamily="18" charset="0"/>
                <a:cs typeface="Times New Roman" panose="02020603050405020304" pitchFamily="18" charset="0"/>
              </a:rPr>
              <a:t>, </a:t>
            </a:r>
            <a:r>
              <a:rPr lang="el-GR" b="1" i="1" dirty="0">
                <a:latin typeface="Times New Roman" panose="02020603050405020304" pitchFamily="18" charset="0"/>
                <a:cs typeface="Times New Roman" panose="02020603050405020304" pitchFamily="18" charset="0"/>
              </a:rPr>
              <a:t>α</a:t>
            </a:r>
            <a:r>
              <a:rPr lang="en-US" b="1" dirty="0">
                <a:latin typeface="Times New Roman" panose="02020603050405020304" pitchFamily="18" charset="0"/>
                <a:cs typeface="Times New Roman" panose="02020603050405020304" pitchFamily="18" charset="0"/>
              </a:rPr>
              <a:t> = </a:t>
            </a:r>
            <a:r>
              <a:rPr lang="el-GR" b="1" i="1" dirty="0">
                <a:latin typeface="Times New Roman" panose="02020603050405020304" pitchFamily="18" charset="0"/>
                <a:cs typeface="Times New Roman" panose="02020603050405020304" pitchFamily="18" charset="0"/>
              </a:rPr>
              <a:t>ν</a:t>
            </a:r>
            <a:r>
              <a:rPr lang="en-US" b="1" dirty="0">
                <a:latin typeface="Times New Roman" panose="02020603050405020304" pitchFamily="18" charset="0"/>
                <a:cs typeface="Times New Roman" panose="02020603050405020304" pitchFamily="18" charset="0"/>
              </a:rPr>
              <a:t>):</a:t>
            </a: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44F91C7D-5BF9-4A15-A5A6-B9116BCD150F}"/>
                  </a:ext>
                </a:extLst>
              </p:cNvPr>
              <p:cNvSpPr txBox="1"/>
              <p:nvPr/>
            </p:nvSpPr>
            <p:spPr>
              <a:xfrm>
                <a:off x="5624100" y="1744415"/>
                <a:ext cx="4994135" cy="381515"/>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𝑯</m:t>
                          </m:r>
                        </m:e>
                        <m:sub>
                          <m:r>
                            <a:rPr lang="en-US" b="1" i="1" smtClean="0">
                              <a:latin typeface="Cambria Math" panose="02040503050406030204" pitchFamily="18" charset="0"/>
                              <a:cs typeface="Times New Roman" panose="02020603050405020304" pitchFamily="18" charset="0"/>
                            </a:rPr>
                            <m:t>𝒊</m:t>
                          </m:r>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r>
                            <a:rPr lang="en-US" b="1" i="1" smtClean="0">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𝒊</m:t>
                          </m:r>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r>
                        <a:rPr lang="en-US" b="1" i="1" smtClean="0">
                          <a:latin typeface="Cambria Math" panose="02040503050406030204" pitchFamily="18" charset="0"/>
                          <a:cs typeface="Times New Roman" panose="02020603050405020304" pitchFamily="18" charset="0"/>
                        </a:rPr>
                        <m:t>=</m:t>
                      </m:r>
                      <m:d>
                        <m:dPr>
                          <m:begChr m:val="⟨"/>
                          <m:endChr m:val="⟩"/>
                          <m:ctrlPr>
                            <a:rPr lang="en-US" b="1" i="1" smtClean="0">
                              <a:latin typeface="Cambria Math" panose="02040503050406030204" pitchFamily="18" charset="0"/>
                              <a:cs typeface="Times New Roman" panose="02020603050405020304" pitchFamily="18" charset="0"/>
                            </a:rPr>
                          </m:ctrlPr>
                        </m:dPr>
                        <m:e>
                          <m:sSub>
                            <m:sSubPr>
                              <m:ctrlPr>
                                <a:rPr lang="en-US" b="1" i="1" smtClean="0">
                                  <a:latin typeface="Cambria Math" panose="02040503050406030204" pitchFamily="18" charset="0"/>
                                  <a:cs typeface="Times New Roman" panose="02020603050405020304" pitchFamily="18" charset="0"/>
                                </a:rPr>
                              </m:ctrlPr>
                            </m:sSubPr>
                            <m:e>
                              <m:r>
                                <m:rPr>
                                  <m:sty m:val="p"/>
                                </m:rPr>
                                <a:rPr lang="el-GR" b="1" i="1" smtClean="0">
                                  <a:latin typeface="Cambria Math" panose="02040503050406030204" pitchFamily="18" charset="0"/>
                                  <a:cs typeface="Times New Roman" panose="02020603050405020304" pitchFamily="18" charset="0"/>
                                </a:rPr>
                                <m:t>Φ</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n-US" b="1" i="1" smtClean="0">
                                  <a:latin typeface="Cambria Math" panose="02040503050406030204" pitchFamily="18" charset="0"/>
                                  <a:cs typeface="Times New Roman" panose="02020603050405020304" pitchFamily="18" charset="0"/>
                                </a:rPr>
                              </m:ctrlPr>
                            </m:dPr>
                            <m:e>
                              <m:r>
                                <a:rPr lang="en-US" b="1" i="1" smtClean="0">
                                  <a:latin typeface="Cambria Math" panose="02040503050406030204" pitchFamily="18" charset="0"/>
                                  <a:cs typeface="Times New Roman" panose="02020603050405020304" pitchFamily="18" charset="0"/>
                                </a:rPr>
                                <m:t>𝒓</m:t>
                              </m:r>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cs typeface="Times New Roman" panose="02020603050405020304" pitchFamily="18" charset="0"/>
                                    </a:rPr>
                                    <m:t>𝒊</m:t>
                                  </m:r>
                                </m:sub>
                              </m:sSub>
                            </m:e>
                          </m:d>
                        </m:e>
                        <m:e>
                          <m:r>
                            <a:rPr lang="en-US" b="1" i="1" smtClean="0">
                              <a:latin typeface="Cambria Math" panose="02040503050406030204" pitchFamily="18" charset="0"/>
                              <a:cs typeface="Times New Roman" panose="02020603050405020304" pitchFamily="18" charset="0"/>
                            </a:rPr>
                            <m:t>𝑯</m:t>
                          </m:r>
                        </m:e>
                        <m:e>
                          <m:sSub>
                            <m:sSubPr>
                              <m:ctrlPr>
                                <a:rPr lang="en-US" b="1" i="1">
                                  <a:latin typeface="Cambria Math" panose="02040503050406030204" pitchFamily="18" charset="0"/>
                                  <a:cs typeface="Times New Roman" panose="02020603050405020304" pitchFamily="18" charset="0"/>
                                </a:rPr>
                              </m:ctrlPr>
                            </m:sSubPr>
                            <m:e>
                              <m:r>
                                <m:rPr>
                                  <m:sty m:val="p"/>
                                </m:rPr>
                                <a:rPr lang="el-GR" b="1" i="1">
                                  <a:latin typeface="Cambria Math" panose="02040503050406030204" pitchFamily="18" charset="0"/>
                                  <a:cs typeface="Times New Roman" panose="02020603050405020304" pitchFamily="18" charset="0"/>
                                </a:rPr>
                                <m:t>Φ</m:t>
                              </m:r>
                            </m:e>
                            <m:sub>
                              <m:r>
                                <a:rPr lang="en-US" b="1" i="1">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n-US" b="1" i="1">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a:latin typeface="Cambria Math" panose="02040503050406030204" pitchFamily="18" charset="0"/>
                                      <a:cs typeface="Times New Roman" panose="02020603050405020304" pitchFamily="18" charset="0"/>
                                    </a:rPr>
                                    <m:t>𝒊</m:t>
                                  </m:r>
                                </m:sub>
                              </m:sSub>
                            </m:e>
                          </m:d>
                        </m:e>
                      </m:d>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ea typeface="Cambria Math" panose="02040503050406030204" pitchFamily="18" charset="0"/>
                              <a:cs typeface="Times New Roman" panose="02020603050405020304" pitchFamily="18" charset="0"/>
                            </a:rPr>
                            <m:t>𝜺</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ea typeface="Cambria Math" panose="02040503050406030204" pitchFamily="18" charset="0"/>
                              <a:cs typeface="Times New Roman" panose="02020603050405020304" pitchFamily="18" charset="0"/>
                            </a:rPr>
                            <m:t>𝜺</m:t>
                          </m:r>
                        </m:e>
                        <m:sub>
                          <m:r>
                            <a:rPr lang="en-US" b="1" i="1">
                              <a:latin typeface="Cambria Math" panose="02040503050406030204" pitchFamily="18" charset="0"/>
                              <a:ea typeface="Cambria Math" panose="02040503050406030204" pitchFamily="18" charset="0"/>
                              <a:cs typeface="Times New Roman" panose="02020603050405020304" pitchFamily="18" charset="0"/>
                            </a:rPr>
                            <m:t>𝜶</m:t>
                          </m:r>
                        </m:sub>
                      </m:sSub>
                    </m:oMath>
                  </m:oMathPara>
                </a14:m>
                <a:endParaRPr lang="en-US" b="1" dirty="0">
                  <a:latin typeface="Times New Roman" panose="02020603050405020304" pitchFamily="18" charset="0"/>
                  <a:cs typeface="Times New Roman" panose="02020603050405020304" pitchFamily="18" charset="0"/>
                </a:endParaRPr>
              </a:p>
            </p:txBody>
          </p:sp>
        </mc:Choice>
        <mc:Fallback xmlns="">
          <p:sp>
            <p:nvSpPr>
              <p:cNvPr id="16" name="TextBox 15">
                <a:extLst>
                  <a:ext uri="{FF2B5EF4-FFF2-40B4-BE49-F238E27FC236}">
                    <a16:creationId xmlns:a16="http://schemas.microsoft.com/office/drawing/2014/main" id="{44F91C7D-5BF9-4A15-A5A6-B9116BCD150F}"/>
                  </a:ext>
                </a:extLst>
              </p:cNvPr>
              <p:cNvSpPr txBox="1">
                <a:spLocks noRot="1" noChangeAspect="1" noMove="1" noResize="1" noEditPoints="1" noAdjustHandles="1" noChangeArrowheads="1" noChangeShapeType="1" noTextEdit="1"/>
              </p:cNvSpPr>
              <p:nvPr/>
            </p:nvSpPr>
            <p:spPr>
              <a:xfrm>
                <a:off x="5624100" y="1744415"/>
                <a:ext cx="4994135" cy="381515"/>
              </a:xfrm>
              <a:prstGeom prst="rect">
                <a:avLst/>
              </a:prstGeom>
              <a:blipFill>
                <a:blip r:embed="rId9"/>
                <a:stretch>
                  <a:fillRect/>
                </a:stretch>
              </a:blipFill>
            </p:spPr>
            <p:txBody>
              <a:bodyPr/>
              <a:lstStyle/>
              <a:p>
                <a:r>
                  <a:rPr lang="en-US">
                    <a:noFill/>
                  </a:rPr>
                  <a:t> </a:t>
                </a:r>
              </a:p>
            </p:txBody>
          </p:sp>
        </mc:Fallback>
      </mc:AlternateContent>
      <p:sp>
        <p:nvSpPr>
          <p:cNvPr id="17" name="TextBox 16">
            <a:extLst>
              <a:ext uri="{FF2B5EF4-FFF2-40B4-BE49-F238E27FC236}">
                <a16:creationId xmlns:a16="http://schemas.microsoft.com/office/drawing/2014/main" id="{04DAC9B8-814A-4C35-B219-D6153BE5387D}"/>
              </a:ext>
            </a:extLst>
          </p:cNvPr>
          <p:cNvSpPr txBox="1"/>
          <p:nvPr/>
        </p:nvSpPr>
        <p:spPr>
          <a:xfrm>
            <a:off x="1746776" y="2238533"/>
            <a:ext cx="9350087"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The energy of an electron residing on its host atom, slightly shifted by the crystal environment</a:t>
            </a:r>
          </a:p>
        </p:txBody>
      </p:sp>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ACE53AA1-870C-4498-97E5-249BE334C18D}"/>
                  </a:ext>
                </a:extLst>
              </p:cNvPr>
              <p:cNvSpPr txBox="1"/>
              <p:nvPr/>
            </p:nvSpPr>
            <p:spPr>
              <a:xfrm>
                <a:off x="4114018" y="4399344"/>
                <a:ext cx="1025977" cy="381515"/>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𝑯</m:t>
                          </m:r>
                        </m:e>
                        <m:sub>
                          <m:r>
                            <a:rPr lang="en-US" b="1" i="1">
                              <a:latin typeface="Cambria Math" panose="02040503050406030204" pitchFamily="18" charset="0"/>
                              <a:cs typeface="Times New Roman" panose="02020603050405020304" pitchFamily="18" charset="0"/>
                            </a:rPr>
                            <m:t>𝒊</m:t>
                          </m:r>
                          <m:r>
                            <a:rPr lang="en-US" b="1" i="1">
                              <a:latin typeface="Cambria Math" panose="02040503050406030204" pitchFamily="18" charset="0"/>
                              <a:ea typeface="Cambria Math" panose="02040503050406030204" pitchFamily="18" charset="0"/>
                              <a:cs typeface="Times New Roman" panose="02020603050405020304" pitchFamily="18" charset="0"/>
                            </a:rPr>
                            <m:t>𝜶</m:t>
                          </m:r>
                          <m:r>
                            <a:rPr lang="en-US" b="1" i="1">
                              <a:latin typeface="Cambria Math" panose="02040503050406030204" pitchFamily="18" charset="0"/>
                              <a:ea typeface="Cambria Math" panose="02040503050406030204" pitchFamily="18" charset="0"/>
                              <a:cs typeface="Times New Roman" panose="02020603050405020304" pitchFamily="18" charset="0"/>
                            </a:rPr>
                            <m:t>,</m:t>
                          </m:r>
                          <m:r>
                            <a:rPr lang="en-US" b="1" i="1">
                              <a:latin typeface="Cambria Math" panose="02040503050406030204" pitchFamily="18" charset="0"/>
                              <a:ea typeface="Cambria Math" panose="02040503050406030204" pitchFamily="18" charset="0"/>
                              <a:cs typeface="Times New Roman" panose="02020603050405020304" pitchFamily="18" charset="0"/>
                            </a:rPr>
                            <m:t>𝒊</m:t>
                          </m:r>
                          <m:r>
                            <a:rPr lang="en-US" b="1" i="1">
                              <a:latin typeface="Cambria Math" panose="02040503050406030204" pitchFamily="18" charset="0"/>
                              <a:ea typeface="Cambria Math" panose="02040503050406030204" pitchFamily="18" charset="0"/>
                              <a:cs typeface="Times New Roman" panose="02020603050405020304" pitchFamily="18" charset="0"/>
                            </a:rPr>
                            <m:t>𝜶</m:t>
                          </m:r>
                        </m:sub>
                      </m:sSub>
                      <m:r>
                        <a:rPr lang="en-US" b="1" i="1" smtClean="0">
                          <a:solidFill>
                            <a:schemeClr val="tx1"/>
                          </a:solidFill>
                          <a:effectLst/>
                          <a:latin typeface="Cambria Math" panose="02040503050406030204" pitchFamily="18" charset="0"/>
                          <a:cs typeface="Times New Roman" panose="02020603050405020304" pitchFamily="18" charset="0"/>
                        </a:rPr>
                        <m:t>=</m:t>
                      </m:r>
                    </m:oMath>
                  </m:oMathPara>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18" name="TextBox 17">
                <a:extLst>
                  <a:ext uri="{FF2B5EF4-FFF2-40B4-BE49-F238E27FC236}">
                    <a16:creationId xmlns:a16="http://schemas.microsoft.com/office/drawing/2014/main" id="{ACE53AA1-870C-4498-97E5-249BE334C18D}"/>
                  </a:ext>
                </a:extLst>
              </p:cNvPr>
              <p:cNvSpPr txBox="1">
                <a:spLocks noRot="1" noChangeAspect="1" noMove="1" noResize="1" noEditPoints="1" noAdjustHandles="1" noChangeArrowheads="1" noChangeShapeType="1" noTextEdit="1"/>
              </p:cNvSpPr>
              <p:nvPr/>
            </p:nvSpPr>
            <p:spPr>
              <a:xfrm>
                <a:off x="4114018" y="4399344"/>
                <a:ext cx="1025977" cy="381515"/>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9" name="Table 95">
                <a:extLst>
                  <a:ext uri="{FF2B5EF4-FFF2-40B4-BE49-F238E27FC236}">
                    <a16:creationId xmlns:a16="http://schemas.microsoft.com/office/drawing/2014/main" id="{7EADF1AF-B190-4781-B1D6-9E4FC0DEFC6F}"/>
                  </a:ext>
                </a:extLst>
              </p:cNvPr>
              <p:cNvGraphicFramePr>
                <a:graphicFrameLocks noGrp="1"/>
              </p:cNvGraphicFramePr>
              <p:nvPr>
                <p:extLst>
                  <p:ext uri="{D42A27DB-BD31-4B8C-83A1-F6EECF244321}">
                    <p14:modId xmlns:p14="http://schemas.microsoft.com/office/powerpoint/2010/main" val="3856774242"/>
                  </p:ext>
                </p:extLst>
              </p:nvPr>
            </p:nvGraphicFramePr>
            <p:xfrm>
              <a:off x="5204299" y="3025067"/>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𝟏𝟏</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19" name="Table 95">
                <a:extLst>
                  <a:ext uri="{FF2B5EF4-FFF2-40B4-BE49-F238E27FC236}">
                    <a16:creationId xmlns:a16="http://schemas.microsoft.com/office/drawing/2014/main" id="{7EADF1AF-B190-4781-B1D6-9E4FC0DEFC6F}"/>
                  </a:ext>
                </a:extLst>
              </p:cNvPr>
              <p:cNvGraphicFramePr>
                <a:graphicFrameLocks noGrp="1"/>
              </p:cNvGraphicFramePr>
              <p:nvPr>
                <p:extLst>
                  <p:ext uri="{D42A27DB-BD31-4B8C-83A1-F6EECF244321}">
                    <p14:modId xmlns:p14="http://schemas.microsoft.com/office/powerpoint/2010/main" val="3856774242"/>
                  </p:ext>
                </p:extLst>
              </p:nvPr>
            </p:nvGraphicFramePr>
            <p:xfrm>
              <a:off x="5204299" y="3025067"/>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1"/>
                          <a:stretch>
                            <a:fillRect l="-870" t="-781" r="-3478" b="-302344"/>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1"/>
                          <a:stretch>
                            <a:fillRect l="-870" t="-100000" r="-3478" b="-200000"/>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1"/>
                          <a:stretch>
                            <a:fillRect l="-870" t="-201563" r="-3478" b="-101563"/>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1"/>
                          <a:stretch>
                            <a:fillRect l="-870" t="-301563"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1" name="Table 20">
                <a:extLst>
                  <a:ext uri="{FF2B5EF4-FFF2-40B4-BE49-F238E27FC236}">
                    <a16:creationId xmlns:a16="http://schemas.microsoft.com/office/drawing/2014/main" id="{621054BA-B3B8-4B1B-96C0-0119FEE2AE96}"/>
                  </a:ext>
                </a:extLst>
              </p:cNvPr>
              <p:cNvGraphicFramePr>
                <a:graphicFrameLocks noGrp="1"/>
              </p:cNvGraphicFramePr>
              <p:nvPr>
                <p:extLst>
                  <p:ext uri="{D42A27DB-BD31-4B8C-83A1-F6EECF244321}">
                    <p14:modId xmlns:p14="http://schemas.microsoft.com/office/powerpoint/2010/main" val="1331065462"/>
                  </p:ext>
                </p:extLst>
              </p:nvPr>
            </p:nvGraphicFramePr>
            <p:xfrm>
              <a:off x="5890387" y="3025067"/>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21" name="Table 20">
                <a:extLst>
                  <a:ext uri="{FF2B5EF4-FFF2-40B4-BE49-F238E27FC236}">
                    <a16:creationId xmlns:a16="http://schemas.microsoft.com/office/drawing/2014/main" id="{621054BA-B3B8-4B1B-96C0-0119FEE2AE96}"/>
                  </a:ext>
                </a:extLst>
              </p:cNvPr>
              <p:cNvGraphicFramePr>
                <a:graphicFrameLocks noGrp="1"/>
              </p:cNvGraphicFramePr>
              <p:nvPr>
                <p:extLst>
                  <p:ext uri="{D42A27DB-BD31-4B8C-83A1-F6EECF244321}">
                    <p14:modId xmlns:p14="http://schemas.microsoft.com/office/powerpoint/2010/main" val="1331065462"/>
                  </p:ext>
                </p:extLst>
              </p:nvPr>
            </p:nvGraphicFramePr>
            <p:xfrm>
              <a:off x="5890387" y="3025067"/>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2"/>
                          <a:stretch>
                            <a:fillRect l="-870" t="-781" r="-3478" b="-302344"/>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2"/>
                          <a:stretch>
                            <a:fillRect l="-870" t="-100000" r="-3478" b="-200000"/>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2"/>
                          <a:stretch>
                            <a:fillRect l="-870" t="-201563" r="-3478" b="-101563"/>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2"/>
                          <a:stretch>
                            <a:fillRect l="-870" t="-301563"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2" name="Table 21">
                <a:extLst>
                  <a:ext uri="{FF2B5EF4-FFF2-40B4-BE49-F238E27FC236}">
                    <a16:creationId xmlns:a16="http://schemas.microsoft.com/office/drawing/2014/main" id="{1EFF284A-9933-46E8-B439-E380979B4B7C}"/>
                  </a:ext>
                </a:extLst>
              </p:cNvPr>
              <p:cNvGraphicFramePr>
                <a:graphicFrameLocks noGrp="1"/>
              </p:cNvGraphicFramePr>
              <p:nvPr>
                <p:extLst>
                  <p:ext uri="{D42A27DB-BD31-4B8C-83A1-F6EECF244321}">
                    <p14:modId xmlns:p14="http://schemas.microsoft.com/office/powerpoint/2010/main" val="3345086774"/>
                  </p:ext>
                </p:extLst>
              </p:nvPr>
            </p:nvGraphicFramePr>
            <p:xfrm>
              <a:off x="6584241" y="3034398"/>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22" name="Table 21">
                <a:extLst>
                  <a:ext uri="{FF2B5EF4-FFF2-40B4-BE49-F238E27FC236}">
                    <a16:creationId xmlns:a16="http://schemas.microsoft.com/office/drawing/2014/main" id="{1EFF284A-9933-46E8-B439-E380979B4B7C}"/>
                  </a:ext>
                </a:extLst>
              </p:cNvPr>
              <p:cNvGraphicFramePr>
                <a:graphicFrameLocks noGrp="1"/>
              </p:cNvGraphicFramePr>
              <p:nvPr>
                <p:extLst>
                  <p:ext uri="{D42A27DB-BD31-4B8C-83A1-F6EECF244321}">
                    <p14:modId xmlns:p14="http://schemas.microsoft.com/office/powerpoint/2010/main" val="3345086774"/>
                  </p:ext>
                </p:extLst>
              </p:nvPr>
            </p:nvGraphicFramePr>
            <p:xfrm>
              <a:off x="6584241" y="3034398"/>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3"/>
                          <a:stretch>
                            <a:fillRect l="-870" t="-775" r="-3478" b="-300000"/>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3"/>
                          <a:stretch>
                            <a:fillRect l="-870" t="-101563" r="-3478" b="-202344"/>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3"/>
                          <a:stretch>
                            <a:fillRect l="-870" t="-200000" r="-3478" b="-100775"/>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3"/>
                          <a:stretch>
                            <a:fillRect l="-870" t="-302344"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23" name="Table 22">
                <a:extLst>
                  <a:ext uri="{FF2B5EF4-FFF2-40B4-BE49-F238E27FC236}">
                    <a16:creationId xmlns:a16="http://schemas.microsoft.com/office/drawing/2014/main" id="{C12A69F2-A0A7-4073-B63E-80631770CAFF}"/>
                  </a:ext>
                </a:extLst>
              </p:cNvPr>
              <p:cNvGraphicFramePr>
                <a:graphicFrameLocks noGrp="1"/>
              </p:cNvGraphicFramePr>
              <p:nvPr>
                <p:extLst>
                  <p:ext uri="{D42A27DB-BD31-4B8C-83A1-F6EECF244321}">
                    <p14:modId xmlns:p14="http://schemas.microsoft.com/office/powerpoint/2010/main" val="589279665"/>
                  </p:ext>
                </p:extLst>
              </p:nvPr>
            </p:nvGraphicFramePr>
            <p:xfrm>
              <a:off x="7284491" y="3034089"/>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𝒊</m:t>
                                    </m:r>
                                    <m:r>
                                      <a:rPr lang="en-US" b="1" i="1" smtClean="0">
                                        <a:solidFill>
                                          <a:schemeClr val="tx1"/>
                                        </a:solidFill>
                                        <a:latin typeface="Cambria Math" panose="02040503050406030204" pitchFamily="18" charset="0"/>
                                        <a:ea typeface="Cambria Math" panose="02040503050406030204" pitchFamily="18" charset="0"/>
                                      </a:rPr>
                                      <m:t>𝜸</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23" name="Table 22">
                <a:extLst>
                  <a:ext uri="{FF2B5EF4-FFF2-40B4-BE49-F238E27FC236}">
                    <a16:creationId xmlns:a16="http://schemas.microsoft.com/office/drawing/2014/main" id="{C12A69F2-A0A7-4073-B63E-80631770CAFF}"/>
                  </a:ext>
                </a:extLst>
              </p:cNvPr>
              <p:cNvGraphicFramePr>
                <a:graphicFrameLocks noGrp="1"/>
              </p:cNvGraphicFramePr>
              <p:nvPr>
                <p:extLst>
                  <p:ext uri="{D42A27DB-BD31-4B8C-83A1-F6EECF244321}">
                    <p14:modId xmlns:p14="http://schemas.microsoft.com/office/powerpoint/2010/main" val="589279665"/>
                  </p:ext>
                </p:extLst>
              </p:nvPr>
            </p:nvGraphicFramePr>
            <p:xfrm>
              <a:off x="7284491" y="3034089"/>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14"/>
                          <a:stretch>
                            <a:fillRect l="-870" t="-781" r="-4348" b="-303125"/>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14"/>
                          <a:stretch>
                            <a:fillRect l="-870" t="-100000" r="-4348" b="-200775"/>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14"/>
                          <a:stretch>
                            <a:fillRect l="-870" t="-201563" r="-4348" b="-102344"/>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14"/>
                          <a:stretch>
                            <a:fillRect l="-870" t="-301563" r="-4348" b="-2344"/>
                          </a:stretch>
                        </a:blipFill>
                      </a:tcPr>
                    </a:tc>
                    <a:extLst>
                      <a:ext uri="{0D108BD9-81ED-4DB2-BD59-A6C34878D82A}">
                        <a16:rowId xmlns:a16="http://schemas.microsoft.com/office/drawing/2014/main" val="2866282081"/>
                      </a:ext>
                    </a:extLst>
                  </a:tr>
                </a:tbl>
              </a:graphicData>
            </a:graphic>
          </p:graphicFrame>
        </mc:Fallback>
      </mc:AlternateContent>
      <p:cxnSp>
        <p:nvCxnSpPr>
          <p:cNvPr id="25" name="Straight Connector 24">
            <a:extLst>
              <a:ext uri="{FF2B5EF4-FFF2-40B4-BE49-F238E27FC236}">
                <a16:creationId xmlns:a16="http://schemas.microsoft.com/office/drawing/2014/main" id="{6F9BCAB7-E465-4B6F-8B24-F2DB4B1C4671}"/>
              </a:ext>
            </a:extLst>
          </p:cNvPr>
          <p:cNvCxnSpPr/>
          <p:nvPr/>
        </p:nvCxnSpPr>
        <p:spPr>
          <a:xfrm>
            <a:off x="5204299" y="3244459"/>
            <a:ext cx="0" cy="2705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3F920234-877F-444E-AF01-5FAA8504419B}"/>
              </a:ext>
            </a:extLst>
          </p:cNvPr>
          <p:cNvCxnSpPr/>
          <p:nvPr/>
        </p:nvCxnSpPr>
        <p:spPr>
          <a:xfrm>
            <a:off x="7966160" y="3240114"/>
            <a:ext cx="0" cy="2705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71949B0D-7312-4199-871F-4E9A27AA4EB3}"/>
                  </a:ext>
                </a:extLst>
              </p:cNvPr>
              <p:cNvSpPr txBox="1"/>
              <p:nvPr/>
            </p:nvSpPr>
            <p:spPr>
              <a:xfrm>
                <a:off x="5431538" y="2746136"/>
                <a:ext cx="1704936" cy="369332"/>
              </a:xfrm>
              <a:prstGeom prst="rect">
                <a:avLst/>
              </a:prstGeom>
              <a:noFill/>
            </p:spPr>
            <p:txBody>
              <a:bodyPr wrap="square">
                <a:spAutoFit/>
              </a:bodyPr>
              <a:lstStyle/>
              <a:p>
                <a:pPr algn="just"/>
                <a:r>
                  <a:rPr lang="en-US" b="1" i="1" dirty="0">
                    <a:solidFill>
                      <a:schemeClr val="tx1"/>
                    </a:solidFill>
                    <a:effectLst/>
                    <a:latin typeface="Times New Roman" panose="02020603050405020304" pitchFamily="18" charset="0"/>
                    <a:cs typeface="Times New Roman" panose="02020603050405020304" pitchFamily="18" charset="0"/>
                  </a:rPr>
                  <a:t>s</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a:solidFill>
                      <a:schemeClr val="tx1"/>
                    </a:solidFill>
                    <a:effectLst/>
                    <a:latin typeface="Times New Roman" panose="02020603050405020304" pitchFamily="18" charset="0"/>
                    <a:cs typeface="Times New Roman" panose="02020603050405020304" pitchFamily="18" charset="0"/>
                  </a:rPr>
                  <a:t>p</a:t>
                </a:r>
                <a:r>
                  <a:rPr lang="en-US" sz="1100" b="1" i="1" dirty="0">
                    <a:solidFill>
                      <a:schemeClr val="tx1"/>
                    </a:solidFill>
                    <a:effectLst/>
                    <a:latin typeface="Times New Roman" panose="02020603050405020304" pitchFamily="18" charset="0"/>
                    <a:cs typeface="Times New Roman" panose="02020603050405020304" pitchFamily="18" charset="0"/>
                  </a:rPr>
                  <a:t>x</a:t>
                </a:r>
                <a:r>
                  <a:rPr lang="en-US" b="1" dirty="0">
                    <a:solidFill>
                      <a:schemeClr val="tx1"/>
                    </a:solidFill>
                    <a:effectLst/>
                    <a:latin typeface="Times New Roman" panose="02020603050405020304" pitchFamily="18" charset="0"/>
                    <a:cs typeface="Times New Roman" panose="02020603050405020304" pitchFamily="18" charset="0"/>
                  </a:rPr>
                  <a:t> ,      </a:t>
                </a:r>
                <a14:m>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8" name="TextBox 27">
                <a:extLst>
                  <a:ext uri="{FF2B5EF4-FFF2-40B4-BE49-F238E27FC236}">
                    <a16:creationId xmlns:a16="http://schemas.microsoft.com/office/drawing/2014/main" id="{71949B0D-7312-4199-871F-4E9A27AA4EB3}"/>
                  </a:ext>
                </a:extLst>
              </p:cNvPr>
              <p:cNvSpPr txBox="1">
                <a:spLocks noRot="1" noChangeAspect="1" noMove="1" noResize="1" noEditPoints="1" noAdjustHandles="1" noChangeArrowheads="1" noChangeShapeType="1" noTextEdit="1"/>
              </p:cNvSpPr>
              <p:nvPr/>
            </p:nvSpPr>
            <p:spPr>
              <a:xfrm>
                <a:off x="5431538" y="2746136"/>
                <a:ext cx="1704936" cy="369332"/>
              </a:xfrm>
              <a:prstGeom prst="rect">
                <a:avLst/>
              </a:prstGeom>
              <a:blipFill>
                <a:blip r:embed="rId15"/>
                <a:stretch>
                  <a:fillRect l="-2857" t="-8197" b="-24590"/>
                </a:stretch>
              </a:blipFill>
            </p:spPr>
            <p:txBody>
              <a:bodyPr/>
              <a:lstStyle/>
              <a:p>
                <a:r>
                  <a:rPr lang="en-US">
                    <a:noFill/>
                  </a:rPr>
                  <a:t> </a:t>
                </a:r>
              </a:p>
            </p:txBody>
          </p:sp>
        </mc:Fallback>
      </mc:AlternateContent>
      <p:sp>
        <p:nvSpPr>
          <p:cNvPr id="2" name="Oval 1">
            <a:extLst>
              <a:ext uri="{FF2B5EF4-FFF2-40B4-BE49-F238E27FC236}">
                <a16:creationId xmlns:a16="http://schemas.microsoft.com/office/drawing/2014/main" id="{DE8AE6C8-49A2-4F22-9EC6-865B59E95F64}"/>
              </a:ext>
            </a:extLst>
          </p:cNvPr>
          <p:cNvSpPr/>
          <p:nvPr/>
        </p:nvSpPr>
        <p:spPr>
          <a:xfrm rot="2936489">
            <a:off x="4624721" y="4354008"/>
            <a:ext cx="3903812" cy="580315"/>
          </a:xfrm>
          <a:prstGeom prst="ellipse">
            <a:avLst/>
          </a:prstGeom>
          <a:solidFill>
            <a:srgbClr val="0070C0">
              <a:alpha val="20000"/>
            </a:srgbClr>
          </a:solidFill>
          <a:ln>
            <a:solidFill>
              <a:srgbClr val="0070C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069581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 name="Slide Number Placeholder 1">
            <a:extLst>
              <a:ext uri="{FF2B5EF4-FFF2-40B4-BE49-F238E27FC236}">
                <a16:creationId xmlns:a16="http://schemas.microsoft.com/office/drawing/2014/main" id="{62595578-6B19-464A-8AA7-6F68494FF4BC}"/>
              </a:ext>
            </a:extLst>
          </p:cNvPr>
          <p:cNvSpPr>
            <a:spLocks noGrp="1"/>
          </p:cNvSpPr>
          <p:nvPr>
            <p:ph type="sldNum" sz="quarter" idx="12"/>
          </p:nvPr>
        </p:nvSpPr>
        <p:spPr>
          <a:xfrm>
            <a:off x="11844866" y="6643166"/>
            <a:ext cx="350509"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9</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19" name="TextBox 18">
            <a:extLst>
              <a:ext uri="{FF2B5EF4-FFF2-40B4-BE49-F238E27FC236}">
                <a16:creationId xmlns:a16="http://schemas.microsoft.com/office/drawing/2014/main" id="{E8932AD8-0360-4AD0-86A2-F797953D581D}"/>
              </a:ext>
            </a:extLst>
          </p:cNvPr>
          <p:cNvSpPr txBox="1"/>
          <p:nvPr/>
        </p:nvSpPr>
        <p:spPr>
          <a:xfrm>
            <a:off x="2497410" y="1105998"/>
            <a:ext cx="2565734"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Hopping Integral (</a:t>
            </a:r>
            <a:r>
              <a:rPr lang="en-US" b="1" i="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 </a:t>
            </a:r>
            <a:r>
              <a:rPr lang="en-US" b="1" i="1" dirty="0">
                <a:latin typeface="Times New Roman" panose="02020603050405020304" pitchFamily="18" charset="0"/>
                <a:cs typeface="Times New Roman" panose="02020603050405020304" pitchFamily="18" charset="0"/>
              </a:rPr>
              <a:t>j</a:t>
            </a:r>
            <a:r>
              <a:rPr lang="en-US" b="1" dirty="0">
                <a:latin typeface="Times New Roman" panose="02020603050405020304" pitchFamily="18" charset="0"/>
                <a:cs typeface="Times New Roman" panose="02020603050405020304" pitchFamily="18" charset="0"/>
              </a:rPr>
              <a:t>):</a:t>
            </a:r>
          </a:p>
        </p:txBody>
      </p:sp>
      <p:sp>
        <p:nvSpPr>
          <p:cNvPr id="10" name="TextBox 9">
            <a:extLst>
              <a:ext uri="{FF2B5EF4-FFF2-40B4-BE49-F238E27FC236}">
                <a16:creationId xmlns:a16="http://schemas.microsoft.com/office/drawing/2014/main" id="{E9860FE8-0344-442E-AED9-2C137A8D8087}"/>
              </a:ext>
            </a:extLst>
          </p:cNvPr>
          <p:cNvSpPr txBox="1"/>
          <p:nvPr/>
        </p:nvSpPr>
        <p:spPr>
          <a:xfrm>
            <a:off x="1746776" y="95101"/>
            <a:ext cx="9254066"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 </a:t>
            </a:r>
            <a:r>
              <a:rPr lang="en-US" sz="2800" b="1" dirty="0">
                <a:latin typeface="Times New Roman" panose="02020603050405020304" pitchFamily="18" charset="0"/>
                <a:cs typeface="Times New Roman" panose="02020603050405020304" pitchFamily="18" charset="0"/>
              </a:rPr>
              <a:t>Mathematical Formulation: The LCAO Basis Expansion</a:t>
            </a:r>
            <a:endParaRPr lang="en-US" sz="2800" b="1" dirty="0">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8927E0A-0EF7-48BC-B594-773185E7FBE2}"/>
                  </a:ext>
                </a:extLst>
              </p:cNvPr>
              <p:cNvSpPr txBox="1"/>
              <p:nvPr/>
            </p:nvSpPr>
            <p:spPr>
              <a:xfrm>
                <a:off x="5063144" y="1105998"/>
                <a:ext cx="5281126" cy="415370"/>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ea typeface="Cambria Math" panose="02040503050406030204" pitchFamily="18" charset="0"/>
                              <a:cs typeface="Times New Roman" panose="02020603050405020304" pitchFamily="18" charset="0"/>
                            </a:rPr>
                            <m:t>𝒕</m:t>
                          </m:r>
                        </m:e>
                        <m:sub>
                          <m:r>
                            <a:rPr lang="en-US" b="1" i="1">
                              <a:latin typeface="Cambria Math" panose="02040503050406030204" pitchFamily="18" charset="0"/>
                              <a:ea typeface="Cambria Math" panose="02040503050406030204" pitchFamily="18" charset="0"/>
                              <a:cs typeface="Times New Roman" panose="02020603050405020304" pitchFamily="18" charset="0"/>
                            </a:rPr>
                            <m:t>𝜶</m:t>
                          </m:r>
                          <m:r>
                            <m:rPr>
                              <m:sty m:val="p"/>
                            </m:rPr>
                            <a:rPr lang="el-GR" b="1" i="1" smtClean="0">
                              <a:latin typeface="Cambria Math" panose="02040503050406030204" pitchFamily="18" charset="0"/>
                              <a:ea typeface="Cambria Math" panose="02040503050406030204" pitchFamily="18" charset="0"/>
                              <a:cs typeface="Times New Roman" panose="02020603050405020304" pitchFamily="18" charset="0"/>
                            </a:rPr>
                            <m:t>ν</m:t>
                          </m:r>
                        </m:sub>
                      </m:sSub>
                      <m:d>
                        <m:dPr>
                          <m:ctrlPr>
                            <a:rPr lang="en-US" b="1" i="1" smtClean="0">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a:latin typeface="Cambria Math" panose="02040503050406030204" pitchFamily="18" charset="0"/>
                                  <a:cs typeface="Times New Roman" panose="02020603050405020304" pitchFamily="18" charset="0"/>
                                </a:rPr>
                                <m:t>𝒊</m:t>
                              </m:r>
                            </m:sub>
                          </m:sSub>
                          <m:r>
                            <a:rPr lang="en-US" b="1" i="1" smtClean="0">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𝒋</m:t>
                              </m:r>
                            </m:sub>
                          </m:sSub>
                        </m:e>
                      </m:d>
                      <m:sSub>
                        <m:sSubPr>
                          <m:ctrlPr>
                            <a:rPr lang="en-US" b="1" i="1" smtClean="0">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m:t>
                          </m:r>
                          <m:r>
                            <a:rPr lang="en-US" b="1" i="1">
                              <a:latin typeface="Cambria Math" panose="02040503050406030204" pitchFamily="18" charset="0"/>
                              <a:cs typeface="Times New Roman" panose="02020603050405020304" pitchFamily="18" charset="0"/>
                            </a:rPr>
                            <m:t>𝑯</m:t>
                          </m:r>
                        </m:e>
                        <m:sub>
                          <m:r>
                            <a:rPr lang="en-US" b="1" i="1" smtClean="0">
                              <a:latin typeface="Cambria Math" panose="02040503050406030204" pitchFamily="18" charset="0"/>
                              <a:cs typeface="Times New Roman" panose="02020603050405020304" pitchFamily="18" charset="0"/>
                            </a:rPr>
                            <m:t>𝒊</m:t>
                          </m:r>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r>
                            <a:rPr lang="en-US" b="1" i="1" smtClean="0">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smtClean="0">
                              <a:latin typeface="Cambria Math" panose="02040503050406030204" pitchFamily="18" charset="0"/>
                              <a:ea typeface="Cambria Math" panose="02040503050406030204" pitchFamily="18" charset="0"/>
                              <a:cs typeface="Times New Roman" panose="02020603050405020304" pitchFamily="18" charset="0"/>
                            </a:rPr>
                            <m:t>ν</m:t>
                          </m:r>
                        </m:sub>
                      </m:sSub>
                      <m:r>
                        <a:rPr lang="en-US" b="1" i="1" smtClean="0">
                          <a:latin typeface="Cambria Math" panose="02040503050406030204" pitchFamily="18" charset="0"/>
                          <a:cs typeface="Times New Roman" panose="02020603050405020304" pitchFamily="18" charset="0"/>
                        </a:rPr>
                        <m:t>=</m:t>
                      </m:r>
                      <m:d>
                        <m:dPr>
                          <m:begChr m:val="⟨"/>
                          <m:endChr m:val="⟩"/>
                          <m:ctrlPr>
                            <a:rPr lang="en-US" b="1" i="1" smtClean="0">
                              <a:latin typeface="Cambria Math" panose="02040503050406030204" pitchFamily="18" charset="0"/>
                              <a:cs typeface="Times New Roman" panose="02020603050405020304" pitchFamily="18" charset="0"/>
                            </a:rPr>
                          </m:ctrlPr>
                        </m:dPr>
                        <m:e>
                          <m:sSub>
                            <m:sSubPr>
                              <m:ctrlPr>
                                <a:rPr lang="en-US" b="1" i="1" smtClean="0">
                                  <a:latin typeface="Cambria Math" panose="02040503050406030204" pitchFamily="18" charset="0"/>
                                  <a:cs typeface="Times New Roman" panose="02020603050405020304" pitchFamily="18" charset="0"/>
                                </a:rPr>
                              </m:ctrlPr>
                            </m:sSubPr>
                            <m:e>
                              <m:r>
                                <m:rPr>
                                  <m:sty m:val="p"/>
                                </m:rPr>
                                <a:rPr lang="el-GR" b="1" i="1" smtClean="0">
                                  <a:latin typeface="Cambria Math" panose="02040503050406030204" pitchFamily="18" charset="0"/>
                                  <a:cs typeface="Times New Roman" panose="02020603050405020304" pitchFamily="18" charset="0"/>
                                </a:rPr>
                                <m:t>Φ</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d>
                            <m:dPr>
                              <m:ctrlPr>
                                <a:rPr lang="en-US" b="1" i="1" smtClean="0">
                                  <a:latin typeface="Cambria Math" panose="02040503050406030204" pitchFamily="18" charset="0"/>
                                  <a:cs typeface="Times New Roman" panose="02020603050405020304" pitchFamily="18" charset="0"/>
                                </a:rPr>
                              </m:ctrlPr>
                            </m:dPr>
                            <m:e>
                              <m:r>
                                <a:rPr lang="en-US" b="1" i="1" smtClean="0">
                                  <a:latin typeface="Cambria Math" panose="02040503050406030204" pitchFamily="18" charset="0"/>
                                  <a:cs typeface="Times New Roman" panose="02020603050405020304" pitchFamily="18" charset="0"/>
                                </a:rPr>
                                <m:t>𝒓</m:t>
                              </m:r>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cs typeface="Times New Roman" panose="02020603050405020304" pitchFamily="18" charset="0"/>
                                    </a:rPr>
                                    <m:t>𝒊</m:t>
                                  </m:r>
                                </m:sub>
                              </m:sSub>
                            </m:e>
                          </m:d>
                        </m:e>
                        <m:e>
                          <m:r>
                            <a:rPr lang="en-US" b="1" i="1" smtClean="0">
                              <a:latin typeface="Cambria Math" panose="02040503050406030204" pitchFamily="18" charset="0"/>
                              <a:cs typeface="Times New Roman" panose="02020603050405020304" pitchFamily="18" charset="0"/>
                            </a:rPr>
                            <m:t>𝑯</m:t>
                          </m:r>
                        </m:e>
                        <m:e>
                          <m:sSub>
                            <m:sSubPr>
                              <m:ctrlPr>
                                <a:rPr lang="en-US" b="1" i="1">
                                  <a:latin typeface="Cambria Math" panose="02040503050406030204" pitchFamily="18" charset="0"/>
                                  <a:cs typeface="Times New Roman" panose="02020603050405020304" pitchFamily="18" charset="0"/>
                                </a:rPr>
                              </m:ctrlPr>
                            </m:sSubPr>
                            <m:e>
                              <m:r>
                                <m:rPr>
                                  <m:sty m:val="p"/>
                                </m:rPr>
                                <a:rPr lang="el-GR" b="1" i="1">
                                  <a:latin typeface="Cambria Math" panose="02040503050406030204" pitchFamily="18" charset="0"/>
                                  <a:cs typeface="Times New Roman" panose="02020603050405020304" pitchFamily="18" charset="0"/>
                                </a:rPr>
                                <m:t>Φ</m:t>
                              </m:r>
                            </m:e>
                            <m:sub>
                              <m:r>
                                <m:rPr>
                                  <m:sty m:val="p"/>
                                </m:rPr>
                                <a:rPr lang="el-GR" b="1" i="1" smtClean="0">
                                  <a:latin typeface="Cambria Math" panose="02040503050406030204" pitchFamily="18" charset="0"/>
                                  <a:cs typeface="Times New Roman" panose="02020603050405020304" pitchFamily="18" charset="0"/>
                                </a:rPr>
                                <m:t>ν</m:t>
                              </m:r>
                            </m:sub>
                          </m:sSub>
                          <m:d>
                            <m:dPr>
                              <m:ctrlPr>
                                <a:rPr lang="en-US" b="1" i="1">
                                  <a:latin typeface="Cambria Math" panose="02040503050406030204" pitchFamily="18" charset="0"/>
                                  <a:cs typeface="Times New Roman" panose="02020603050405020304" pitchFamily="18" charset="0"/>
                                </a:rPr>
                              </m:ctrlPr>
                            </m:dPr>
                            <m:e>
                              <m:r>
                                <a:rPr lang="en-US" b="1" i="1">
                                  <a:latin typeface="Cambria Math" panose="02040503050406030204" pitchFamily="18" charset="0"/>
                                  <a:cs typeface="Times New Roman" panose="02020603050405020304" pitchFamily="18" charset="0"/>
                                </a:rPr>
                                <m:t>𝒓</m:t>
                              </m:r>
                              <m:r>
                                <a:rPr lang="en-US" b="1" i="1">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cs typeface="Times New Roman" panose="02020603050405020304" pitchFamily="18" charset="0"/>
                                    </a:rPr>
                                    <m:t>𝒋</m:t>
                                  </m:r>
                                </m:sub>
                              </m:sSub>
                            </m:e>
                          </m:d>
                        </m:e>
                      </m:d>
                    </m:oMath>
                  </m:oMathPara>
                </a14:m>
                <a:endParaRPr lang="en-US" b="1"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48927E0A-0EF7-48BC-B594-773185E7FBE2}"/>
                  </a:ext>
                </a:extLst>
              </p:cNvPr>
              <p:cNvSpPr txBox="1">
                <a:spLocks noRot="1" noChangeAspect="1" noMove="1" noResize="1" noEditPoints="1" noAdjustHandles="1" noChangeArrowheads="1" noChangeShapeType="1" noTextEdit="1"/>
              </p:cNvSpPr>
              <p:nvPr/>
            </p:nvSpPr>
            <p:spPr>
              <a:xfrm>
                <a:off x="5063144" y="1105998"/>
                <a:ext cx="5281126" cy="415370"/>
              </a:xfrm>
              <a:prstGeom prst="rect">
                <a:avLst/>
              </a:prstGeom>
              <a:blipFill>
                <a:blip r:embed="rId5"/>
                <a:stretch>
                  <a:fillRect b="-724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95">
                <a:extLst>
                  <a:ext uri="{FF2B5EF4-FFF2-40B4-BE49-F238E27FC236}">
                    <a16:creationId xmlns:a16="http://schemas.microsoft.com/office/drawing/2014/main" id="{148A8CF6-FF1A-4DE1-8FEA-BD28EF996CE3}"/>
                  </a:ext>
                </a:extLst>
              </p:cNvPr>
              <p:cNvGraphicFramePr>
                <a:graphicFrameLocks noGrp="1"/>
              </p:cNvGraphicFramePr>
              <p:nvPr>
                <p:extLst>
                  <p:ext uri="{D42A27DB-BD31-4B8C-83A1-F6EECF244321}">
                    <p14:modId xmlns:p14="http://schemas.microsoft.com/office/powerpoint/2010/main" val="2550534963"/>
                  </p:ext>
                </p:extLst>
              </p:nvPr>
            </p:nvGraphicFramePr>
            <p:xfrm>
              <a:off x="7575718" y="2766051"/>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𝟐𝟏</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𝒊</m:t>
                                    </m:r>
                                    <m:r>
                                      <a:rPr lang="en-US" b="1" i="1" smtClean="0">
                                        <a:solidFill>
                                          <a:schemeClr val="tx1"/>
                                        </a:solidFill>
                                        <a:latin typeface="Cambria Math" panose="02040503050406030204" pitchFamily="18" charset="0"/>
                                        <a:ea typeface="Cambria Math" panose="02040503050406030204" pitchFamily="18" charset="0"/>
                                      </a:rPr>
                                      <m:t>𝜶</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12" name="Table 95">
                <a:extLst>
                  <a:ext uri="{FF2B5EF4-FFF2-40B4-BE49-F238E27FC236}">
                    <a16:creationId xmlns:a16="http://schemas.microsoft.com/office/drawing/2014/main" id="{148A8CF6-FF1A-4DE1-8FEA-BD28EF996CE3}"/>
                  </a:ext>
                </a:extLst>
              </p:cNvPr>
              <p:cNvGraphicFramePr>
                <a:graphicFrameLocks noGrp="1"/>
              </p:cNvGraphicFramePr>
              <p:nvPr>
                <p:extLst>
                  <p:ext uri="{D42A27DB-BD31-4B8C-83A1-F6EECF244321}">
                    <p14:modId xmlns:p14="http://schemas.microsoft.com/office/powerpoint/2010/main" val="2550534963"/>
                  </p:ext>
                </p:extLst>
              </p:nvPr>
            </p:nvGraphicFramePr>
            <p:xfrm>
              <a:off x="7575718" y="2766051"/>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6"/>
                          <a:stretch>
                            <a:fillRect l="-870" t="-775" r="-3478" b="-300000"/>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6"/>
                          <a:stretch>
                            <a:fillRect l="-870" t="-101563" r="-3478" b="-202344"/>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6"/>
                          <a:stretch>
                            <a:fillRect l="-870" t="-200000" r="-3478" b="-100775"/>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6"/>
                          <a:stretch>
                            <a:fillRect l="-870" t="-302344"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835C7DFC-8FFE-4ADA-87D5-187B0C0C43F5}"/>
                  </a:ext>
                </a:extLst>
              </p:cNvPr>
              <p:cNvGraphicFramePr>
                <a:graphicFrameLocks noGrp="1"/>
              </p:cNvGraphicFramePr>
              <p:nvPr>
                <p:extLst>
                  <p:ext uri="{D42A27DB-BD31-4B8C-83A1-F6EECF244321}">
                    <p14:modId xmlns:p14="http://schemas.microsoft.com/office/powerpoint/2010/main" val="4164920470"/>
                  </p:ext>
                </p:extLst>
              </p:nvPr>
            </p:nvGraphicFramePr>
            <p:xfrm>
              <a:off x="8261806" y="2766051"/>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𝒊</m:t>
                                    </m:r>
                                    <m:r>
                                      <a:rPr lang="en-US" b="1" i="1" smtClean="0">
                                        <a:solidFill>
                                          <a:schemeClr val="tx1"/>
                                        </a:solidFill>
                                        <a:latin typeface="Cambria Math" panose="02040503050406030204" pitchFamily="18" charset="0"/>
                                        <a:ea typeface="Cambria Math" panose="02040503050406030204" pitchFamily="18" charset="0"/>
                                      </a:rPr>
                                      <m:t>𝜷</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13" name="Table 12">
                <a:extLst>
                  <a:ext uri="{FF2B5EF4-FFF2-40B4-BE49-F238E27FC236}">
                    <a16:creationId xmlns:a16="http://schemas.microsoft.com/office/drawing/2014/main" id="{835C7DFC-8FFE-4ADA-87D5-187B0C0C43F5}"/>
                  </a:ext>
                </a:extLst>
              </p:cNvPr>
              <p:cNvGraphicFramePr>
                <a:graphicFrameLocks noGrp="1"/>
              </p:cNvGraphicFramePr>
              <p:nvPr>
                <p:extLst>
                  <p:ext uri="{D42A27DB-BD31-4B8C-83A1-F6EECF244321}">
                    <p14:modId xmlns:p14="http://schemas.microsoft.com/office/powerpoint/2010/main" val="4164920470"/>
                  </p:ext>
                </p:extLst>
              </p:nvPr>
            </p:nvGraphicFramePr>
            <p:xfrm>
              <a:off x="8261806" y="2766051"/>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7"/>
                          <a:stretch>
                            <a:fillRect l="-870" t="-775" r="-3478" b="-300000"/>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7"/>
                          <a:stretch>
                            <a:fillRect l="-870" t="-101563" r="-3478" b="-202344"/>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7"/>
                          <a:stretch>
                            <a:fillRect l="-870" t="-200000" r="-3478" b="-100775"/>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7"/>
                          <a:stretch>
                            <a:fillRect l="-870" t="-302344"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5A43743D-1758-4124-8430-F0594D4536E5}"/>
                  </a:ext>
                </a:extLst>
              </p:cNvPr>
              <p:cNvGraphicFramePr>
                <a:graphicFrameLocks noGrp="1"/>
              </p:cNvGraphicFramePr>
              <p:nvPr>
                <p:extLst>
                  <p:ext uri="{D42A27DB-BD31-4B8C-83A1-F6EECF244321}">
                    <p14:modId xmlns:p14="http://schemas.microsoft.com/office/powerpoint/2010/main" val="4013009558"/>
                  </p:ext>
                </p:extLst>
              </p:nvPr>
            </p:nvGraphicFramePr>
            <p:xfrm>
              <a:off x="8955660" y="2775382"/>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14" name="Table 13">
                <a:extLst>
                  <a:ext uri="{FF2B5EF4-FFF2-40B4-BE49-F238E27FC236}">
                    <a16:creationId xmlns:a16="http://schemas.microsoft.com/office/drawing/2014/main" id="{5A43743D-1758-4124-8430-F0594D4536E5}"/>
                  </a:ext>
                </a:extLst>
              </p:cNvPr>
              <p:cNvGraphicFramePr>
                <a:graphicFrameLocks noGrp="1"/>
              </p:cNvGraphicFramePr>
              <p:nvPr>
                <p:extLst>
                  <p:ext uri="{D42A27DB-BD31-4B8C-83A1-F6EECF244321}">
                    <p14:modId xmlns:p14="http://schemas.microsoft.com/office/powerpoint/2010/main" val="4013009558"/>
                  </p:ext>
                </p:extLst>
              </p:nvPr>
            </p:nvGraphicFramePr>
            <p:xfrm>
              <a:off x="8955660" y="2775382"/>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8"/>
                          <a:stretch>
                            <a:fillRect l="-870" t="-781" r="-3478" b="-302344"/>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8"/>
                          <a:stretch>
                            <a:fillRect l="-870" t="-100000" r="-3478" b="-200000"/>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8"/>
                          <a:stretch>
                            <a:fillRect l="-870" t="-201563" r="-3478" b="-101563"/>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8"/>
                          <a:stretch>
                            <a:fillRect l="-870" t="-301563" r="-3478" b="-1563"/>
                          </a:stretch>
                        </a:blipFill>
                      </a:tcPr>
                    </a:tc>
                    <a:extLst>
                      <a:ext uri="{0D108BD9-81ED-4DB2-BD59-A6C34878D82A}">
                        <a16:rowId xmlns:a16="http://schemas.microsoft.com/office/drawing/2014/main" val="286628208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2A0DFFE3-54CB-4C05-B235-9077D928FB0B}"/>
                  </a:ext>
                </a:extLst>
              </p:cNvPr>
              <p:cNvGraphicFramePr>
                <a:graphicFrameLocks noGrp="1"/>
              </p:cNvGraphicFramePr>
              <p:nvPr>
                <p:extLst>
                  <p:ext uri="{D42A27DB-BD31-4B8C-83A1-F6EECF244321}">
                    <p14:modId xmlns:p14="http://schemas.microsoft.com/office/powerpoint/2010/main" val="2825582838"/>
                  </p:ext>
                </p:extLst>
              </p:nvPr>
            </p:nvGraphicFramePr>
            <p:xfrm>
              <a:off x="9655910" y="2775073"/>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𝟏𝟐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3042635009"/>
                      </a:ext>
                    </a:extLst>
                  </a:tr>
                  <a:tr h="780696">
                    <a:tc>
                      <a:txBody>
                        <a:bodyPr/>
                        <a:lstStyle/>
                        <a:p>
                          <a:pPr/>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rPr>
                                    </m:ctrlPr>
                                  </m:sSubPr>
                                  <m:e>
                                    <m:r>
                                      <a:rPr lang="en-US" b="1" i="1" smtClean="0">
                                        <a:solidFill>
                                          <a:schemeClr val="tx1"/>
                                        </a:solidFill>
                                        <a:latin typeface="Cambria Math" panose="02040503050406030204" pitchFamily="18" charset="0"/>
                                      </a:rPr>
                                      <m:t>𝒄</m:t>
                                    </m:r>
                                  </m:e>
                                  <m:sub>
                                    <m:r>
                                      <a:rPr lang="en-US" b="1" i="1" smtClean="0">
                                        <a:solidFill>
                                          <a:schemeClr val="tx1"/>
                                        </a:solidFill>
                                        <a:latin typeface="Cambria Math" panose="02040503050406030204" pitchFamily="18" charset="0"/>
                                      </a:rPr>
                                      <m:t>𝟐𝟐</m:t>
                                    </m:r>
                                  </m:sub>
                                </m:sSub>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800391673"/>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rPr>
                                  <m:t>⋮</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1415544677"/>
                      </a:ext>
                    </a:extLst>
                  </a:tr>
                  <a:tr h="780696">
                    <a:tc>
                      <a:txBody>
                        <a:bodyPr/>
                        <a:lstStyle/>
                        <a:p>
                          <a:pPr/>
                          <a14:m>
                            <m:oMathPara xmlns:m="http://schemas.openxmlformats.org/officeDocument/2006/math">
                              <m:oMathParaPr>
                                <m:jc m:val="centerGroup"/>
                              </m:oMathParaPr>
                              <m:oMath xmlns:m="http://schemas.openxmlformats.org/officeDocument/2006/math">
                                <m:r>
                                  <a:rPr lang="en-US" b="1" i="1" smtClean="0">
                                    <a:solidFill>
                                      <a:schemeClr val="tx1"/>
                                    </a:solidFill>
                                    <a:latin typeface="Cambria Math" panose="02040503050406030204" pitchFamily="18" charset="0"/>
                                  </a:rPr>
                                  <m:t>𝟎</m:t>
                                </m:r>
                              </m:oMath>
                            </m:oMathPara>
                          </a14:m>
                          <a:endParaRPr lang="en-US" b="1" dirty="0">
                            <a:solidFill>
                              <a:schemeClr val="tx1"/>
                            </a:solidFill>
                            <a:latin typeface="Times New Roman" panose="02020603050405020304" pitchFamily="18" charset="0"/>
                            <a:cs typeface="Times New Roman" panose="02020603050405020304" pitchFamily="18" charset="0"/>
                          </a:endParaRPr>
                        </a:p>
                      </a:txBody>
                      <a:tcPr anchor="ctr">
                        <a:noFill/>
                      </a:tcPr>
                    </a:tc>
                    <a:extLst>
                      <a:ext uri="{0D108BD9-81ED-4DB2-BD59-A6C34878D82A}">
                        <a16:rowId xmlns:a16="http://schemas.microsoft.com/office/drawing/2014/main" val="2866282081"/>
                      </a:ext>
                    </a:extLst>
                  </a:tr>
                </a:tbl>
              </a:graphicData>
            </a:graphic>
          </p:graphicFrame>
        </mc:Choice>
        <mc:Fallback xmlns="">
          <p:graphicFrame>
            <p:nvGraphicFramePr>
              <p:cNvPr id="15" name="Table 14">
                <a:extLst>
                  <a:ext uri="{FF2B5EF4-FFF2-40B4-BE49-F238E27FC236}">
                    <a16:creationId xmlns:a16="http://schemas.microsoft.com/office/drawing/2014/main" id="{2A0DFFE3-54CB-4C05-B235-9077D928FB0B}"/>
                  </a:ext>
                </a:extLst>
              </p:cNvPr>
              <p:cNvGraphicFramePr>
                <a:graphicFrameLocks noGrp="1"/>
              </p:cNvGraphicFramePr>
              <p:nvPr>
                <p:extLst>
                  <p:ext uri="{D42A27DB-BD31-4B8C-83A1-F6EECF244321}">
                    <p14:modId xmlns:p14="http://schemas.microsoft.com/office/powerpoint/2010/main" val="2825582838"/>
                  </p:ext>
                </p:extLst>
              </p:nvPr>
            </p:nvGraphicFramePr>
            <p:xfrm>
              <a:off x="9655910" y="2775073"/>
              <a:ext cx="694472" cy="3122784"/>
            </p:xfrm>
            <a:graphic>
              <a:graphicData uri="http://schemas.openxmlformats.org/drawingml/2006/table">
                <a:tbl>
                  <a:tblPr firstRow="1" bandRow="1">
                    <a:tableStyleId>{5C22544A-7EE6-4342-B048-85BDC9FD1C3A}</a:tableStyleId>
                  </a:tblPr>
                  <a:tblGrid>
                    <a:gridCol w="694472">
                      <a:extLst>
                        <a:ext uri="{9D8B030D-6E8A-4147-A177-3AD203B41FA5}">
                          <a16:colId xmlns:a16="http://schemas.microsoft.com/office/drawing/2014/main" val="644518528"/>
                        </a:ext>
                      </a:extLst>
                    </a:gridCol>
                  </a:tblGrid>
                  <a:tr h="780696">
                    <a:tc>
                      <a:txBody>
                        <a:bodyPr/>
                        <a:lstStyle/>
                        <a:p>
                          <a:endParaRPr lang="en-US"/>
                        </a:p>
                      </a:txBody>
                      <a:tcPr anchor="ctr">
                        <a:blipFill>
                          <a:blip r:embed="rId9"/>
                          <a:stretch>
                            <a:fillRect l="-870" t="-781" r="-4348" b="-302344"/>
                          </a:stretch>
                        </a:blipFill>
                      </a:tcPr>
                    </a:tc>
                    <a:extLst>
                      <a:ext uri="{0D108BD9-81ED-4DB2-BD59-A6C34878D82A}">
                        <a16:rowId xmlns:a16="http://schemas.microsoft.com/office/drawing/2014/main" val="3042635009"/>
                      </a:ext>
                    </a:extLst>
                  </a:tr>
                  <a:tr h="780696">
                    <a:tc>
                      <a:txBody>
                        <a:bodyPr/>
                        <a:lstStyle/>
                        <a:p>
                          <a:endParaRPr lang="en-US"/>
                        </a:p>
                      </a:txBody>
                      <a:tcPr anchor="ctr">
                        <a:blipFill>
                          <a:blip r:embed="rId9"/>
                          <a:stretch>
                            <a:fillRect l="-870" t="-100000" r="-4348" b="-200000"/>
                          </a:stretch>
                        </a:blipFill>
                      </a:tcPr>
                    </a:tc>
                    <a:extLst>
                      <a:ext uri="{0D108BD9-81ED-4DB2-BD59-A6C34878D82A}">
                        <a16:rowId xmlns:a16="http://schemas.microsoft.com/office/drawing/2014/main" val="800391673"/>
                      </a:ext>
                    </a:extLst>
                  </a:tr>
                  <a:tr h="780696">
                    <a:tc>
                      <a:txBody>
                        <a:bodyPr/>
                        <a:lstStyle/>
                        <a:p>
                          <a:endParaRPr lang="en-US"/>
                        </a:p>
                      </a:txBody>
                      <a:tcPr anchor="ctr">
                        <a:blipFill>
                          <a:blip r:embed="rId9"/>
                          <a:stretch>
                            <a:fillRect l="-870" t="-201563" r="-4348" b="-101563"/>
                          </a:stretch>
                        </a:blipFill>
                      </a:tcPr>
                    </a:tc>
                    <a:extLst>
                      <a:ext uri="{0D108BD9-81ED-4DB2-BD59-A6C34878D82A}">
                        <a16:rowId xmlns:a16="http://schemas.microsoft.com/office/drawing/2014/main" val="1415544677"/>
                      </a:ext>
                    </a:extLst>
                  </a:tr>
                  <a:tr h="780696">
                    <a:tc>
                      <a:txBody>
                        <a:bodyPr/>
                        <a:lstStyle/>
                        <a:p>
                          <a:endParaRPr lang="en-US"/>
                        </a:p>
                      </a:txBody>
                      <a:tcPr anchor="ctr">
                        <a:blipFill>
                          <a:blip r:embed="rId9"/>
                          <a:stretch>
                            <a:fillRect l="-870" t="-301563" r="-4348" b="-1563"/>
                          </a:stretch>
                        </a:blipFill>
                      </a:tcPr>
                    </a:tc>
                    <a:extLst>
                      <a:ext uri="{0D108BD9-81ED-4DB2-BD59-A6C34878D82A}">
                        <a16:rowId xmlns:a16="http://schemas.microsoft.com/office/drawing/2014/main" val="2866282081"/>
                      </a:ext>
                    </a:extLst>
                  </a:tr>
                </a:tbl>
              </a:graphicData>
            </a:graphic>
          </p:graphicFrame>
        </mc:Fallback>
      </mc:AlternateContent>
      <p:cxnSp>
        <p:nvCxnSpPr>
          <p:cNvPr id="16" name="Straight Connector 15">
            <a:extLst>
              <a:ext uri="{FF2B5EF4-FFF2-40B4-BE49-F238E27FC236}">
                <a16:creationId xmlns:a16="http://schemas.microsoft.com/office/drawing/2014/main" id="{DE11DD8A-1EEF-4A91-8EDD-3DEA3E31204B}"/>
              </a:ext>
            </a:extLst>
          </p:cNvPr>
          <p:cNvCxnSpPr/>
          <p:nvPr/>
        </p:nvCxnSpPr>
        <p:spPr>
          <a:xfrm>
            <a:off x="7575718" y="2985443"/>
            <a:ext cx="0" cy="2705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50078E4B-4CB1-4258-9E9D-7CCF8ACA88FF}"/>
              </a:ext>
            </a:extLst>
          </p:cNvPr>
          <p:cNvCxnSpPr/>
          <p:nvPr/>
        </p:nvCxnSpPr>
        <p:spPr>
          <a:xfrm>
            <a:off x="10337579" y="2981098"/>
            <a:ext cx="0" cy="2705875"/>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F7DC4582-4968-437A-8B86-CA2553E26DAD}"/>
                  </a:ext>
                </a:extLst>
              </p:cNvPr>
              <p:cNvSpPr txBox="1"/>
              <p:nvPr/>
            </p:nvSpPr>
            <p:spPr>
              <a:xfrm>
                <a:off x="7802957" y="2487120"/>
                <a:ext cx="1704936" cy="369332"/>
              </a:xfrm>
              <a:prstGeom prst="rect">
                <a:avLst/>
              </a:prstGeom>
              <a:noFill/>
            </p:spPr>
            <p:txBody>
              <a:bodyPr wrap="square">
                <a:spAutoFit/>
              </a:bodyPr>
              <a:lstStyle/>
              <a:p>
                <a:pPr algn="just"/>
                <a:r>
                  <a:rPr lang="en-US" b="1" i="1" dirty="0">
                    <a:solidFill>
                      <a:schemeClr val="tx1"/>
                    </a:solidFill>
                    <a:effectLst/>
                    <a:latin typeface="Times New Roman" panose="02020603050405020304" pitchFamily="18" charset="0"/>
                    <a:cs typeface="Times New Roman" panose="02020603050405020304" pitchFamily="18" charset="0"/>
                  </a:rPr>
                  <a:t>s</a:t>
                </a:r>
                <a:r>
                  <a:rPr lang="en-US" b="1" dirty="0">
                    <a:solidFill>
                      <a:schemeClr val="tx1"/>
                    </a:solidFill>
                    <a:effectLst/>
                    <a:latin typeface="Times New Roman" panose="02020603050405020304" pitchFamily="18" charset="0"/>
                    <a:cs typeface="Times New Roman" panose="02020603050405020304" pitchFamily="18" charset="0"/>
                  </a:rPr>
                  <a:t>          </a:t>
                </a:r>
                <a:r>
                  <a:rPr lang="en-US" b="1" i="1" dirty="0">
                    <a:solidFill>
                      <a:schemeClr val="tx1"/>
                    </a:solidFill>
                    <a:effectLst/>
                    <a:latin typeface="Times New Roman" panose="02020603050405020304" pitchFamily="18" charset="0"/>
                    <a:cs typeface="Times New Roman" panose="02020603050405020304" pitchFamily="18" charset="0"/>
                  </a:rPr>
                  <a:t>p</a:t>
                </a:r>
                <a:r>
                  <a:rPr lang="en-US" sz="1100" b="1" i="1" dirty="0">
                    <a:solidFill>
                      <a:schemeClr val="tx1"/>
                    </a:solidFill>
                    <a:effectLst/>
                    <a:latin typeface="Times New Roman" panose="02020603050405020304" pitchFamily="18" charset="0"/>
                    <a:cs typeface="Times New Roman" panose="02020603050405020304" pitchFamily="18" charset="0"/>
                  </a:rPr>
                  <a:t>x</a:t>
                </a:r>
                <a:r>
                  <a:rPr lang="en-US" b="1" dirty="0">
                    <a:solidFill>
                      <a:schemeClr val="tx1"/>
                    </a:solidFill>
                    <a:effectLst/>
                    <a:latin typeface="Times New Roman" panose="02020603050405020304" pitchFamily="18" charset="0"/>
                    <a:cs typeface="Times New Roman" panose="02020603050405020304" pitchFamily="18" charset="0"/>
                  </a:rPr>
                  <a:t> ,      </a:t>
                </a:r>
                <a14:m>
                  <m:oMath xmlns:m="http://schemas.openxmlformats.org/officeDocument/2006/math">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oMath>
                </a14:m>
                <a:endParaRPr lang="en-US" b="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F7DC4582-4968-437A-8B86-CA2553E26DAD}"/>
                  </a:ext>
                </a:extLst>
              </p:cNvPr>
              <p:cNvSpPr txBox="1">
                <a:spLocks noRot="1" noChangeAspect="1" noMove="1" noResize="1" noEditPoints="1" noAdjustHandles="1" noChangeArrowheads="1" noChangeShapeType="1" noTextEdit="1"/>
              </p:cNvSpPr>
              <p:nvPr/>
            </p:nvSpPr>
            <p:spPr>
              <a:xfrm>
                <a:off x="7802957" y="2487120"/>
                <a:ext cx="1704936" cy="369332"/>
              </a:xfrm>
              <a:prstGeom prst="rect">
                <a:avLst/>
              </a:prstGeom>
              <a:blipFill>
                <a:blip r:embed="rId10"/>
                <a:stretch>
                  <a:fillRect l="-2857" t="-9836" b="-24590"/>
                </a:stretch>
              </a:blipFill>
            </p:spPr>
            <p:txBody>
              <a:bodyPr/>
              <a:lstStyle/>
              <a:p>
                <a:r>
                  <a:rPr lang="en-US">
                    <a:noFill/>
                  </a:rPr>
                  <a:t> </a:t>
                </a:r>
              </a:p>
            </p:txBody>
          </p:sp>
        </mc:Fallback>
      </mc:AlternateContent>
      <p:sp>
        <p:nvSpPr>
          <p:cNvPr id="22" name="Oval 21">
            <a:extLst>
              <a:ext uri="{FF2B5EF4-FFF2-40B4-BE49-F238E27FC236}">
                <a16:creationId xmlns:a16="http://schemas.microsoft.com/office/drawing/2014/main" id="{E1A51CDD-A66C-4C94-ACB6-6E76C08BB1C1}"/>
              </a:ext>
            </a:extLst>
          </p:cNvPr>
          <p:cNvSpPr/>
          <p:nvPr/>
        </p:nvSpPr>
        <p:spPr>
          <a:xfrm>
            <a:off x="7708086" y="3733446"/>
            <a:ext cx="433564" cy="465640"/>
          </a:xfrm>
          <a:prstGeom prst="ellipse">
            <a:avLst/>
          </a:prstGeom>
          <a:noFill/>
          <a:ln w="25400">
            <a:solidFill>
              <a:srgbClr val="0070C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3" name="TextBox 22">
                <a:extLst>
                  <a:ext uri="{FF2B5EF4-FFF2-40B4-BE49-F238E27FC236}">
                    <a16:creationId xmlns:a16="http://schemas.microsoft.com/office/drawing/2014/main" id="{BCF6ACBD-412F-4511-8EE6-DE625212B185}"/>
                  </a:ext>
                </a:extLst>
              </p:cNvPr>
              <p:cNvSpPr txBox="1"/>
              <p:nvPr/>
            </p:nvSpPr>
            <p:spPr>
              <a:xfrm>
                <a:off x="5135586" y="5973163"/>
                <a:ext cx="6968929" cy="375552"/>
              </a:xfrm>
              <a:prstGeom prst="rect">
                <a:avLst/>
              </a:prstGeom>
              <a:noFill/>
            </p:spPr>
            <p:txBody>
              <a:bodyPr wrap="square">
                <a:spAutoFit/>
              </a:bodyPr>
              <a:lstStyle/>
              <a:p>
                <a14:m>
                  <m:oMath xmlns:m="http://schemas.openxmlformats.org/officeDocument/2006/math">
                    <m:sSup>
                      <m:sSupPr>
                        <m:ctrlPr>
                          <a:rPr lang="en-US" b="1" i="1" smtClean="0">
                            <a:solidFill>
                              <a:srgbClr val="0070C0"/>
                            </a:solidFill>
                            <a:latin typeface="Cambria Math" panose="02040503050406030204" pitchFamily="18" charset="0"/>
                          </a:rPr>
                        </m:ctrlPr>
                      </m:sSupPr>
                      <m:e>
                        <m:d>
                          <m:dPr>
                            <m:begChr m:val="|"/>
                            <m:endChr m:val="|"/>
                            <m:ctrlPr>
                              <a:rPr lang="en-US" b="1" i="1" smtClean="0">
                                <a:solidFill>
                                  <a:srgbClr val="0070C0"/>
                                </a:solidFill>
                                <a:latin typeface="Cambria Math" panose="02040503050406030204" pitchFamily="18" charset="0"/>
                              </a:rPr>
                            </m:ctrlPr>
                          </m:dPr>
                          <m:e>
                            <m:sSub>
                              <m:sSubPr>
                                <m:ctrlPr>
                                  <a:rPr lang="en-US" b="1" i="1">
                                    <a:solidFill>
                                      <a:srgbClr val="0070C0"/>
                                    </a:solidFill>
                                    <a:latin typeface="Cambria Math" panose="02040503050406030204" pitchFamily="18" charset="0"/>
                                  </a:rPr>
                                </m:ctrlPr>
                              </m:sSubPr>
                              <m:e>
                                <m:r>
                                  <a:rPr lang="en-US" b="1" i="1">
                                    <a:solidFill>
                                      <a:srgbClr val="0070C0"/>
                                    </a:solidFill>
                                    <a:latin typeface="Cambria Math" panose="02040503050406030204" pitchFamily="18" charset="0"/>
                                  </a:rPr>
                                  <m:t>𝒄</m:t>
                                </m:r>
                              </m:e>
                              <m:sub>
                                <m:r>
                                  <a:rPr lang="en-US" b="1" i="1">
                                    <a:solidFill>
                                      <a:srgbClr val="0070C0"/>
                                    </a:solidFill>
                                    <a:latin typeface="Cambria Math" panose="02040503050406030204" pitchFamily="18" charset="0"/>
                                  </a:rPr>
                                  <m:t>𝟐𝟏</m:t>
                                </m:r>
                              </m:sub>
                            </m:sSub>
                          </m:e>
                        </m:d>
                      </m:e>
                      <m:sup>
                        <m:r>
                          <a:rPr lang="en-US" b="1" i="1" smtClean="0">
                            <a:solidFill>
                              <a:srgbClr val="0070C0"/>
                            </a:solidFill>
                            <a:latin typeface="Cambria Math" panose="02040503050406030204" pitchFamily="18" charset="0"/>
                          </a:rPr>
                          <m:t>𝟐</m:t>
                        </m:r>
                      </m:sup>
                    </m:sSup>
                  </m:oMath>
                </a14:m>
                <a:r>
                  <a:rPr lang="en-US" b="1" dirty="0">
                    <a:solidFill>
                      <a:srgbClr val="0070C0"/>
                    </a:solidFill>
                    <a:latin typeface="Times New Roman" panose="02020603050405020304" pitchFamily="18" charset="0"/>
                    <a:cs typeface="Times New Roman" panose="02020603050405020304" pitchFamily="18" charset="0"/>
                  </a:rPr>
                  <a:t>— Probability of electron jumping from '2' orbital to ‘1' orbital </a:t>
                </a:r>
              </a:p>
            </p:txBody>
          </p:sp>
        </mc:Choice>
        <mc:Fallback xmlns="">
          <p:sp>
            <p:nvSpPr>
              <p:cNvPr id="23" name="TextBox 22">
                <a:extLst>
                  <a:ext uri="{FF2B5EF4-FFF2-40B4-BE49-F238E27FC236}">
                    <a16:creationId xmlns:a16="http://schemas.microsoft.com/office/drawing/2014/main" id="{BCF6ACBD-412F-4511-8EE6-DE625212B185}"/>
                  </a:ext>
                </a:extLst>
              </p:cNvPr>
              <p:cNvSpPr txBox="1">
                <a:spLocks noRot="1" noChangeAspect="1" noMove="1" noResize="1" noEditPoints="1" noAdjustHandles="1" noChangeArrowheads="1" noChangeShapeType="1" noTextEdit="1"/>
              </p:cNvSpPr>
              <p:nvPr/>
            </p:nvSpPr>
            <p:spPr>
              <a:xfrm>
                <a:off x="5135586" y="5973163"/>
                <a:ext cx="6968929" cy="375552"/>
              </a:xfrm>
              <a:prstGeom prst="rect">
                <a:avLst/>
              </a:prstGeom>
              <a:blipFill>
                <a:blip r:embed="rId11"/>
                <a:stretch>
                  <a:fillRect t="-8197" r="-524" b="-26230"/>
                </a:stretch>
              </a:blipFill>
            </p:spPr>
            <p:txBody>
              <a:bodyPr/>
              <a:lstStyle/>
              <a:p>
                <a:r>
                  <a:rPr lang="en-US">
                    <a:noFill/>
                  </a:rPr>
                  <a:t> </a:t>
                </a:r>
              </a:p>
            </p:txBody>
          </p:sp>
        </mc:Fallback>
      </mc:AlternateContent>
      <p:cxnSp>
        <p:nvCxnSpPr>
          <p:cNvPr id="24" name="Straight Arrow Connector 23">
            <a:extLst>
              <a:ext uri="{FF2B5EF4-FFF2-40B4-BE49-F238E27FC236}">
                <a16:creationId xmlns:a16="http://schemas.microsoft.com/office/drawing/2014/main" id="{B2F66898-7B8F-4717-8BD6-6EA2C0946E66}"/>
              </a:ext>
            </a:extLst>
          </p:cNvPr>
          <p:cNvCxnSpPr>
            <a:cxnSpLocks/>
          </p:cNvCxnSpPr>
          <p:nvPr/>
        </p:nvCxnSpPr>
        <p:spPr>
          <a:xfrm flipH="1">
            <a:off x="6364339" y="4199086"/>
            <a:ext cx="1411842" cy="1819722"/>
          </a:xfrm>
          <a:prstGeom prst="straightConnector1">
            <a:avLst/>
          </a:prstGeom>
          <a:ln w="25400">
            <a:solidFill>
              <a:srgbClr val="0070C0"/>
            </a:solidFill>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6EE964DE-2501-465F-8B71-719A36F70B76}"/>
                  </a:ext>
                </a:extLst>
              </p:cNvPr>
              <p:cNvSpPr txBox="1"/>
              <p:nvPr/>
            </p:nvSpPr>
            <p:spPr>
              <a:xfrm>
                <a:off x="6628099" y="4199086"/>
                <a:ext cx="980496" cy="395621"/>
              </a:xfrm>
              <a:prstGeom prst="rect">
                <a:avLst/>
              </a:prstGeom>
              <a:noFill/>
            </p:spPr>
            <p:txBody>
              <a:bodyPr wrap="square">
                <a:spAutoFit/>
              </a:bodyPr>
              <a:lstStyle/>
              <a:p>
                <a:pPr algn="just"/>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𝑯</m:t>
                          </m:r>
                        </m:e>
                        <m:sub>
                          <m:r>
                            <a:rPr lang="en-US" b="1" i="1">
                              <a:latin typeface="Cambria Math" panose="02040503050406030204" pitchFamily="18" charset="0"/>
                              <a:cs typeface="Times New Roman" panose="02020603050405020304" pitchFamily="18" charset="0"/>
                            </a:rPr>
                            <m:t>𝒊</m:t>
                          </m:r>
                          <m:r>
                            <a:rPr lang="en-US" b="1" i="1">
                              <a:latin typeface="Cambria Math" panose="02040503050406030204" pitchFamily="18" charset="0"/>
                              <a:ea typeface="Cambria Math" panose="02040503050406030204" pitchFamily="18" charset="0"/>
                              <a:cs typeface="Times New Roman" panose="02020603050405020304" pitchFamily="18" charset="0"/>
                            </a:rPr>
                            <m:t>𝜶</m:t>
                          </m:r>
                          <m:r>
                            <a:rPr lang="en-US" b="1" i="1">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smtClean="0">
                              <a:latin typeface="Cambria Math" panose="02040503050406030204" pitchFamily="18" charset="0"/>
                              <a:ea typeface="Cambria Math" panose="02040503050406030204" pitchFamily="18" charset="0"/>
                              <a:cs typeface="Times New Roman" panose="02020603050405020304" pitchFamily="18" charset="0"/>
                            </a:rPr>
                            <m:t>ν</m:t>
                          </m:r>
                        </m:sub>
                      </m:sSub>
                      <m:r>
                        <a:rPr lang="en-US" b="1" i="1" smtClean="0">
                          <a:solidFill>
                            <a:schemeClr val="tx1"/>
                          </a:solidFill>
                          <a:effectLst/>
                          <a:latin typeface="Cambria Math" panose="02040503050406030204" pitchFamily="18" charset="0"/>
                          <a:cs typeface="Times New Roman" panose="02020603050405020304" pitchFamily="18" charset="0"/>
                        </a:rPr>
                        <m:t>=</m:t>
                      </m:r>
                    </m:oMath>
                  </m:oMathPara>
                </a14:m>
                <a:endParaRPr lang="en-US" b="1" dirty="0">
                  <a:solidFill>
                    <a:schemeClr val="tx1"/>
                  </a:solidFill>
                  <a:effectLst/>
                  <a:latin typeface="Times New Roman" panose="02020603050405020304" pitchFamily="18" charset="0"/>
                  <a:cs typeface="Times New Roman" panose="02020603050405020304" pitchFamily="18" charset="0"/>
                </a:endParaRPr>
              </a:p>
            </p:txBody>
          </p:sp>
        </mc:Choice>
        <mc:Fallback xmlns="">
          <p:sp>
            <p:nvSpPr>
              <p:cNvPr id="25" name="TextBox 24">
                <a:extLst>
                  <a:ext uri="{FF2B5EF4-FFF2-40B4-BE49-F238E27FC236}">
                    <a16:creationId xmlns:a16="http://schemas.microsoft.com/office/drawing/2014/main" id="{6EE964DE-2501-465F-8B71-719A36F70B76}"/>
                  </a:ext>
                </a:extLst>
              </p:cNvPr>
              <p:cNvSpPr txBox="1">
                <a:spLocks noRot="1" noChangeAspect="1" noMove="1" noResize="1" noEditPoints="1" noAdjustHandles="1" noChangeArrowheads="1" noChangeShapeType="1" noTextEdit="1"/>
              </p:cNvSpPr>
              <p:nvPr/>
            </p:nvSpPr>
            <p:spPr>
              <a:xfrm>
                <a:off x="6628099" y="4199086"/>
                <a:ext cx="980496" cy="395621"/>
              </a:xfrm>
              <a:prstGeom prst="rect">
                <a:avLst/>
              </a:prstGeom>
              <a:blipFill>
                <a:blip r:embed="rId12"/>
                <a:stretch>
                  <a:fillRect b="-7692"/>
                </a:stretch>
              </a:blipFill>
            </p:spPr>
            <p:txBody>
              <a:bodyPr/>
              <a:lstStyle/>
              <a:p>
                <a:r>
                  <a:rPr lang="en-US">
                    <a:noFill/>
                  </a:rPr>
                  <a:t> </a:t>
                </a:r>
              </a:p>
            </p:txBody>
          </p:sp>
        </mc:Fallback>
      </mc:AlternateContent>
      <p:sp>
        <p:nvSpPr>
          <p:cNvPr id="26" name="TextBox 25">
            <a:extLst>
              <a:ext uri="{FF2B5EF4-FFF2-40B4-BE49-F238E27FC236}">
                <a16:creationId xmlns:a16="http://schemas.microsoft.com/office/drawing/2014/main" id="{E77E94DB-BB87-4FA0-A15F-55313E76CE44}"/>
              </a:ext>
            </a:extLst>
          </p:cNvPr>
          <p:cNvSpPr txBox="1"/>
          <p:nvPr/>
        </p:nvSpPr>
        <p:spPr>
          <a:xfrm>
            <a:off x="657378" y="1866690"/>
            <a:ext cx="11187488"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The quantum mechanical probability amplitude of an electron hopping from orbital </a:t>
            </a:r>
            <a:r>
              <a:rPr lang="el-GR" b="1" i="1" dirty="0">
                <a:latin typeface="Times New Roman" panose="02020603050405020304" pitchFamily="18" charset="0"/>
                <a:cs typeface="Times New Roman" panose="02020603050405020304" pitchFamily="18" charset="0"/>
              </a:rPr>
              <a:t>ν</a:t>
            </a:r>
            <a:r>
              <a:rPr lang="en-US" b="1" dirty="0">
                <a:latin typeface="Times New Roman" panose="02020603050405020304" pitchFamily="18" charset="0"/>
                <a:cs typeface="Times New Roman" panose="02020603050405020304" pitchFamily="18" charset="0"/>
              </a:rPr>
              <a:t> at site </a:t>
            </a:r>
            <a:r>
              <a:rPr lang="en-US" b="1" i="1" dirty="0">
                <a:latin typeface="Times New Roman" panose="02020603050405020304" pitchFamily="18" charset="0"/>
                <a:cs typeface="Times New Roman" panose="02020603050405020304" pitchFamily="18" charset="0"/>
              </a:rPr>
              <a:t>j</a:t>
            </a:r>
            <a:r>
              <a:rPr lang="en-US" b="1" dirty="0">
                <a:latin typeface="Times New Roman" panose="02020603050405020304" pitchFamily="18" charset="0"/>
                <a:cs typeface="Times New Roman" panose="02020603050405020304" pitchFamily="18" charset="0"/>
              </a:rPr>
              <a:t> to orbital </a:t>
            </a:r>
            <a:r>
              <a:rPr lang="el-GR" b="1" i="1" dirty="0">
                <a:latin typeface="Times New Roman" panose="02020603050405020304" pitchFamily="18" charset="0"/>
                <a:cs typeface="Times New Roman" panose="02020603050405020304" pitchFamily="18" charset="0"/>
              </a:rPr>
              <a:t>α</a:t>
            </a:r>
            <a:r>
              <a:rPr lang="en-US" b="1" dirty="0">
                <a:latin typeface="Times New Roman" panose="02020603050405020304" pitchFamily="18" charset="0"/>
                <a:cs typeface="Times New Roman" panose="02020603050405020304" pitchFamily="18" charset="0"/>
              </a:rPr>
              <a:t> at site </a:t>
            </a:r>
            <a:r>
              <a:rPr lang="en-US" b="1" i="1" dirty="0" err="1">
                <a:latin typeface="Times New Roman" panose="02020603050405020304" pitchFamily="18" charset="0"/>
                <a:cs typeface="Times New Roman" panose="02020603050405020304" pitchFamily="18" charset="0"/>
              </a:rPr>
              <a:t>i</a:t>
            </a:r>
            <a:endParaRPr lang="en-US"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702B8537-FB09-48A1-96E9-0B9E0233125E}"/>
                  </a:ext>
                </a:extLst>
              </p:cNvPr>
              <p:cNvSpPr txBox="1"/>
              <p:nvPr/>
            </p:nvSpPr>
            <p:spPr>
              <a:xfrm>
                <a:off x="268317" y="2766051"/>
                <a:ext cx="5732910" cy="2585323"/>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Keep in mind that the hopping integral </a:t>
                </a:r>
                <a:r>
                  <a:rPr lang="en-US" b="1" i="1" dirty="0">
                    <a:latin typeface="Times New Roman" panose="02020603050405020304" pitchFamily="18" charset="0"/>
                    <a:cs typeface="Times New Roman" panose="02020603050405020304" pitchFamily="18" charset="0"/>
                  </a:rPr>
                  <a:t>t</a:t>
                </a:r>
                <a:r>
                  <a:rPr lang="en-US" b="1" dirty="0">
                    <a:latin typeface="Times New Roman" panose="02020603050405020304" pitchFamily="18" charset="0"/>
                    <a:cs typeface="Times New Roman" panose="02020603050405020304" pitchFamily="18" charset="0"/>
                  </a:rPr>
                  <a:t> usually takes a negative value, which directly stems from the negative sign of our attractive potential </a:t>
                </a:r>
                <a:r>
                  <a:rPr lang="el-GR" b="1" i="1" dirty="0">
                    <a:latin typeface="Times New Roman" panose="02020603050405020304" pitchFamily="18" charset="0"/>
                    <a:cs typeface="Times New Roman" panose="02020603050405020304" pitchFamily="18" charset="0"/>
                  </a:rPr>
                  <a:t>Δ</a:t>
                </a:r>
                <a:r>
                  <a:rPr lang="en-US" b="1" i="1" dirty="0">
                    <a:latin typeface="Times New Roman" panose="02020603050405020304" pitchFamily="18" charset="0"/>
                    <a:cs typeface="Times New Roman" panose="02020603050405020304" pitchFamily="18" charset="0"/>
                  </a:rPr>
                  <a:t>V</a:t>
                </a:r>
              </a:p>
              <a:p>
                <a:pPr algn="just"/>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The very core of TBM: it beautifully converts complex, continuous partial differential equations into a simple problem of solving these discrete matrix elements—namely, </a:t>
                </a:r>
                <a:r>
                  <a:rPr lang="en-US" altLang="zh-CN" b="1" dirty="0">
                    <a:latin typeface="Times New Roman" panose="02020603050405020304" pitchFamily="18" charset="0"/>
                    <a:cs typeface="Times New Roman" panose="02020603050405020304" pitchFamily="18" charset="0"/>
                  </a:rPr>
                  <a:t>the</a:t>
                </a:r>
                <a:r>
                  <a:rPr lang="en-US" b="1" dirty="0">
                    <a:latin typeface="Times New Roman" panose="02020603050405020304" pitchFamily="18" charset="0"/>
                    <a:cs typeface="Times New Roman" panose="02020603050405020304" pitchFamily="18" charset="0"/>
                  </a:rPr>
                  <a:t> hopping parameters </a:t>
                </a:r>
                <a:r>
                  <a:rPr lang="en-US" b="1" i="1" dirty="0">
                    <a:latin typeface="Times New Roman" panose="02020603050405020304" pitchFamily="18" charset="0"/>
                    <a:cs typeface="Times New Roman" panose="02020603050405020304" pitchFamily="18" charset="0"/>
                  </a:rPr>
                  <a:t>t</a:t>
                </a:r>
                <a:r>
                  <a:rPr lang="en-US" b="1" dirty="0">
                    <a:latin typeface="Times New Roman" panose="02020603050405020304" pitchFamily="18" charset="0"/>
                    <a:cs typeface="Times New Roman" panose="02020603050405020304" pitchFamily="18" charset="0"/>
                  </a:rPr>
                  <a:t> and on-site energies </a:t>
                </a:r>
                <a14:m>
                  <m:oMath xmlns:m="http://schemas.openxmlformats.org/officeDocument/2006/math">
                    <m:r>
                      <a:rPr lang="en-US" b="1" i="1" smtClean="0">
                        <a:latin typeface="Cambria Math" panose="02040503050406030204" pitchFamily="18" charset="0"/>
                        <a:ea typeface="Cambria Math" panose="02040503050406030204" pitchFamily="18" charset="0"/>
                        <a:cs typeface="Times New Roman" panose="02020603050405020304" pitchFamily="18" charset="0"/>
                      </a:rPr>
                      <m:t>𝜺</m:t>
                    </m:r>
                  </m:oMath>
                </a14:m>
                <a:endParaRPr lang="en-US" b="1" i="1" dirty="0">
                  <a:latin typeface="Times New Roman" panose="02020603050405020304" pitchFamily="18" charset="0"/>
                  <a:cs typeface="Times New Roman" panose="02020603050405020304" pitchFamily="18" charset="0"/>
                </a:endParaRPr>
              </a:p>
            </p:txBody>
          </p:sp>
        </mc:Choice>
        <mc:Fallback xmlns="">
          <p:sp>
            <p:nvSpPr>
              <p:cNvPr id="27" name="TextBox 26">
                <a:extLst>
                  <a:ext uri="{FF2B5EF4-FFF2-40B4-BE49-F238E27FC236}">
                    <a16:creationId xmlns:a16="http://schemas.microsoft.com/office/drawing/2014/main" id="{702B8537-FB09-48A1-96E9-0B9E0233125E}"/>
                  </a:ext>
                </a:extLst>
              </p:cNvPr>
              <p:cNvSpPr txBox="1">
                <a:spLocks noRot="1" noChangeAspect="1" noMove="1" noResize="1" noEditPoints="1" noAdjustHandles="1" noChangeArrowheads="1" noChangeShapeType="1" noTextEdit="1"/>
              </p:cNvSpPr>
              <p:nvPr/>
            </p:nvSpPr>
            <p:spPr>
              <a:xfrm>
                <a:off x="268317" y="2766051"/>
                <a:ext cx="5732910" cy="2585323"/>
              </a:xfrm>
              <a:prstGeom prst="rect">
                <a:avLst/>
              </a:prstGeom>
              <a:blipFill>
                <a:blip r:embed="rId13"/>
                <a:stretch>
                  <a:fillRect l="-851" t="-1415" r="-957" b="-2830"/>
                </a:stretch>
              </a:blipFill>
            </p:spPr>
            <p:txBody>
              <a:bodyPr/>
              <a:lstStyle/>
              <a:p>
                <a:r>
                  <a:rPr lang="en-US">
                    <a:noFill/>
                  </a:rPr>
                  <a:t> </a:t>
                </a:r>
              </a:p>
            </p:txBody>
          </p:sp>
        </mc:Fallback>
      </mc:AlternateContent>
    </p:spTree>
    <p:extLst>
      <p:ext uri="{BB962C8B-B14F-4D97-AF65-F5344CB8AC3E}">
        <p14:creationId xmlns:p14="http://schemas.microsoft.com/office/powerpoint/2010/main" val="42307106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7" name="Group 56">
            <a:extLst>
              <a:ext uri="{FF2B5EF4-FFF2-40B4-BE49-F238E27FC236}">
                <a16:creationId xmlns:a16="http://schemas.microsoft.com/office/drawing/2014/main" id="{25DE607E-C7B2-4518-8789-9F5F985FD76D}"/>
              </a:ext>
            </a:extLst>
          </p:cNvPr>
          <p:cNvGrpSpPr/>
          <p:nvPr/>
        </p:nvGrpSpPr>
        <p:grpSpPr>
          <a:xfrm rot="2646963" flipH="1">
            <a:off x="7539322" y="4371726"/>
            <a:ext cx="2509935" cy="1731919"/>
            <a:chOff x="3293705" y="4438591"/>
            <a:chExt cx="2509935" cy="1731919"/>
          </a:xfrm>
        </p:grpSpPr>
        <p:cxnSp>
          <p:nvCxnSpPr>
            <p:cNvPr id="58" name="Straight Arrow Connector 57">
              <a:extLst>
                <a:ext uri="{FF2B5EF4-FFF2-40B4-BE49-F238E27FC236}">
                  <a16:creationId xmlns:a16="http://schemas.microsoft.com/office/drawing/2014/main" id="{A8BA3346-D6B0-4537-B8C5-180D5CA67814}"/>
                </a:ext>
              </a:extLst>
            </p:cNvPr>
            <p:cNvCxnSpPr>
              <a:cxnSpLocks/>
            </p:cNvCxnSpPr>
            <p:nvPr/>
          </p:nvCxnSpPr>
          <p:spPr>
            <a:xfrm>
              <a:off x="3293705" y="5281119"/>
              <a:ext cx="250993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F5839971-00E8-4482-9C2E-2949EEE3CCC3}"/>
                </a:ext>
              </a:extLst>
            </p:cNvPr>
            <p:cNvCxnSpPr>
              <a:cxnSpLocks/>
            </p:cNvCxnSpPr>
            <p:nvPr/>
          </p:nvCxnSpPr>
          <p:spPr>
            <a:xfrm rot="2646963">
              <a:off x="3859936" y="4438591"/>
              <a:ext cx="1292742" cy="1360192"/>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4BCFB3D5-599C-4BDF-9C7E-4B8F3F1E0215}"/>
                </a:ext>
              </a:extLst>
            </p:cNvPr>
            <p:cNvCxnSpPr>
              <a:cxnSpLocks/>
            </p:cNvCxnSpPr>
            <p:nvPr/>
          </p:nvCxnSpPr>
          <p:spPr>
            <a:xfrm flipH="1">
              <a:off x="3526970" y="4711959"/>
              <a:ext cx="1856793" cy="12166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460CDC2F-7F0E-4864-9973-A3BB0B642A9F}"/>
                </a:ext>
              </a:extLst>
            </p:cNvPr>
            <p:cNvSpPr txBox="1"/>
            <p:nvPr/>
          </p:nvSpPr>
          <p:spPr>
            <a:xfrm>
              <a:off x="3542881" y="5801178"/>
              <a:ext cx="371396"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x'</a:t>
              </a:r>
            </a:p>
          </p:txBody>
        </p:sp>
        <p:sp>
          <p:nvSpPr>
            <p:cNvPr id="62" name="TextBox 61">
              <a:extLst>
                <a:ext uri="{FF2B5EF4-FFF2-40B4-BE49-F238E27FC236}">
                  <a16:creationId xmlns:a16="http://schemas.microsoft.com/office/drawing/2014/main" id="{BAEA8911-A5A5-46BD-8C0B-C6414D20F7E9}"/>
                </a:ext>
              </a:extLst>
            </p:cNvPr>
            <p:cNvSpPr txBox="1"/>
            <p:nvPr/>
          </p:nvSpPr>
          <p:spPr>
            <a:xfrm>
              <a:off x="5436049" y="5258075"/>
              <a:ext cx="359457"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y'</a:t>
              </a:r>
            </a:p>
          </p:txBody>
        </p:sp>
        <p:sp>
          <p:nvSpPr>
            <p:cNvPr id="63" name="TextBox 62">
              <a:extLst>
                <a:ext uri="{FF2B5EF4-FFF2-40B4-BE49-F238E27FC236}">
                  <a16:creationId xmlns:a16="http://schemas.microsoft.com/office/drawing/2014/main" id="{A21D9B87-FF9F-487B-A8AC-946E8C823141}"/>
                </a:ext>
              </a:extLst>
            </p:cNvPr>
            <p:cNvSpPr txBox="1"/>
            <p:nvPr/>
          </p:nvSpPr>
          <p:spPr>
            <a:xfrm rot="2646963">
              <a:off x="4204098" y="5741497"/>
              <a:ext cx="337027"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z'</a:t>
              </a:r>
            </a:p>
          </p:txBody>
        </p:sp>
        <p:sp>
          <p:nvSpPr>
            <p:cNvPr id="64" name="Oval 63">
              <a:extLst>
                <a:ext uri="{FF2B5EF4-FFF2-40B4-BE49-F238E27FC236}">
                  <a16:creationId xmlns:a16="http://schemas.microsoft.com/office/drawing/2014/main" id="{688B2E17-9C59-4532-BCA2-3B66EA4C3B97}"/>
                </a:ext>
              </a:extLst>
            </p:cNvPr>
            <p:cNvSpPr/>
            <p:nvPr/>
          </p:nvSpPr>
          <p:spPr>
            <a:xfrm>
              <a:off x="4185758" y="4975792"/>
              <a:ext cx="597390" cy="636504"/>
            </a:xfrm>
            <a:prstGeom prst="ellipse">
              <a:avLst/>
            </a:prstGeom>
            <a:solidFill>
              <a:srgbClr val="0070C0">
                <a:alpha val="20000"/>
              </a:srgbClr>
            </a:solidFill>
            <a:ln>
              <a:solidFill>
                <a:srgbClr val="0070C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TextBox 64">
              <a:extLst>
                <a:ext uri="{FF2B5EF4-FFF2-40B4-BE49-F238E27FC236}">
                  <a16:creationId xmlns:a16="http://schemas.microsoft.com/office/drawing/2014/main" id="{24A4B178-0336-448E-AEF6-8E595AB656EF}"/>
                </a:ext>
              </a:extLst>
            </p:cNvPr>
            <p:cNvSpPr txBox="1"/>
            <p:nvPr/>
          </p:nvSpPr>
          <p:spPr>
            <a:xfrm rot="2646963">
              <a:off x="4135481" y="4774496"/>
              <a:ext cx="257918" cy="369332"/>
            </a:xfrm>
            <a:prstGeom prst="rect">
              <a:avLst/>
            </a:prstGeom>
            <a:noFill/>
          </p:spPr>
          <p:txBody>
            <a:bodyPr wrap="square" rtlCol="0">
              <a:spAutoFit/>
            </a:bodyPr>
            <a:lstStyle/>
            <a:p>
              <a:r>
                <a:rPr lang="en-US" b="1" i="1" dirty="0">
                  <a:solidFill>
                    <a:srgbClr val="0070C0"/>
                  </a:solidFill>
                  <a:latin typeface="Times New Roman" panose="02020603050405020304" pitchFamily="18" charset="0"/>
                  <a:cs typeface="Times New Roman" panose="02020603050405020304" pitchFamily="18" charset="0"/>
                </a:rPr>
                <a:t>s</a:t>
              </a:r>
            </a:p>
          </p:txBody>
        </p:sp>
        <p:sp>
          <p:nvSpPr>
            <p:cNvPr id="66" name="Freeform: Shape 65">
              <a:extLst>
                <a:ext uri="{FF2B5EF4-FFF2-40B4-BE49-F238E27FC236}">
                  <a16:creationId xmlns:a16="http://schemas.microsoft.com/office/drawing/2014/main" id="{37398B88-9F5F-443B-A5EF-8C85B6154C50}"/>
                </a:ext>
              </a:extLst>
            </p:cNvPr>
            <p:cNvSpPr/>
            <p:nvPr/>
          </p:nvSpPr>
          <p:spPr>
            <a:xfrm>
              <a:off x="4019144" y="5273479"/>
              <a:ext cx="475523" cy="401902"/>
            </a:xfrm>
            <a:custGeom>
              <a:avLst/>
              <a:gdLst>
                <a:gd name="connsiteX0" fmla="*/ 468879 w 475523"/>
                <a:gd name="connsiteY0" fmla="*/ 7648 h 401902"/>
                <a:gd name="connsiteX1" fmla="*/ 179630 w 475523"/>
                <a:gd name="connsiteY1" fmla="*/ 82292 h 401902"/>
                <a:gd name="connsiteX2" fmla="*/ 21010 w 475523"/>
                <a:gd name="connsiteY2" fmla="*/ 166268 h 401902"/>
                <a:gd name="connsiteX3" fmla="*/ 21010 w 475523"/>
                <a:gd name="connsiteY3" fmla="*/ 343550 h 401902"/>
                <a:gd name="connsiteX4" fmla="*/ 198292 w 475523"/>
                <a:gd name="connsiteY4" fmla="*/ 399533 h 401902"/>
                <a:gd name="connsiteX5" fmla="*/ 366243 w 475523"/>
                <a:gd name="connsiteY5" fmla="*/ 278235 h 401902"/>
                <a:gd name="connsiteX6" fmla="*/ 468879 w 475523"/>
                <a:gd name="connsiteY6" fmla="*/ 7648 h 40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3" h="401902">
                  <a:moveTo>
                    <a:pt x="468879" y="7648"/>
                  </a:moveTo>
                  <a:cubicBezTo>
                    <a:pt x="437777" y="-25009"/>
                    <a:pt x="254275" y="55855"/>
                    <a:pt x="179630" y="82292"/>
                  </a:cubicBezTo>
                  <a:cubicBezTo>
                    <a:pt x="104985" y="108729"/>
                    <a:pt x="47447" y="122725"/>
                    <a:pt x="21010" y="166268"/>
                  </a:cubicBezTo>
                  <a:cubicBezTo>
                    <a:pt x="-5427" y="209811"/>
                    <a:pt x="-8537" y="304673"/>
                    <a:pt x="21010" y="343550"/>
                  </a:cubicBezTo>
                  <a:cubicBezTo>
                    <a:pt x="50557" y="382427"/>
                    <a:pt x="140753" y="410419"/>
                    <a:pt x="198292" y="399533"/>
                  </a:cubicBezTo>
                  <a:cubicBezTo>
                    <a:pt x="255831" y="388647"/>
                    <a:pt x="318035" y="340439"/>
                    <a:pt x="366243" y="278235"/>
                  </a:cubicBezTo>
                  <a:cubicBezTo>
                    <a:pt x="414451" y="216031"/>
                    <a:pt x="499981" y="40305"/>
                    <a:pt x="468879" y="7648"/>
                  </a:cubicBezTo>
                  <a:close/>
                </a:path>
              </a:pathLst>
            </a:custGeom>
            <a:solidFill>
              <a:srgbClr val="FFC000">
                <a:alpha val="50000"/>
              </a:srgbClr>
            </a:solidFill>
            <a:ln>
              <a:solidFill>
                <a:srgbClr val="FFC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7" name="Freeform: Shape 66">
              <a:extLst>
                <a:ext uri="{FF2B5EF4-FFF2-40B4-BE49-F238E27FC236}">
                  <a16:creationId xmlns:a16="http://schemas.microsoft.com/office/drawing/2014/main" id="{4207DF29-44AD-4941-9C99-D32954C3E910}"/>
                </a:ext>
              </a:extLst>
            </p:cNvPr>
            <p:cNvSpPr/>
            <p:nvPr/>
          </p:nvSpPr>
          <p:spPr>
            <a:xfrm rot="11281426">
              <a:off x="4543142" y="4927085"/>
              <a:ext cx="475523" cy="401902"/>
            </a:xfrm>
            <a:custGeom>
              <a:avLst/>
              <a:gdLst>
                <a:gd name="connsiteX0" fmla="*/ 468879 w 475523"/>
                <a:gd name="connsiteY0" fmla="*/ 7648 h 401902"/>
                <a:gd name="connsiteX1" fmla="*/ 179630 w 475523"/>
                <a:gd name="connsiteY1" fmla="*/ 82292 h 401902"/>
                <a:gd name="connsiteX2" fmla="*/ 21010 w 475523"/>
                <a:gd name="connsiteY2" fmla="*/ 166268 h 401902"/>
                <a:gd name="connsiteX3" fmla="*/ 21010 w 475523"/>
                <a:gd name="connsiteY3" fmla="*/ 343550 h 401902"/>
                <a:gd name="connsiteX4" fmla="*/ 198292 w 475523"/>
                <a:gd name="connsiteY4" fmla="*/ 399533 h 401902"/>
                <a:gd name="connsiteX5" fmla="*/ 366243 w 475523"/>
                <a:gd name="connsiteY5" fmla="*/ 278235 h 401902"/>
                <a:gd name="connsiteX6" fmla="*/ 468879 w 475523"/>
                <a:gd name="connsiteY6" fmla="*/ 7648 h 40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3" h="401902">
                  <a:moveTo>
                    <a:pt x="468879" y="7648"/>
                  </a:moveTo>
                  <a:cubicBezTo>
                    <a:pt x="437777" y="-25009"/>
                    <a:pt x="254275" y="55855"/>
                    <a:pt x="179630" y="82292"/>
                  </a:cubicBezTo>
                  <a:cubicBezTo>
                    <a:pt x="104985" y="108729"/>
                    <a:pt x="47447" y="122725"/>
                    <a:pt x="21010" y="166268"/>
                  </a:cubicBezTo>
                  <a:cubicBezTo>
                    <a:pt x="-5427" y="209811"/>
                    <a:pt x="-8537" y="304673"/>
                    <a:pt x="21010" y="343550"/>
                  </a:cubicBezTo>
                  <a:cubicBezTo>
                    <a:pt x="50557" y="382427"/>
                    <a:pt x="140753" y="410419"/>
                    <a:pt x="198292" y="399533"/>
                  </a:cubicBezTo>
                  <a:cubicBezTo>
                    <a:pt x="255831" y="388647"/>
                    <a:pt x="318035" y="340439"/>
                    <a:pt x="366243" y="278235"/>
                  </a:cubicBezTo>
                  <a:cubicBezTo>
                    <a:pt x="414451" y="216031"/>
                    <a:pt x="499981" y="40305"/>
                    <a:pt x="468879" y="7648"/>
                  </a:cubicBezTo>
                  <a:close/>
                </a:path>
              </a:pathLst>
            </a:custGeom>
            <a:solidFill>
              <a:srgbClr val="FFC000">
                <a:alpha val="50000"/>
              </a:srgbClr>
            </a:solidFill>
            <a:ln>
              <a:solidFill>
                <a:srgbClr val="FFC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TextBox 67">
              <a:extLst>
                <a:ext uri="{FF2B5EF4-FFF2-40B4-BE49-F238E27FC236}">
                  <a16:creationId xmlns:a16="http://schemas.microsoft.com/office/drawing/2014/main" id="{57834FC5-FF39-44A3-859F-615B61C90A99}"/>
                </a:ext>
              </a:extLst>
            </p:cNvPr>
            <p:cNvSpPr txBox="1"/>
            <p:nvPr/>
          </p:nvSpPr>
          <p:spPr>
            <a:xfrm rot="2830015">
              <a:off x="3709731" y="5227088"/>
              <a:ext cx="394849" cy="369332"/>
            </a:xfrm>
            <a:prstGeom prst="rect">
              <a:avLst/>
            </a:prstGeom>
            <a:noFill/>
          </p:spPr>
          <p:txBody>
            <a:bodyPr wrap="square" rtlCol="0">
              <a:spAutoFit/>
            </a:bodyPr>
            <a:lstStyle/>
            <a:p>
              <a:r>
                <a:rPr lang="en-US" b="1" i="1" dirty="0">
                  <a:solidFill>
                    <a:srgbClr val="FFC000"/>
                  </a:solidFill>
                  <a:latin typeface="Times New Roman" panose="02020603050405020304" pitchFamily="18" charset="0"/>
                  <a:cs typeface="Times New Roman" panose="02020603050405020304" pitchFamily="18" charset="0"/>
                </a:rPr>
                <a:t>p</a:t>
              </a:r>
              <a:r>
                <a:rPr lang="en-US" sz="1100" b="1" i="1" dirty="0">
                  <a:solidFill>
                    <a:srgbClr val="FFC000"/>
                  </a:solidFill>
                  <a:latin typeface="Times New Roman" panose="02020603050405020304" pitchFamily="18" charset="0"/>
                  <a:cs typeface="Times New Roman" panose="02020603050405020304" pitchFamily="18" charset="0"/>
                </a:rPr>
                <a:t>x</a:t>
              </a:r>
              <a:endParaRPr lang="en-US" b="1" i="1" dirty="0">
                <a:solidFill>
                  <a:srgbClr val="FFC000"/>
                </a:solidFill>
                <a:latin typeface="Times New Roman" panose="02020603050405020304" pitchFamily="18" charset="0"/>
                <a:cs typeface="Times New Roman" panose="02020603050405020304" pitchFamily="18" charset="0"/>
              </a:endParaRPr>
            </a:p>
          </p:txBody>
        </p:sp>
      </p:grpSp>
      <p:grpSp>
        <p:nvGrpSpPr>
          <p:cNvPr id="45" name="Group 44">
            <a:extLst>
              <a:ext uri="{FF2B5EF4-FFF2-40B4-BE49-F238E27FC236}">
                <a16:creationId xmlns:a16="http://schemas.microsoft.com/office/drawing/2014/main" id="{8DB1A4DD-AB32-432A-A1BA-4B7C5BEE9663}"/>
              </a:ext>
            </a:extLst>
          </p:cNvPr>
          <p:cNvGrpSpPr/>
          <p:nvPr/>
        </p:nvGrpSpPr>
        <p:grpSpPr>
          <a:xfrm rot="19481224">
            <a:off x="5999271" y="4004482"/>
            <a:ext cx="2643918" cy="2363911"/>
            <a:chOff x="3293705" y="4101966"/>
            <a:chExt cx="2643918" cy="2363911"/>
          </a:xfrm>
        </p:grpSpPr>
        <p:cxnSp>
          <p:nvCxnSpPr>
            <p:cNvPr id="46" name="Straight Arrow Connector 45">
              <a:extLst>
                <a:ext uri="{FF2B5EF4-FFF2-40B4-BE49-F238E27FC236}">
                  <a16:creationId xmlns:a16="http://schemas.microsoft.com/office/drawing/2014/main" id="{16A85FB8-12A1-45CF-8F0A-D9E5955FB0CD}"/>
                </a:ext>
              </a:extLst>
            </p:cNvPr>
            <p:cNvCxnSpPr>
              <a:cxnSpLocks/>
            </p:cNvCxnSpPr>
            <p:nvPr/>
          </p:nvCxnSpPr>
          <p:spPr>
            <a:xfrm>
              <a:off x="3293705" y="5281119"/>
              <a:ext cx="250993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8CCDA822-1C1E-4EC5-84CB-E32DA369F986}"/>
                </a:ext>
              </a:extLst>
            </p:cNvPr>
            <p:cNvCxnSpPr>
              <a:cxnSpLocks/>
            </p:cNvCxnSpPr>
            <p:nvPr/>
          </p:nvCxnSpPr>
          <p:spPr>
            <a:xfrm flipV="1">
              <a:off x="4509795" y="4226761"/>
              <a:ext cx="0" cy="22391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DEC8D76-834B-415D-B15F-0563217718A7}"/>
                </a:ext>
              </a:extLst>
            </p:cNvPr>
            <p:cNvCxnSpPr>
              <a:cxnSpLocks/>
            </p:cNvCxnSpPr>
            <p:nvPr/>
          </p:nvCxnSpPr>
          <p:spPr>
            <a:xfrm flipH="1">
              <a:off x="3526970" y="4711959"/>
              <a:ext cx="1856793" cy="12166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AB51C606-9FB2-4100-9379-CF6396D3F57F}"/>
                </a:ext>
              </a:extLst>
            </p:cNvPr>
            <p:cNvSpPr txBox="1"/>
            <p:nvPr/>
          </p:nvSpPr>
          <p:spPr>
            <a:xfrm>
              <a:off x="3588565" y="5788777"/>
              <a:ext cx="402964"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x'</a:t>
              </a:r>
            </a:p>
          </p:txBody>
        </p:sp>
        <p:sp>
          <p:nvSpPr>
            <p:cNvPr id="50" name="TextBox 49">
              <a:extLst>
                <a:ext uri="{FF2B5EF4-FFF2-40B4-BE49-F238E27FC236}">
                  <a16:creationId xmlns:a16="http://schemas.microsoft.com/office/drawing/2014/main" id="{253BE4FE-57FC-48B2-9F76-CD9DD3D7F27B}"/>
                </a:ext>
              </a:extLst>
            </p:cNvPr>
            <p:cNvSpPr txBox="1"/>
            <p:nvPr/>
          </p:nvSpPr>
          <p:spPr>
            <a:xfrm>
              <a:off x="5586373" y="4760907"/>
              <a:ext cx="351250"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y'</a:t>
              </a:r>
            </a:p>
          </p:txBody>
        </p:sp>
        <p:sp>
          <p:nvSpPr>
            <p:cNvPr id="51" name="TextBox 50">
              <a:extLst>
                <a:ext uri="{FF2B5EF4-FFF2-40B4-BE49-F238E27FC236}">
                  <a16:creationId xmlns:a16="http://schemas.microsoft.com/office/drawing/2014/main" id="{2654C56A-A499-42F5-BCBB-8B3A0C0A9A49}"/>
                </a:ext>
              </a:extLst>
            </p:cNvPr>
            <p:cNvSpPr txBox="1"/>
            <p:nvPr/>
          </p:nvSpPr>
          <p:spPr>
            <a:xfrm>
              <a:off x="4226534" y="4101966"/>
              <a:ext cx="335742"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z'</a:t>
              </a:r>
            </a:p>
          </p:txBody>
        </p:sp>
        <p:sp>
          <p:nvSpPr>
            <p:cNvPr id="52" name="Oval 51">
              <a:extLst>
                <a:ext uri="{FF2B5EF4-FFF2-40B4-BE49-F238E27FC236}">
                  <a16:creationId xmlns:a16="http://schemas.microsoft.com/office/drawing/2014/main" id="{E19FCBEE-6075-46C1-87C5-D659E75CB5C6}"/>
                </a:ext>
              </a:extLst>
            </p:cNvPr>
            <p:cNvSpPr/>
            <p:nvPr/>
          </p:nvSpPr>
          <p:spPr>
            <a:xfrm>
              <a:off x="4185758" y="4975792"/>
              <a:ext cx="597390" cy="636504"/>
            </a:xfrm>
            <a:prstGeom prst="ellipse">
              <a:avLst/>
            </a:prstGeom>
            <a:solidFill>
              <a:srgbClr val="0070C0">
                <a:alpha val="20000"/>
              </a:srgbClr>
            </a:solidFill>
            <a:ln>
              <a:solidFill>
                <a:srgbClr val="0070C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Box 52">
              <a:extLst>
                <a:ext uri="{FF2B5EF4-FFF2-40B4-BE49-F238E27FC236}">
                  <a16:creationId xmlns:a16="http://schemas.microsoft.com/office/drawing/2014/main" id="{15537245-B457-4CBE-97B7-D0EA4C507E0C}"/>
                </a:ext>
              </a:extLst>
            </p:cNvPr>
            <p:cNvSpPr txBox="1"/>
            <p:nvPr/>
          </p:nvSpPr>
          <p:spPr>
            <a:xfrm>
              <a:off x="4110247" y="4747086"/>
              <a:ext cx="257918" cy="369332"/>
            </a:xfrm>
            <a:prstGeom prst="rect">
              <a:avLst/>
            </a:prstGeom>
            <a:noFill/>
          </p:spPr>
          <p:txBody>
            <a:bodyPr wrap="square" rtlCol="0">
              <a:spAutoFit/>
            </a:bodyPr>
            <a:lstStyle/>
            <a:p>
              <a:r>
                <a:rPr lang="en-US" b="1" i="1" dirty="0">
                  <a:solidFill>
                    <a:srgbClr val="0070C0"/>
                  </a:solidFill>
                  <a:latin typeface="Times New Roman" panose="02020603050405020304" pitchFamily="18" charset="0"/>
                  <a:cs typeface="Times New Roman" panose="02020603050405020304" pitchFamily="18" charset="0"/>
                </a:rPr>
                <a:t>s</a:t>
              </a:r>
            </a:p>
          </p:txBody>
        </p:sp>
        <p:sp>
          <p:nvSpPr>
            <p:cNvPr id="54" name="Freeform: Shape 53">
              <a:extLst>
                <a:ext uri="{FF2B5EF4-FFF2-40B4-BE49-F238E27FC236}">
                  <a16:creationId xmlns:a16="http://schemas.microsoft.com/office/drawing/2014/main" id="{A870CA1F-CDBF-47C8-9804-B522AA77779D}"/>
                </a:ext>
              </a:extLst>
            </p:cNvPr>
            <p:cNvSpPr/>
            <p:nvPr/>
          </p:nvSpPr>
          <p:spPr>
            <a:xfrm>
              <a:off x="4019144" y="5273479"/>
              <a:ext cx="475523" cy="401902"/>
            </a:xfrm>
            <a:custGeom>
              <a:avLst/>
              <a:gdLst>
                <a:gd name="connsiteX0" fmla="*/ 468879 w 475523"/>
                <a:gd name="connsiteY0" fmla="*/ 7648 h 401902"/>
                <a:gd name="connsiteX1" fmla="*/ 179630 w 475523"/>
                <a:gd name="connsiteY1" fmla="*/ 82292 h 401902"/>
                <a:gd name="connsiteX2" fmla="*/ 21010 w 475523"/>
                <a:gd name="connsiteY2" fmla="*/ 166268 h 401902"/>
                <a:gd name="connsiteX3" fmla="*/ 21010 w 475523"/>
                <a:gd name="connsiteY3" fmla="*/ 343550 h 401902"/>
                <a:gd name="connsiteX4" fmla="*/ 198292 w 475523"/>
                <a:gd name="connsiteY4" fmla="*/ 399533 h 401902"/>
                <a:gd name="connsiteX5" fmla="*/ 366243 w 475523"/>
                <a:gd name="connsiteY5" fmla="*/ 278235 h 401902"/>
                <a:gd name="connsiteX6" fmla="*/ 468879 w 475523"/>
                <a:gd name="connsiteY6" fmla="*/ 7648 h 40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3" h="401902">
                  <a:moveTo>
                    <a:pt x="468879" y="7648"/>
                  </a:moveTo>
                  <a:cubicBezTo>
                    <a:pt x="437777" y="-25009"/>
                    <a:pt x="254275" y="55855"/>
                    <a:pt x="179630" y="82292"/>
                  </a:cubicBezTo>
                  <a:cubicBezTo>
                    <a:pt x="104985" y="108729"/>
                    <a:pt x="47447" y="122725"/>
                    <a:pt x="21010" y="166268"/>
                  </a:cubicBezTo>
                  <a:cubicBezTo>
                    <a:pt x="-5427" y="209811"/>
                    <a:pt x="-8537" y="304673"/>
                    <a:pt x="21010" y="343550"/>
                  </a:cubicBezTo>
                  <a:cubicBezTo>
                    <a:pt x="50557" y="382427"/>
                    <a:pt x="140753" y="410419"/>
                    <a:pt x="198292" y="399533"/>
                  </a:cubicBezTo>
                  <a:cubicBezTo>
                    <a:pt x="255831" y="388647"/>
                    <a:pt x="318035" y="340439"/>
                    <a:pt x="366243" y="278235"/>
                  </a:cubicBezTo>
                  <a:cubicBezTo>
                    <a:pt x="414451" y="216031"/>
                    <a:pt x="499981" y="40305"/>
                    <a:pt x="468879" y="7648"/>
                  </a:cubicBezTo>
                  <a:close/>
                </a:path>
              </a:pathLst>
            </a:custGeom>
            <a:solidFill>
              <a:srgbClr val="FFC000">
                <a:alpha val="50000"/>
              </a:srgbClr>
            </a:solidFill>
            <a:ln>
              <a:solidFill>
                <a:srgbClr val="FFC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Shape 54">
              <a:extLst>
                <a:ext uri="{FF2B5EF4-FFF2-40B4-BE49-F238E27FC236}">
                  <a16:creationId xmlns:a16="http://schemas.microsoft.com/office/drawing/2014/main" id="{5F6A275F-3279-4FEC-A9A4-E1649F7B3FAC}"/>
                </a:ext>
              </a:extLst>
            </p:cNvPr>
            <p:cNvSpPr/>
            <p:nvPr/>
          </p:nvSpPr>
          <p:spPr>
            <a:xfrm rot="11281426">
              <a:off x="4543142" y="4927085"/>
              <a:ext cx="475523" cy="401902"/>
            </a:xfrm>
            <a:custGeom>
              <a:avLst/>
              <a:gdLst>
                <a:gd name="connsiteX0" fmla="*/ 468879 w 475523"/>
                <a:gd name="connsiteY0" fmla="*/ 7648 h 401902"/>
                <a:gd name="connsiteX1" fmla="*/ 179630 w 475523"/>
                <a:gd name="connsiteY1" fmla="*/ 82292 h 401902"/>
                <a:gd name="connsiteX2" fmla="*/ 21010 w 475523"/>
                <a:gd name="connsiteY2" fmla="*/ 166268 h 401902"/>
                <a:gd name="connsiteX3" fmla="*/ 21010 w 475523"/>
                <a:gd name="connsiteY3" fmla="*/ 343550 h 401902"/>
                <a:gd name="connsiteX4" fmla="*/ 198292 w 475523"/>
                <a:gd name="connsiteY4" fmla="*/ 399533 h 401902"/>
                <a:gd name="connsiteX5" fmla="*/ 366243 w 475523"/>
                <a:gd name="connsiteY5" fmla="*/ 278235 h 401902"/>
                <a:gd name="connsiteX6" fmla="*/ 468879 w 475523"/>
                <a:gd name="connsiteY6" fmla="*/ 7648 h 40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3" h="401902">
                  <a:moveTo>
                    <a:pt x="468879" y="7648"/>
                  </a:moveTo>
                  <a:cubicBezTo>
                    <a:pt x="437777" y="-25009"/>
                    <a:pt x="254275" y="55855"/>
                    <a:pt x="179630" y="82292"/>
                  </a:cubicBezTo>
                  <a:cubicBezTo>
                    <a:pt x="104985" y="108729"/>
                    <a:pt x="47447" y="122725"/>
                    <a:pt x="21010" y="166268"/>
                  </a:cubicBezTo>
                  <a:cubicBezTo>
                    <a:pt x="-5427" y="209811"/>
                    <a:pt x="-8537" y="304673"/>
                    <a:pt x="21010" y="343550"/>
                  </a:cubicBezTo>
                  <a:cubicBezTo>
                    <a:pt x="50557" y="382427"/>
                    <a:pt x="140753" y="410419"/>
                    <a:pt x="198292" y="399533"/>
                  </a:cubicBezTo>
                  <a:cubicBezTo>
                    <a:pt x="255831" y="388647"/>
                    <a:pt x="318035" y="340439"/>
                    <a:pt x="366243" y="278235"/>
                  </a:cubicBezTo>
                  <a:cubicBezTo>
                    <a:pt x="414451" y="216031"/>
                    <a:pt x="499981" y="40305"/>
                    <a:pt x="468879" y="7648"/>
                  </a:cubicBezTo>
                  <a:close/>
                </a:path>
              </a:pathLst>
            </a:custGeom>
            <a:solidFill>
              <a:srgbClr val="FFC000">
                <a:alpha val="50000"/>
              </a:srgbClr>
            </a:solidFill>
            <a:ln>
              <a:solidFill>
                <a:srgbClr val="FFC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6" name="TextBox 55">
              <a:extLst>
                <a:ext uri="{FF2B5EF4-FFF2-40B4-BE49-F238E27FC236}">
                  <a16:creationId xmlns:a16="http://schemas.microsoft.com/office/drawing/2014/main" id="{72C23F3D-3F30-4CE8-B39B-DDC2000AF4CB}"/>
                </a:ext>
              </a:extLst>
            </p:cNvPr>
            <p:cNvSpPr txBox="1"/>
            <p:nvPr/>
          </p:nvSpPr>
          <p:spPr>
            <a:xfrm>
              <a:off x="4103909" y="5556555"/>
              <a:ext cx="394849" cy="369332"/>
            </a:xfrm>
            <a:prstGeom prst="rect">
              <a:avLst/>
            </a:prstGeom>
            <a:noFill/>
          </p:spPr>
          <p:txBody>
            <a:bodyPr wrap="square" rtlCol="0">
              <a:spAutoFit/>
            </a:bodyPr>
            <a:lstStyle/>
            <a:p>
              <a:r>
                <a:rPr lang="en-US" b="1" i="1" dirty="0">
                  <a:solidFill>
                    <a:srgbClr val="FFC000"/>
                  </a:solidFill>
                  <a:latin typeface="Times New Roman" panose="02020603050405020304" pitchFamily="18" charset="0"/>
                  <a:cs typeface="Times New Roman" panose="02020603050405020304" pitchFamily="18" charset="0"/>
                </a:rPr>
                <a:t>p</a:t>
              </a:r>
              <a:r>
                <a:rPr lang="en-US" sz="1100" b="1" i="1" dirty="0">
                  <a:solidFill>
                    <a:srgbClr val="FFC000"/>
                  </a:solidFill>
                  <a:latin typeface="Times New Roman" panose="02020603050405020304" pitchFamily="18" charset="0"/>
                  <a:cs typeface="Times New Roman" panose="02020603050405020304" pitchFamily="18" charset="0"/>
                </a:rPr>
                <a:t>x</a:t>
              </a:r>
              <a:endParaRPr lang="en-US" b="1" i="1" dirty="0">
                <a:solidFill>
                  <a:srgbClr val="FFC000"/>
                </a:solidFill>
                <a:latin typeface="Times New Roman" panose="02020603050405020304" pitchFamily="18" charset="0"/>
                <a:cs typeface="Times New Roman" panose="02020603050405020304" pitchFamily="18" charset="0"/>
              </a:endParaRPr>
            </a:p>
          </p:txBody>
        </p:sp>
      </p:grpSp>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 name="Slide Number Placeholder 1">
            <a:extLst>
              <a:ext uri="{FF2B5EF4-FFF2-40B4-BE49-F238E27FC236}">
                <a16:creationId xmlns:a16="http://schemas.microsoft.com/office/drawing/2014/main" id="{62595578-6B19-464A-8AA7-6F68494FF4BC}"/>
              </a:ext>
            </a:extLst>
          </p:cNvPr>
          <p:cNvSpPr>
            <a:spLocks noGrp="1"/>
          </p:cNvSpPr>
          <p:nvPr>
            <p:ph type="sldNum" sz="quarter" idx="12"/>
          </p:nvPr>
        </p:nvSpPr>
        <p:spPr>
          <a:xfrm>
            <a:off x="11802533" y="6643166"/>
            <a:ext cx="392843"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10</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405F3E4-0CA2-4DE2-AB62-AEF0D52588B8}"/>
              </a:ext>
            </a:extLst>
          </p:cNvPr>
          <p:cNvSpPr txBox="1"/>
          <p:nvPr/>
        </p:nvSpPr>
        <p:spPr>
          <a:xfrm>
            <a:off x="1877601" y="100356"/>
            <a:ext cx="84666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III. </a:t>
            </a:r>
            <a:r>
              <a:rPr lang="en-US" sz="2800" b="1" dirty="0">
                <a:latin typeface="Times New Roman" panose="02020603050405020304" pitchFamily="18" charset="0"/>
                <a:cs typeface="Times New Roman" panose="02020603050405020304" pitchFamily="18" charset="0"/>
              </a:rPr>
              <a:t>Introduction to the Slater-</a:t>
            </a:r>
            <a:r>
              <a:rPr lang="en-US" sz="2800" b="1" dirty="0" err="1">
                <a:latin typeface="Times New Roman" panose="02020603050405020304" pitchFamily="18" charset="0"/>
                <a:cs typeface="Times New Roman" panose="02020603050405020304" pitchFamily="18" charset="0"/>
              </a:rPr>
              <a:t>Koster</a:t>
            </a:r>
            <a:r>
              <a:rPr lang="en-US" sz="2800" b="1" dirty="0">
                <a:latin typeface="Times New Roman" panose="02020603050405020304" pitchFamily="18" charset="0"/>
                <a:cs typeface="Times New Roman" panose="02020603050405020304" pitchFamily="18" charset="0"/>
              </a:rPr>
              <a:t> (SK) Framework</a:t>
            </a:r>
            <a:endParaRPr lang="en-US" sz="2800" b="1" dirty="0">
              <a:effectLst/>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B46F9F1-D47B-4A4E-85C3-4AB5ACE7C022}"/>
              </a:ext>
            </a:extLst>
          </p:cNvPr>
          <p:cNvSpPr txBox="1"/>
          <p:nvPr/>
        </p:nvSpPr>
        <p:spPr>
          <a:xfrm>
            <a:off x="547311" y="884557"/>
            <a:ext cx="4507290"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The Core Conflict in TBM Matrix Assembly</a:t>
            </a:r>
            <a:endParaRPr lang="en-US" b="1" i="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CA70E3A6-3E2D-45C3-B363-AB4050AAC4D6}"/>
              </a:ext>
            </a:extLst>
          </p:cNvPr>
          <p:cNvSpPr txBox="1"/>
          <p:nvPr/>
        </p:nvSpPr>
        <p:spPr>
          <a:xfrm>
            <a:off x="547311" y="1440271"/>
            <a:ext cx="11145156" cy="36933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Standard atomic orbitals (</a:t>
            </a:r>
            <a:r>
              <a:rPr lang="en-US" b="1" i="1" dirty="0">
                <a:latin typeface="Times New Roman" panose="02020603050405020304" pitchFamily="18" charset="0"/>
                <a:cs typeface="Times New Roman" panose="02020603050405020304" pitchFamily="18" charset="0"/>
              </a:rPr>
              <a:t>p</a:t>
            </a:r>
            <a:r>
              <a:rPr lang="en-US" sz="1100"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p</a:t>
            </a:r>
            <a:r>
              <a:rPr lang="en-US" sz="1100" b="1" i="1" dirty="0" err="1">
                <a:latin typeface="Times New Roman" panose="02020603050405020304" pitchFamily="18" charset="0"/>
                <a:cs typeface="Times New Roman" panose="02020603050405020304" pitchFamily="18" charset="0"/>
              </a:rPr>
              <a:t>y</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p</a:t>
            </a:r>
            <a:r>
              <a:rPr lang="en-US" sz="1100" b="1" i="1" dirty="0" err="1">
                <a:latin typeface="Times New Roman" panose="02020603050405020304" pitchFamily="18" charset="0"/>
                <a:cs typeface="Times New Roman" panose="02020603050405020304" pitchFamily="18" charset="0"/>
              </a:rPr>
              <a:t>z</a:t>
            </a:r>
            <a:r>
              <a:rPr lang="en-US" b="1" dirty="0">
                <a:latin typeface="Times New Roman" panose="02020603050405020304" pitchFamily="18" charset="0"/>
                <a:cs typeface="Times New Roman" panose="02020603050405020304" pitchFamily="18" charset="0"/>
              </a:rPr>
              <a:t> or </a:t>
            </a:r>
            <a:r>
              <a:rPr lang="en-US" b="1" i="1" dirty="0">
                <a:latin typeface="Times New Roman" panose="02020603050405020304" pitchFamily="18" charset="0"/>
                <a:cs typeface="Times New Roman" panose="02020603050405020304" pitchFamily="18" charset="0"/>
              </a:rPr>
              <a:t>d</a:t>
            </a:r>
            <a:r>
              <a:rPr lang="en-US" b="1" dirty="0">
                <a:latin typeface="Times New Roman" panose="02020603050405020304" pitchFamily="18" charset="0"/>
                <a:cs typeface="Times New Roman" panose="02020603050405020304" pitchFamily="18" charset="0"/>
              </a:rPr>
              <a:t>) are strictly locked to the fixed Global Crystal Coordinate System (</a:t>
            </a:r>
            <a:r>
              <a:rPr lang="en-US"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y</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z</a:t>
            </a:r>
            <a:r>
              <a:rPr lang="en-US" b="1" dirty="0">
                <a:latin typeface="Times New Roman" panose="02020603050405020304" pitchFamily="18" charset="0"/>
                <a:cs typeface="Times New Roman" panose="02020603050405020304" pitchFamily="18" charset="0"/>
              </a:rPr>
              <a:t>)</a:t>
            </a:r>
            <a:endParaRPr lang="en-US" b="1" i="1"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50B1F264-3FEB-4F11-869E-F86E9315B43D}"/>
              </a:ext>
            </a:extLst>
          </p:cNvPr>
          <p:cNvSpPr txBox="1"/>
          <p:nvPr/>
        </p:nvSpPr>
        <p:spPr>
          <a:xfrm>
            <a:off x="523421" y="2237883"/>
            <a:ext cx="10999711" cy="646331"/>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Chemical bonds (inter-atomic displacement vectors) in a real crystal are tilted and point in arbitrary directions throughout 3D space</a:t>
            </a:r>
            <a:endParaRPr lang="en-US"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3AA2B35-7832-4B94-BF38-A830BEBADE83}"/>
                  </a:ext>
                </a:extLst>
              </p:cNvPr>
              <p:cNvSpPr txBox="1"/>
              <p:nvPr/>
            </p:nvSpPr>
            <p:spPr>
              <a:xfrm>
                <a:off x="523420" y="3340434"/>
                <a:ext cx="10999711" cy="692369"/>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Calculating direct quantum mechanical integrals </a:t>
                </a:r>
                <a14:m>
                  <m:oMath xmlns:m="http://schemas.openxmlformats.org/officeDocument/2006/math">
                    <m:d>
                      <m:dPr>
                        <m:begChr m:val="⟨"/>
                        <m:endChr m:val="⟩"/>
                        <m:ctrlPr>
                          <a:rPr lang="en-US" b="1" i="1" smtClean="0">
                            <a:latin typeface="Cambria Math" panose="02040503050406030204" pitchFamily="18" charset="0"/>
                            <a:cs typeface="Times New Roman" panose="02020603050405020304" pitchFamily="18" charset="0"/>
                          </a:rPr>
                        </m:ctrlPr>
                      </m:dPr>
                      <m:e>
                        <m:sSub>
                          <m:sSubPr>
                            <m:ctrlPr>
                              <a:rPr lang="en-US" b="1" i="1" smtClean="0">
                                <a:latin typeface="Cambria Math" panose="02040503050406030204" pitchFamily="18" charset="0"/>
                                <a:cs typeface="Times New Roman" panose="02020603050405020304" pitchFamily="18" charset="0"/>
                              </a:rPr>
                            </m:ctrlPr>
                          </m:sSubPr>
                          <m:e>
                            <m:r>
                              <m:rPr>
                                <m:sty m:val="p"/>
                              </m:rPr>
                              <a:rPr lang="el-GR" b="1" i="1" smtClean="0">
                                <a:latin typeface="Cambria Math" panose="02040503050406030204" pitchFamily="18" charset="0"/>
                                <a:cs typeface="Times New Roman" panose="02020603050405020304" pitchFamily="18" charset="0"/>
                              </a:rPr>
                              <m:t>Φ</m:t>
                            </m:r>
                          </m:e>
                          <m:sub>
                            <m:r>
                              <a:rPr lang="en-US" b="1" i="1" smtClean="0">
                                <a:latin typeface="Cambria Math" panose="02040503050406030204" pitchFamily="18" charset="0"/>
                                <a:cs typeface="Times New Roman" panose="02020603050405020304" pitchFamily="18" charset="0"/>
                              </a:rPr>
                              <m:t>𝒊</m:t>
                            </m:r>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sub>
                        </m:sSub>
                      </m:e>
                      <m:e>
                        <m:r>
                          <a:rPr lang="en-US" b="1" i="1" smtClean="0">
                            <a:latin typeface="Cambria Math" panose="02040503050406030204" pitchFamily="18" charset="0"/>
                            <a:cs typeface="Times New Roman" panose="02020603050405020304" pitchFamily="18" charset="0"/>
                          </a:rPr>
                          <m:t>𝑯</m:t>
                        </m:r>
                      </m:e>
                      <m:e>
                        <m:sSub>
                          <m:sSubPr>
                            <m:ctrlPr>
                              <a:rPr lang="en-US" b="1" i="1">
                                <a:latin typeface="Cambria Math" panose="02040503050406030204" pitchFamily="18" charset="0"/>
                                <a:cs typeface="Times New Roman" panose="02020603050405020304" pitchFamily="18" charset="0"/>
                              </a:rPr>
                            </m:ctrlPr>
                          </m:sSubPr>
                          <m:e>
                            <m:r>
                              <m:rPr>
                                <m:sty m:val="p"/>
                              </m:rPr>
                              <a:rPr lang="el-GR" b="1" i="1">
                                <a:latin typeface="Cambria Math" panose="02040503050406030204" pitchFamily="18" charset="0"/>
                                <a:cs typeface="Times New Roman" panose="02020603050405020304" pitchFamily="18" charset="0"/>
                              </a:rPr>
                              <m:t>Φ</m:t>
                            </m:r>
                          </m:e>
                          <m:sub>
                            <m:r>
                              <a:rPr lang="en-US" b="1" i="1" smtClean="0">
                                <a:latin typeface="Cambria Math" panose="02040503050406030204" pitchFamily="18" charset="0"/>
                                <a:cs typeface="Times New Roman" panose="02020603050405020304" pitchFamily="18" charset="0"/>
                              </a:rPr>
                              <m:t>𝒋</m:t>
                            </m:r>
                            <m:r>
                              <m:rPr>
                                <m:sty m:val="p"/>
                              </m:rPr>
                              <a:rPr lang="el-GR" b="1" i="1" smtClean="0">
                                <a:latin typeface="Cambria Math" panose="02040503050406030204" pitchFamily="18" charset="0"/>
                                <a:cs typeface="Times New Roman" panose="02020603050405020304" pitchFamily="18" charset="0"/>
                              </a:rPr>
                              <m:t>ν</m:t>
                            </m:r>
                          </m:sub>
                        </m:sSub>
                      </m:e>
                    </m:d>
                  </m:oMath>
                </a14:m>
                <a:r>
                  <a:rPr lang="en-US" b="1" dirty="0">
                    <a:latin typeface="Times New Roman" panose="02020603050405020304" pitchFamily="18" charset="0"/>
                    <a:cs typeface="Times New Roman" panose="02020603050405020304" pitchFamily="18" charset="0"/>
                  </a:rPr>
                  <a:t> for every single unique bond angle and orientation. This makes generalized code implementation computationally impossible</a:t>
                </a:r>
                <a:endParaRPr lang="en-US" b="1" i="1"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63AA2B35-7832-4B94-BF38-A830BEBADE83}"/>
                  </a:ext>
                </a:extLst>
              </p:cNvPr>
              <p:cNvSpPr txBox="1">
                <a:spLocks noRot="1" noChangeAspect="1" noMove="1" noResize="1" noEditPoints="1" noAdjustHandles="1" noChangeArrowheads="1" noChangeShapeType="1" noTextEdit="1"/>
              </p:cNvSpPr>
              <p:nvPr/>
            </p:nvSpPr>
            <p:spPr>
              <a:xfrm>
                <a:off x="523420" y="3340434"/>
                <a:ext cx="10999711" cy="692369"/>
              </a:xfrm>
              <a:prstGeom prst="rect">
                <a:avLst/>
              </a:prstGeom>
              <a:blipFill>
                <a:blip r:embed="rId5"/>
                <a:stretch>
                  <a:fillRect t="-2632" b="-13158"/>
                </a:stretch>
              </a:blipFill>
            </p:spPr>
            <p:txBody>
              <a:bodyPr/>
              <a:lstStyle/>
              <a:p>
                <a:r>
                  <a:rPr lang="en-US">
                    <a:noFill/>
                  </a:rPr>
                  <a:t> </a:t>
                </a:r>
              </a:p>
            </p:txBody>
          </p:sp>
        </mc:Fallback>
      </mc:AlternateContent>
      <p:sp>
        <p:nvSpPr>
          <p:cNvPr id="4" name="Arrow: Down 3">
            <a:extLst>
              <a:ext uri="{FF2B5EF4-FFF2-40B4-BE49-F238E27FC236}">
                <a16:creationId xmlns:a16="http://schemas.microsoft.com/office/drawing/2014/main" id="{7E8E3C80-DB3B-4183-B143-40CAF7E1407E}"/>
              </a:ext>
            </a:extLst>
          </p:cNvPr>
          <p:cNvSpPr/>
          <p:nvPr/>
        </p:nvSpPr>
        <p:spPr>
          <a:xfrm>
            <a:off x="5858933" y="1889777"/>
            <a:ext cx="237067" cy="369332"/>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Arrow: Down 14">
            <a:extLst>
              <a:ext uri="{FF2B5EF4-FFF2-40B4-BE49-F238E27FC236}">
                <a16:creationId xmlns:a16="http://schemas.microsoft.com/office/drawing/2014/main" id="{57C12B5C-3AFF-44BC-B5B3-74F6622E0C46}"/>
              </a:ext>
            </a:extLst>
          </p:cNvPr>
          <p:cNvSpPr/>
          <p:nvPr/>
        </p:nvSpPr>
        <p:spPr>
          <a:xfrm>
            <a:off x="5856998" y="2919045"/>
            <a:ext cx="237067" cy="369332"/>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7" name="Group 36">
            <a:extLst>
              <a:ext uri="{FF2B5EF4-FFF2-40B4-BE49-F238E27FC236}">
                <a16:creationId xmlns:a16="http://schemas.microsoft.com/office/drawing/2014/main" id="{BA0DF259-065C-4CB7-949F-D204B744F04F}"/>
              </a:ext>
            </a:extLst>
          </p:cNvPr>
          <p:cNvGrpSpPr/>
          <p:nvPr/>
        </p:nvGrpSpPr>
        <p:grpSpPr>
          <a:xfrm>
            <a:off x="3293705" y="4101965"/>
            <a:ext cx="2509935" cy="2363912"/>
            <a:chOff x="3293705" y="4101965"/>
            <a:chExt cx="2509935" cy="2363912"/>
          </a:xfrm>
        </p:grpSpPr>
        <p:cxnSp>
          <p:nvCxnSpPr>
            <p:cNvPr id="17" name="Straight Arrow Connector 16">
              <a:extLst>
                <a:ext uri="{FF2B5EF4-FFF2-40B4-BE49-F238E27FC236}">
                  <a16:creationId xmlns:a16="http://schemas.microsoft.com/office/drawing/2014/main" id="{541394B0-6958-4212-A690-33F06E46ED0E}"/>
                </a:ext>
              </a:extLst>
            </p:cNvPr>
            <p:cNvCxnSpPr>
              <a:cxnSpLocks/>
            </p:cNvCxnSpPr>
            <p:nvPr/>
          </p:nvCxnSpPr>
          <p:spPr>
            <a:xfrm>
              <a:off x="3293705" y="5281119"/>
              <a:ext cx="2509935" cy="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E9DD9FE-64D0-4DF2-8FCC-0E3BE62CF1FA}"/>
                </a:ext>
              </a:extLst>
            </p:cNvPr>
            <p:cNvCxnSpPr>
              <a:cxnSpLocks/>
            </p:cNvCxnSpPr>
            <p:nvPr/>
          </p:nvCxnSpPr>
          <p:spPr>
            <a:xfrm flipV="1">
              <a:off x="4509795" y="4226761"/>
              <a:ext cx="0" cy="2239116"/>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a16="http://schemas.microsoft.com/office/drawing/2014/main" id="{6FE2422B-06C5-4C02-A00D-ABF1AFBB0A3F}"/>
                </a:ext>
              </a:extLst>
            </p:cNvPr>
            <p:cNvCxnSpPr>
              <a:cxnSpLocks/>
            </p:cNvCxnSpPr>
            <p:nvPr/>
          </p:nvCxnSpPr>
          <p:spPr>
            <a:xfrm flipH="1">
              <a:off x="3526970" y="4711959"/>
              <a:ext cx="1856793" cy="1216665"/>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BDAAA961-0E64-4C92-B80A-640F386E1A55}"/>
                </a:ext>
              </a:extLst>
            </p:cNvPr>
            <p:cNvSpPr txBox="1"/>
            <p:nvPr/>
          </p:nvSpPr>
          <p:spPr>
            <a:xfrm>
              <a:off x="3588565" y="5788777"/>
              <a:ext cx="257918"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x</a:t>
              </a:r>
            </a:p>
          </p:txBody>
        </p:sp>
        <p:sp>
          <p:nvSpPr>
            <p:cNvPr id="29" name="TextBox 28">
              <a:extLst>
                <a:ext uri="{FF2B5EF4-FFF2-40B4-BE49-F238E27FC236}">
                  <a16:creationId xmlns:a16="http://schemas.microsoft.com/office/drawing/2014/main" id="{46320879-2C21-48A2-BBDC-B7D954829950}"/>
                </a:ext>
              </a:extLst>
            </p:cNvPr>
            <p:cNvSpPr txBox="1"/>
            <p:nvPr/>
          </p:nvSpPr>
          <p:spPr>
            <a:xfrm>
              <a:off x="5492621" y="5276316"/>
              <a:ext cx="257918"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y</a:t>
              </a:r>
            </a:p>
          </p:txBody>
        </p:sp>
        <p:sp>
          <p:nvSpPr>
            <p:cNvPr id="30" name="TextBox 29">
              <a:extLst>
                <a:ext uri="{FF2B5EF4-FFF2-40B4-BE49-F238E27FC236}">
                  <a16:creationId xmlns:a16="http://schemas.microsoft.com/office/drawing/2014/main" id="{A24510FD-F108-4654-8ADC-BFE451D84929}"/>
                </a:ext>
              </a:extLst>
            </p:cNvPr>
            <p:cNvSpPr txBox="1"/>
            <p:nvPr/>
          </p:nvSpPr>
          <p:spPr>
            <a:xfrm>
              <a:off x="4226535" y="4101965"/>
              <a:ext cx="257918" cy="369332"/>
            </a:xfrm>
            <a:prstGeom prst="rect">
              <a:avLst/>
            </a:prstGeom>
            <a:noFill/>
          </p:spPr>
          <p:txBody>
            <a:bodyPr wrap="square" rtlCol="0">
              <a:spAutoFit/>
            </a:bodyPr>
            <a:lstStyle/>
            <a:p>
              <a:r>
                <a:rPr lang="en-US" b="1" i="1" dirty="0">
                  <a:latin typeface="Times New Roman" panose="02020603050405020304" pitchFamily="18" charset="0"/>
                  <a:cs typeface="Times New Roman" panose="02020603050405020304" pitchFamily="18" charset="0"/>
                </a:rPr>
                <a:t>z</a:t>
              </a:r>
            </a:p>
          </p:txBody>
        </p:sp>
        <p:sp>
          <p:nvSpPr>
            <p:cNvPr id="31" name="Oval 30">
              <a:extLst>
                <a:ext uri="{FF2B5EF4-FFF2-40B4-BE49-F238E27FC236}">
                  <a16:creationId xmlns:a16="http://schemas.microsoft.com/office/drawing/2014/main" id="{C460005C-3C27-4FEE-8B3F-FDC9E6CEA287}"/>
                </a:ext>
              </a:extLst>
            </p:cNvPr>
            <p:cNvSpPr/>
            <p:nvPr/>
          </p:nvSpPr>
          <p:spPr>
            <a:xfrm>
              <a:off x="4185758" y="4975792"/>
              <a:ext cx="597390" cy="636504"/>
            </a:xfrm>
            <a:prstGeom prst="ellipse">
              <a:avLst/>
            </a:prstGeom>
            <a:solidFill>
              <a:srgbClr val="0070C0">
                <a:alpha val="20000"/>
              </a:srgbClr>
            </a:solidFill>
            <a:ln>
              <a:solidFill>
                <a:srgbClr val="0070C0">
                  <a:alpha val="2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8322C65B-2EC2-4AEE-ABA4-82653C496AFA}"/>
                </a:ext>
              </a:extLst>
            </p:cNvPr>
            <p:cNvSpPr txBox="1"/>
            <p:nvPr/>
          </p:nvSpPr>
          <p:spPr>
            <a:xfrm>
              <a:off x="4110247" y="4747086"/>
              <a:ext cx="257918" cy="369332"/>
            </a:xfrm>
            <a:prstGeom prst="rect">
              <a:avLst/>
            </a:prstGeom>
            <a:noFill/>
          </p:spPr>
          <p:txBody>
            <a:bodyPr wrap="square" rtlCol="0">
              <a:spAutoFit/>
            </a:bodyPr>
            <a:lstStyle/>
            <a:p>
              <a:r>
                <a:rPr lang="en-US" b="1" i="1" dirty="0">
                  <a:solidFill>
                    <a:srgbClr val="0070C0"/>
                  </a:solidFill>
                  <a:latin typeface="Times New Roman" panose="02020603050405020304" pitchFamily="18" charset="0"/>
                  <a:cs typeface="Times New Roman" panose="02020603050405020304" pitchFamily="18" charset="0"/>
                </a:rPr>
                <a:t>s</a:t>
              </a:r>
            </a:p>
          </p:txBody>
        </p:sp>
        <p:sp>
          <p:nvSpPr>
            <p:cNvPr id="34" name="Freeform: Shape 33">
              <a:extLst>
                <a:ext uri="{FF2B5EF4-FFF2-40B4-BE49-F238E27FC236}">
                  <a16:creationId xmlns:a16="http://schemas.microsoft.com/office/drawing/2014/main" id="{CA5C83BF-0FC9-40BC-B7E1-151010A076D6}"/>
                </a:ext>
              </a:extLst>
            </p:cNvPr>
            <p:cNvSpPr/>
            <p:nvPr/>
          </p:nvSpPr>
          <p:spPr>
            <a:xfrm>
              <a:off x="4019144" y="5273479"/>
              <a:ext cx="475523" cy="401902"/>
            </a:xfrm>
            <a:custGeom>
              <a:avLst/>
              <a:gdLst>
                <a:gd name="connsiteX0" fmla="*/ 468879 w 475523"/>
                <a:gd name="connsiteY0" fmla="*/ 7648 h 401902"/>
                <a:gd name="connsiteX1" fmla="*/ 179630 w 475523"/>
                <a:gd name="connsiteY1" fmla="*/ 82292 h 401902"/>
                <a:gd name="connsiteX2" fmla="*/ 21010 w 475523"/>
                <a:gd name="connsiteY2" fmla="*/ 166268 h 401902"/>
                <a:gd name="connsiteX3" fmla="*/ 21010 w 475523"/>
                <a:gd name="connsiteY3" fmla="*/ 343550 h 401902"/>
                <a:gd name="connsiteX4" fmla="*/ 198292 w 475523"/>
                <a:gd name="connsiteY4" fmla="*/ 399533 h 401902"/>
                <a:gd name="connsiteX5" fmla="*/ 366243 w 475523"/>
                <a:gd name="connsiteY5" fmla="*/ 278235 h 401902"/>
                <a:gd name="connsiteX6" fmla="*/ 468879 w 475523"/>
                <a:gd name="connsiteY6" fmla="*/ 7648 h 40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3" h="401902">
                  <a:moveTo>
                    <a:pt x="468879" y="7648"/>
                  </a:moveTo>
                  <a:cubicBezTo>
                    <a:pt x="437777" y="-25009"/>
                    <a:pt x="254275" y="55855"/>
                    <a:pt x="179630" y="82292"/>
                  </a:cubicBezTo>
                  <a:cubicBezTo>
                    <a:pt x="104985" y="108729"/>
                    <a:pt x="47447" y="122725"/>
                    <a:pt x="21010" y="166268"/>
                  </a:cubicBezTo>
                  <a:cubicBezTo>
                    <a:pt x="-5427" y="209811"/>
                    <a:pt x="-8537" y="304673"/>
                    <a:pt x="21010" y="343550"/>
                  </a:cubicBezTo>
                  <a:cubicBezTo>
                    <a:pt x="50557" y="382427"/>
                    <a:pt x="140753" y="410419"/>
                    <a:pt x="198292" y="399533"/>
                  </a:cubicBezTo>
                  <a:cubicBezTo>
                    <a:pt x="255831" y="388647"/>
                    <a:pt x="318035" y="340439"/>
                    <a:pt x="366243" y="278235"/>
                  </a:cubicBezTo>
                  <a:cubicBezTo>
                    <a:pt x="414451" y="216031"/>
                    <a:pt x="499981" y="40305"/>
                    <a:pt x="468879" y="7648"/>
                  </a:cubicBezTo>
                  <a:close/>
                </a:path>
              </a:pathLst>
            </a:custGeom>
            <a:solidFill>
              <a:srgbClr val="FFC000">
                <a:alpha val="50000"/>
              </a:srgbClr>
            </a:solidFill>
            <a:ln>
              <a:solidFill>
                <a:srgbClr val="FFC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Shape 34">
              <a:extLst>
                <a:ext uri="{FF2B5EF4-FFF2-40B4-BE49-F238E27FC236}">
                  <a16:creationId xmlns:a16="http://schemas.microsoft.com/office/drawing/2014/main" id="{5942E85E-E167-4995-A51A-8769DFD8F209}"/>
                </a:ext>
              </a:extLst>
            </p:cNvPr>
            <p:cNvSpPr/>
            <p:nvPr/>
          </p:nvSpPr>
          <p:spPr>
            <a:xfrm rot="11281426">
              <a:off x="4543142" y="4927085"/>
              <a:ext cx="475523" cy="401902"/>
            </a:xfrm>
            <a:custGeom>
              <a:avLst/>
              <a:gdLst>
                <a:gd name="connsiteX0" fmla="*/ 468879 w 475523"/>
                <a:gd name="connsiteY0" fmla="*/ 7648 h 401902"/>
                <a:gd name="connsiteX1" fmla="*/ 179630 w 475523"/>
                <a:gd name="connsiteY1" fmla="*/ 82292 h 401902"/>
                <a:gd name="connsiteX2" fmla="*/ 21010 w 475523"/>
                <a:gd name="connsiteY2" fmla="*/ 166268 h 401902"/>
                <a:gd name="connsiteX3" fmla="*/ 21010 w 475523"/>
                <a:gd name="connsiteY3" fmla="*/ 343550 h 401902"/>
                <a:gd name="connsiteX4" fmla="*/ 198292 w 475523"/>
                <a:gd name="connsiteY4" fmla="*/ 399533 h 401902"/>
                <a:gd name="connsiteX5" fmla="*/ 366243 w 475523"/>
                <a:gd name="connsiteY5" fmla="*/ 278235 h 401902"/>
                <a:gd name="connsiteX6" fmla="*/ 468879 w 475523"/>
                <a:gd name="connsiteY6" fmla="*/ 7648 h 401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75523" h="401902">
                  <a:moveTo>
                    <a:pt x="468879" y="7648"/>
                  </a:moveTo>
                  <a:cubicBezTo>
                    <a:pt x="437777" y="-25009"/>
                    <a:pt x="254275" y="55855"/>
                    <a:pt x="179630" y="82292"/>
                  </a:cubicBezTo>
                  <a:cubicBezTo>
                    <a:pt x="104985" y="108729"/>
                    <a:pt x="47447" y="122725"/>
                    <a:pt x="21010" y="166268"/>
                  </a:cubicBezTo>
                  <a:cubicBezTo>
                    <a:pt x="-5427" y="209811"/>
                    <a:pt x="-8537" y="304673"/>
                    <a:pt x="21010" y="343550"/>
                  </a:cubicBezTo>
                  <a:cubicBezTo>
                    <a:pt x="50557" y="382427"/>
                    <a:pt x="140753" y="410419"/>
                    <a:pt x="198292" y="399533"/>
                  </a:cubicBezTo>
                  <a:cubicBezTo>
                    <a:pt x="255831" y="388647"/>
                    <a:pt x="318035" y="340439"/>
                    <a:pt x="366243" y="278235"/>
                  </a:cubicBezTo>
                  <a:cubicBezTo>
                    <a:pt x="414451" y="216031"/>
                    <a:pt x="499981" y="40305"/>
                    <a:pt x="468879" y="7648"/>
                  </a:cubicBezTo>
                  <a:close/>
                </a:path>
              </a:pathLst>
            </a:custGeom>
            <a:solidFill>
              <a:srgbClr val="FFC000">
                <a:alpha val="50000"/>
              </a:srgbClr>
            </a:solidFill>
            <a:ln>
              <a:solidFill>
                <a:srgbClr val="FFC000">
                  <a:alpha val="5000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E830B00C-A48B-4189-8489-121D500B216E}"/>
                </a:ext>
              </a:extLst>
            </p:cNvPr>
            <p:cNvSpPr txBox="1"/>
            <p:nvPr/>
          </p:nvSpPr>
          <p:spPr>
            <a:xfrm>
              <a:off x="4103909" y="5556555"/>
              <a:ext cx="394849" cy="369332"/>
            </a:xfrm>
            <a:prstGeom prst="rect">
              <a:avLst/>
            </a:prstGeom>
            <a:noFill/>
          </p:spPr>
          <p:txBody>
            <a:bodyPr wrap="square" rtlCol="0">
              <a:spAutoFit/>
            </a:bodyPr>
            <a:lstStyle/>
            <a:p>
              <a:r>
                <a:rPr lang="en-US" b="1" i="1" dirty="0">
                  <a:solidFill>
                    <a:srgbClr val="FFC000"/>
                  </a:solidFill>
                  <a:latin typeface="Times New Roman" panose="02020603050405020304" pitchFamily="18" charset="0"/>
                  <a:cs typeface="Times New Roman" panose="02020603050405020304" pitchFamily="18" charset="0"/>
                </a:rPr>
                <a:t>p</a:t>
              </a:r>
              <a:r>
                <a:rPr lang="en-US" sz="1100" b="1" i="1" dirty="0">
                  <a:solidFill>
                    <a:srgbClr val="FFC000"/>
                  </a:solidFill>
                  <a:latin typeface="Times New Roman" panose="02020603050405020304" pitchFamily="18" charset="0"/>
                  <a:cs typeface="Times New Roman" panose="02020603050405020304" pitchFamily="18" charset="0"/>
                </a:rPr>
                <a:t>x</a:t>
              </a:r>
              <a:endParaRPr lang="en-US" b="1" i="1" dirty="0">
                <a:solidFill>
                  <a:srgbClr val="FFC000"/>
                </a:solidFill>
                <a:latin typeface="Times New Roman" panose="02020603050405020304" pitchFamily="18" charset="0"/>
                <a:cs typeface="Times New Roman" panose="02020603050405020304" pitchFamily="18" charset="0"/>
              </a:endParaRPr>
            </a:p>
          </p:txBody>
        </p:sp>
      </p:grpSp>
      <p:sp>
        <p:nvSpPr>
          <p:cNvPr id="38" name="Oval 37">
            <a:extLst>
              <a:ext uri="{FF2B5EF4-FFF2-40B4-BE49-F238E27FC236}">
                <a16:creationId xmlns:a16="http://schemas.microsoft.com/office/drawing/2014/main" id="{B71CBE9A-2D79-4DFA-90E9-0A3783A485F5}"/>
              </a:ext>
            </a:extLst>
          </p:cNvPr>
          <p:cNvSpPr/>
          <p:nvPr/>
        </p:nvSpPr>
        <p:spPr>
          <a:xfrm>
            <a:off x="7817019" y="5612296"/>
            <a:ext cx="462704" cy="477732"/>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O</a:t>
            </a:r>
          </a:p>
        </p:txBody>
      </p:sp>
      <p:sp>
        <p:nvSpPr>
          <p:cNvPr id="39" name="Oval 38">
            <a:extLst>
              <a:ext uri="{FF2B5EF4-FFF2-40B4-BE49-F238E27FC236}">
                <a16:creationId xmlns:a16="http://schemas.microsoft.com/office/drawing/2014/main" id="{371BCC67-C303-4AEA-8935-177BD64498CD}"/>
              </a:ext>
            </a:extLst>
          </p:cNvPr>
          <p:cNvSpPr/>
          <p:nvPr/>
        </p:nvSpPr>
        <p:spPr>
          <a:xfrm>
            <a:off x="8752756" y="5130035"/>
            <a:ext cx="178847" cy="190256"/>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H</a:t>
            </a:r>
          </a:p>
        </p:txBody>
      </p:sp>
      <p:sp>
        <p:nvSpPr>
          <p:cNvPr id="40" name="Oval 39">
            <a:extLst>
              <a:ext uri="{FF2B5EF4-FFF2-40B4-BE49-F238E27FC236}">
                <a16:creationId xmlns:a16="http://schemas.microsoft.com/office/drawing/2014/main" id="{2593C7FB-2802-4126-84C8-FF720C617060}"/>
              </a:ext>
            </a:extLst>
          </p:cNvPr>
          <p:cNvSpPr/>
          <p:nvPr/>
        </p:nvSpPr>
        <p:spPr>
          <a:xfrm>
            <a:off x="7150771" y="5130035"/>
            <a:ext cx="178847" cy="190256"/>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latin typeface="Times New Roman" panose="02020603050405020304" pitchFamily="18" charset="0"/>
                <a:cs typeface="Times New Roman" panose="02020603050405020304" pitchFamily="18" charset="0"/>
              </a:rPr>
              <a:t>H</a:t>
            </a:r>
          </a:p>
        </p:txBody>
      </p:sp>
      <p:cxnSp>
        <p:nvCxnSpPr>
          <p:cNvPr id="42" name="Straight Connector 41">
            <a:extLst>
              <a:ext uri="{FF2B5EF4-FFF2-40B4-BE49-F238E27FC236}">
                <a16:creationId xmlns:a16="http://schemas.microsoft.com/office/drawing/2014/main" id="{6D10A225-2DA3-4580-9527-37F6B26424A2}"/>
              </a:ext>
            </a:extLst>
          </p:cNvPr>
          <p:cNvCxnSpPr>
            <a:stCxn id="40" idx="5"/>
            <a:endCxn id="38" idx="1"/>
          </p:cNvCxnSpPr>
          <p:nvPr/>
        </p:nvCxnSpPr>
        <p:spPr>
          <a:xfrm>
            <a:off x="7303426" y="5292429"/>
            <a:ext cx="581354" cy="389829"/>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B52EDA91-5147-4CCA-8565-2E7DA2ED4100}"/>
              </a:ext>
            </a:extLst>
          </p:cNvPr>
          <p:cNvCxnSpPr>
            <a:cxnSpLocks/>
            <a:endCxn id="38" idx="7"/>
          </p:cNvCxnSpPr>
          <p:nvPr/>
        </p:nvCxnSpPr>
        <p:spPr>
          <a:xfrm flipH="1">
            <a:off x="8211962" y="5303505"/>
            <a:ext cx="581354" cy="37875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18301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 name="Slide Number Placeholder 1">
            <a:extLst>
              <a:ext uri="{FF2B5EF4-FFF2-40B4-BE49-F238E27FC236}">
                <a16:creationId xmlns:a16="http://schemas.microsoft.com/office/drawing/2014/main" id="{9F3B6A2A-7C28-4370-989B-B8604EA07916}"/>
              </a:ext>
            </a:extLst>
          </p:cNvPr>
          <p:cNvSpPr>
            <a:spLocks noGrp="1"/>
          </p:cNvSpPr>
          <p:nvPr>
            <p:ph type="sldNum" sz="quarter" idx="12"/>
          </p:nvPr>
        </p:nvSpPr>
        <p:spPr>
          <a:xfrm>
            <a:off x="11819467" y="6643166"/>
            <a:ext cx="375910"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11</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94D2B0A-A700-4AF2-8921-70AE0DA23283}"/>
              </a:ext>
            </a:extLst>
          </p:cNvPr>
          <p:cNvSpPr txBox="1"/>
          <p:nvPr/>
        </p:nvSpPr>
        <p:spPr>
          <a:xfrm>
            <a:off x="1877601" y="100356"/>
            <a:ext cx="84666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III. </a:t>
            </a:r>
            <a:r>
              <a:rPr lang="en-US" sz="2800" b="1" dirty="0">
                <a:latin typeface="Times New Roman" panose="02020603050405020304" pitchFamily="18" charset="0"/>
                <a:cs typeface="Times New Roman" panose="02020603050405020304" pitchFamily="18" charset="0"/>
              </a:rPr>
              <a:t>Introduction to the Slater-</a:t>
            </a:r>
            <a:r>
              <a:rPr lang="en-US" sz="2800" b="1" dirty="0" err="1">
                <a:latin typeface="Times New Roman" panose="02020603050405020304" pitchFamily="18" charset="0"/>
                <a:cs typeface="Times New Roman" panose="02020603050405020304" pitchFamily="18" charset="0"/>
              </a:rPr>
              <a:t>Koster</a:t>
            </a:r>
            <a:r>
              <a:rPr lang="en-US" sz="2800" b="1" dirty="0">
                <a:latin typeface="Times New Roman" panose="02020603050405020304" pitchFamily="18" charset="0"/>
                <a:cs typeface="Times New Roman" panose="02020603050405020304" pitchFamily="18" charset="0"/>
              </a:rPr>
              <a:t> (SK) Framework</a:t>
            </a:r>
            <a:endParaRPr lang="en-US" sz="2800" b="1"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84DEC3A8-C43A-4B13-8939-DE82CA02FCD0}"/>
              </a:ext>
            </a:extLst>
          </p:cNvPr>
          <p:cNvSpPr txBox="1"/>
          <p:nvPr/>
        </p:nvSpPr>
        <p:spPr>
          <a:xfrm>
            <a:off x="607396" y="706998"/>
            <a:ext cx="11145156" cy="1754326"/>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The Slater-</a:t>
            </a:r>
            <a:r>
              <a:rPr lang="en-US" b="1" dirty="0" err="1">
                <a:latin typeface="Times New Roman" panose="02020603050405020304" pitchFamily="18" charset="0"/>
                <a:cs typeface="Times New Roman" panose="02020603050405020304" pitchFamily="18" charset="0"/>
              </a:rPr>
              <a:t>Koster</a:t>
            </a:r>
            <a:r>
              <a:rPr lang="en-US" b="1" dirty="0">
                <a:latin typeface="Times New Roman" panose="02020603050405020304" pitchFamily="18" charset="0"/>
                <a:cs typeface="Times New Roman" panose="02020603050405020304" pitchFamily="18" charset="0"/>
              </a:rPr>
              <a:t> Solution (1954): A brilliant geometric interpolation technique that decouples quantum physics from spatial orientation</a:t>
            </a:r>
            <a:endParaRPr lang="en-US" b="1" i="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No matter how tilted the bond is, if one looks at the two atoms in isolation, the chemical bonding physics remains fundamentally simple</a:t>
            </a:r>
          </a:p>
        </p:txBody>
      </p:sp>
      <p:sp>
        <p:nvSpPr>
          <p:cNvPr id="11" name="TextBox 10">
            <a:extLst>
              <a:ext uri="{FF2B5EF4-FFF2-40B4-BE49-F238E27FC236}">
                <a16:creationId xmlns:a16="http://schemas.microsoft.com/office/drawing/2014/main" id="{22DD4255-95C8-46DC-828F-B4D932EA8ACE}"/>
              </a:ext>
            </a:extLst>
          </p:cNvPr>
          <p:cNvSpPr txBox="1"/>
          <p:nvPr/>
        </p:nvSpPr>
        <p:spPr>
          <a:xfrm>
            <a:off x="1489184" y="2600395"/>
            <a:ext cx="4606816" cy="369332"/>
          </a:xfrm>
          <a:prstGeom prst="rect">
            <a:avLst/>
          </a:prstGeom>
          <a:noFill/>
        </p:spPr>
        <p:txBody>
          <a:bodyPr wrap="square" rtlCol="0">
            <a:spAutoFit/>
          </a:bodyPr>
          <a:lstStyle/>
          <a:p>
            <a:pPr algn="ctr"/>
            <a:r>
              <a:rPr lang="en-US" b="1" dirty="0">
                <a:latin typeface="Times New Roman" panose="02020603050405020304" pitchFamily="18" charset="0"/>
                <a:cs typeface="Times New Roman" panose="02020603050405020304" pitchFamily="18" charset="0"/>
              </a:rPr>
              <a:t>Axial Symmetry and Local Bond Parameters</a:t>
            </a:r>
            <a:endParaRPr lang="en-US" b="1" i="1"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6F6C6581-5F05-4354-A2D2-9CA7DC974E43}"/>
              </a:ext>
            </a:extLst>
          </p:cNvPr>
          <p:cNvSpPr txBox="1"/>
          <p:nvPr/>
        </p:nvSpPr>
        <p:spPr>
          <a:xfrm>
            <a:off x="607396" y="3340438"/>
            <a:ext cx="11145156" cy="64633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The Two-Center Approximation: Assume the hopping interaction depends exclusively on the two host atoms. All three-center potentials (influence from a third neighboring atom) are neglected</a:t>
            </a:r>
            <a:endParaRPr lang="en-US" b="1" i="1" dirty="0">
              <a:latin typeface="Times New Roman" panose="02020603050405020304" pitchFamily="18" charset="0"/>
              <a:cs typeface="Times New Roman" panose="02020603050405020304" pitchFamily="18" charset="0"/>
            </a:endParaRPr>
          </a:p>
        </p:txBody>
      </p:sp>
      <p:sp>
        <p:nvSpPr>
          <p:cNvPr id="13" name="Arrow: Down 12">
            <a:extLst>
              <a:ext uri="{FF2B5EF4-FFF2-40B4-BE49-F238E27FC236}">
                <a16:creationId xmlns:a16="http://schemas.microsoft.com/office/drawing/2014/main" id="{18E76AB9-C0B8-4539-A991-365DECA40C3B}"/>
              </a:ext>
            </a:extLst>
          </p:cNvPr>
          <p:cNvSpPr/>
          <p:nvPr/>
        </p:nvSpPr>
        <p:spPr>
          <a:xfrm>
            <a:off x="5992401" y="2248678"/>
            <a:ext cx="237067" cy="1062270"/>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24C8AD23-25D3-470C-A93B-8F3D462D060F}"/>
              </a:ext>
            </a:extLst>
          </p:cNvPr>
          <p:cNvSpPr txBox="1"/>
          <p:nvPr/>
        </p:nvSpPr>
        <p:spPr>
          <a:xfrm>
            <a:off x="607396" y="5088865"/>
            <a:ext cx="11145156" cy="64633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The Local Coordinate System: For any pair of interacting atoms, draw a imaginary straight line connecting their nuclei. Define this bond axis as the local </a:t>
            </a:r>
            <a:r>
              <a:rPr lang="en-US" b="1" i="1" dirty="0">
                <a:latin typeface="Times New Roman" panose="02020603050405020304" pitchFamily="18" charset="0"/>
                <a:cs typeface="Times New Roman" panose="02020603050405020304" pitchFamily="18" charset="0"/>
              </a:rPr>
              <a:t>z</a:t>
            </a:r>
            <a:r>
              <a:rPr lang="en-US" b="1" dirty="0">
                <a:latin typeface="Times New Roman" panose="02020603050405020304" pitchFamily="18" charset="0"/>
                <a:cs typeface="Times New Roman" panose="02020603050405020304" pitchFamily="18" charset="0"/>
              </a:rPr>
              <a:t>-axis</a:t>
            </a:r>
            <a:endParaRPr lang="en-US" b="1" i="1" dirty="0">
              <a:latin typeface="Times New Roman" panose="02020603050405020304" pitchFamily="18" charset="0"/>
              <a:cs typeface="Times New Roman" panose="02020603050405020304" pitchFamily="18" charset="0"/>
            </a:endParaRPr>
          </a:p>
        </p:txBody>
      </p:sp>
      <p:sp>
        <p:nvSpPr>
          <p:cNvPr id="15" name="Arrow: Down 14">
            <a:extLst>
              <a:ext uri="{FF2B5EF4-FFF2-40B4-BE49-F238E27FC236}">
                <a16:creationId xmlns:a16="http://schemas.microsoft.com/office/drawing/2014/main" id="{FBE8ABF0-4E9D-4FDD-86C2-2AA8F06E8960}"/>
              </a:ext>
            </a:extLst>
          </p:cNvPr>
          <p:cNvSpPr/>
          <p:nvPr/>
        </p:nvSpPr>
        <p:spPr>
          <a:xfrm>
            <a:off x="5992401" y="4038792"/>
            <a:ext cx="237067" cy="1062270"/>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70122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Oval 83">
            <a:extLst>
              <a:ext uri="{FF2B5EF4-FFF2-40B4-BE49-F238E27FC236}">
                <a16:creationId xmlns:a16="http://schemas.microsoft.com/office/drawing/2014/main" id="{04A81ECC-2B72-4299-AB7D-45EFAFA83923}"/>
              </a:ext>
            </a:extLst>
          </p:cNvPr>
          <p:cNvSpPr/>
          <p:nvPr/>
        </p:nvSpPr>
        <p:spPr>
          <a:xfrm>
            <a:off x="6897701" y="2481963"/>
            <a:ext cx="205274" cy="20622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Oval 84">
            <a:extLst>
              <a:ext uri="{FF2B5EF4-FFF2-40B4-BE49-F238E27FC236}">
                <a16:creationId xmlns:a16="http://schemas.microsoft.com/office/drawing/2014/main" id="{095DC806-1E41-4543-B5D6-66424406E8D4}"/>
              </a:ext>
            </a:extLst>
          </p:cNvPr>
          <p:cNvSpPr/>
          <p:nvPr/>
        </p:nvSpPr>
        <p:spPr>
          <a:xfrm>
            <a:off x="8317888" y="2481963"/>
            <a:ext cx="205274" cy="20622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6" name="Straight Connector 85">
            <a:extLst>
              <a:ext uri="{FF2B5EF4-FFF2-40B4-BE49-F238E27FC236}">
                <a16:creationId xmlns:a16="http://schemas.microsoft.com/office/drawing/2014/main" id="{77F15896-EB69-48BE-B042-3F2B6DFE2A8A}"/>
              </a:ext>
            </a:extLst>
          </p:cNvPr>
          <p:cNvCxnSpPr>
            <a:cxnSpLocks/>
            <a:stCxn id="84" idx="6"/>
            <a:endCxn id="85" idx="2"/>
          </p:cNvCxnSpPr>
          <p:nvPr/>
        </p:nvCxnSpPr>
        <p:spPr>
          <a:xfrm>
            <a:off x="7102975" y="2585077"/>
            <a:ext cx="1214913" cy="0"/>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D0E379CA-9D1C-4B40-8C60-078192134C7E}"/>
              </a:ext>
            </a:extLst>
          </p:cNvPr>
          <p:cNvSpPr/>
          <p:nvPr/>
        </p:nvSpPr>
        <p:spPr>
          <a:xfrm>
            <a:off x="3747637" y="2505242"/>
            <a:ext cx="205274" cy="20622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Oval 81">
            <a:extLst>
              <a:ext uri="{FF2B5EF4-FFF2-40B4-BE49-F238E27FC236}">
                <a16:creationId xmlns:a16="http://schemas.microsoft.com/office/drawing/2014/main" id="{9BF11792-59B5-4A55-BA2D-34CC549A7118}"/>
              </a:ext>
            </a:extLst>
          </p:cNvPr>
          <p:cNvSpPr/>
          <p:nvPr/>
        </p:nvSpPr>
        <p:spPr>
          <a:xfrm>
            <a:off x="4366809" y="2500127"/>
            <a:ext cx="205274" cy="20622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3" name="Straight Connector 82">
            <a:extLst>
              <a:ext uri="{FF2B5EF4-FFF2-40B4-BE49-F238E27FC236}">
                <a16:creationId xmlns:a16="http://schemas.microsoft.com/office/drawing/2014/main" id="{F4F7F31C-D9A3-4682-ADCE-12002D768EAB}"/>
              </a:ext>
            </a:extLst>
          </p:cNvPr>
          <p:cNvCxnSpPr>
            <a:cxnSpLocks/>
            <a:stCxn id="81" idx="6"/>
            <a:endCxn id="82" idx="2"/>
          </p:cNvCxnSpPr>
          <p:nvPr/>
        </p:nvCxnSpPr>
        <p:spPr>
          <a:xfrm flipV="1">
            <a:off x="3952911" y="2603241"/>
            <a:ext cx="413898" cy="5115"/>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 name="Slide Number Placeholder 1">
            <a:extLst>
              <a:ext uri="{FF2B5EF4-FFF2-40B4-BE49-F238E27FC236}">
                <a16:creationId xmlns:a16="http://schemas.microsoft.com/office/drawing/2014/main" id="{65EAFFAE-EB16-4700-B33E-B0A26623F0AF}"/>
              </a:ext>
            </a:extLst>
          </p:cNvPr>
          <p:cNvSpPr>
            <a:spLocks noGrp="1"/>
          </p:cNvSpPr>
          <p:nvPr>
            <p:ph type="sldNum" sz="quarter" idx="12"/>
          </p:nvPr>
        </p:nvSpPr>
        <p:spPr>
          <a:xfrm>
            <a:off x="11804073" y="6643166"/>
            <a:ext cx="387927"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12</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5FC73541-9534-4B15-9123-8D448611190C}"/>
              </a:ext>
            </a:extLst>
          </p:cNvPr>
          <p:cNvSpPr txBox="1"/>
          <p:nvPr/>
        </p:nvSpPr>
        <p:spPr>
          <a:xfrm>
            <a:off x="1877601" y="100356"/>
            <a:ext cx="84666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III. </a:t>
            </a:r>
            <a:r>
              <a:rPr lang="en-US" sz="2800" b="1" dirty="0">
                <a:latin typeface="Times New Roman" panose="02020603050405020304" pitchFamily="18" charset="0"/>
                <a:cs typeface="Times New Roman" panose="02020603050405020304" pitchFamily="18" charset="0"/>
              </a:rPr>
              <a:t>Introduction to the Slater-</a:t>
            </a:r>
            <a:r>
              <a:rPr lang="en-US" sz="2800" b="1" dirty="0" err="1">
                <a:latin typeface="Times New Roman" panose="02020603050405020304" pitchFamily="18" charset="0"/>
                <a:cs typeface="Times New Roman" panose="02020603050405020304" pitchFamily="18" charset="0"/>
              </a:rPr>
              <a:t>Koster</a:t>
            </a:r>
            <a:r>
              <a:rPr lang="en-US" sz="2800" b="1" dirty="0">
                <a:latin typeface="Times New Roman" panose="02020603050405020304" pitchFamily="18" charset="0"/>
                <a:cs typeface="Times New Roman" panose="02020603050405020304" pitchFamily="18" charset="0"/>
              </a:rPr>
              <a:t> (SK) Framework</a:t>
            </a:r>
            <a:endParaRPr lang="en-US" sz="2800" b="1" dirty="0">
              <a:effectLst/>
              <a:latin typeface="Times New Roman" panose="02020603050405020304" pitchFamily="18" charset="0"/>
              <a:cs typeface="Times New Roman" panose="02020603050405020304" pitchFamily="18" charset="0"/>
            </a:endParaRPr>
          </a:p>
        </p:txBody>
      </p:sp>
      <p:sp>
        <p:nvSpPr>
          <p:cNvPr id="40" name="TextBox 39">
            <a:extLst>
              <a:ext uri="{FF2B5EF4-FFF2-40B4-BE49-F238E27FC236}">
                <a16:creationId xmlns:a16="http://schemas.microsoft.com/office/drawing/2014/main" id="{05713FD4-7D16-4F09-AA97-9445A413BE9B}"/>
              </a:ext>
            </a:extLst>
          </p:cNvPr>
          <p:cNvSpPr txBox="1"/>
          <p:nvPr/>
        </p:nvSpPr>
        <p:spPr>
          <a:xfrm>
            <a:off x="1380929" y="3690470"/>
            <a:ext cx="9815805" cy="369332"/>
          </a:xfrm>
          <a:prstGeom prst="rect">
            <a:avLst/>
          </a:prstGeom>
          <a:noFill/>
        </p:spPr>
        <p:txBody>
          <a:bodyPr wrap="square" rtlCol="0">
            <a:spAutoFit/>
          </a:bodyPr>
          <a:lstStyle/>
          <a:p>
            <a:pPr algn="just"/>
            <a:r>
              <a:rPr lang="el-GR"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 bond (</a:t>
            </a:r>
            <a:r>
              <a:rPr lang="en-US" b="1" i="1" dirty="0">
                <a:latin typeface="Times New Roman" panose="02020603050405020304" pitchFamily="18" charset="0"/>
                <a:cs typeface="Times New Roman" panose="02020603050405020304" pitchFamily="18" charset="0"/>
              </a:rPr>
              <a:t>m</a:t>
            </a:r>
            <a:r>
              <a:rPr lang="en-US" sz="1100"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 ±1): Exactly one </a:t>
            </a:r>
            <a:r>
              <a:rPr lang="en-US" b="1" dirty="0">
                <a:solidFill>
                  <a:srgbClr val="0070C0"/>
                </a:solidFill>
                <a:latin typeface="Times New Roman" panose="02020603050405020304" pitchFamily="18" charset="0"/>
                <a:cs typeface="Times New Roman" panose="02020603050405020304" pitchFamily="18" charset="0"/>
              </a:rPr>
              <a:t>nodal plane</a:t>
            </a:r>
            <a:r>
              <a:rPr lang="en-US" b="1" dirty="0">
                <a:latin typeface="Times New Roman" panose="02020603050405020304" pitchFamily="18" charset="0"/>
                <a:cs typeface="Times New Roman" panose="02020603050405020304" pitchFamily="18" charset="0"/>
              </a:rPr>
              <a:t> containing the </a:t>
            </a:r>
            <a:r>
              <a:rPr lang="en-US" b="1" dirty="0">
                <a:solidFill>
                  <a:srgbClr val="FFC000"/>
                </a:solidFill>
                <a:latin typeface="Times New Roman" panose="02020603050405020304" pitchFamily="18" charset="0"/>
                <a:cs typeface="Times New Roman" panose="02020603050405020304" pitchFamily="18" charset="0"/>
              </a:rPr>
              <a:t>bond axis</a:t>
            </a:r>
            <a:r>
              <a:rPr lang="en-US" b="1" dirty="0">
                <a:latin typeface="Times New Roman" panose="02020603050405020304" pitchFamily="18" charset="0"/>
                <a:cs typeface="Times New Roman" panose="02020603050405020304" pitchFamily="18" charset="0"/>
              </a:rPr>
              <a:t> (side-by-side overlap; </a:t>
            </a:r>
            <a:r>
              <a:rPr lang="en-US" b="1" i="1" dirty="0">
                <a:latin typeface="Times New Roman" panose="02020603050405020304" pitchFamily="18" charset="0"/>
                <a:cs typeface="Times New Roman" panose="02020603050405020304" pitchFamily="18" charset="0"/>
              </a:rPr>
              <a:t>e</a:t>
            </a:r>
            <a:r>
              <a:rPr lang="en-US" b="1"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g</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pp</a:t>
            </a:r>
            <a:r>
              <a:rPr lang="el-GR" sz="1100"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a:t>
            </a:r>
            <a:endParaRPr lang="en-US" b="1" i="1" dirty="0">
              <a:latin typeface="Times New Roman" panose="02020603050405020304" pitchFamily="18" charset="0"/>
              <a:cs typeface="Times New Roman" panose="02020603050405020304" pitchFamily="18" charset="0"/>
            </a:endParaRPr>
          </a:p>
        </p:txBody>
      </p:sp>
      <p:grpSp>
        <p:nvGrpSpPr>
          <p:cNvPr id="46" name="Group 45">
            <a:extLst>
              <a:ext uri="{FF2B5EF4-FFF2-40B4-BE49-F238E27FC236}">
                <a16:creationId xmlns:a16="http://schemas.microsoft.com/office/drawing/2014/main" id="{32E10D40-5D45-49CC-8DB4-0D1F5B9D4C72}"/>
              </a:ext>
            </a:extLst>
          </p:cNvPr>
          <p:cNvGrpSpPr/>
          <p:nvPr/>
        </p:nvGrpSpPr>
        <p:grpSpPr>
          <a:xfrm rot="16200000">
            <a:off x="3062705" y="5051297"/>
            <a:ext cx="1623526" cy="262991"/>
            <a:chOff x="5407793" y="5062750"/>
            <a:chExt cx="1623526" cy="262991"/>
          </a:xfrm>
        </p:grpSpPr>
        <p:sp>
          <p:nvSpPr>
            <p:cNvPr id="41" name="Oval 40">
              <a:extLst>
                <a:ext uri="{FF2B5EF4-FFF2-40B4-BE49-F238E27FC236}">
                  <a16:creationId xmlns:a16="http://schemas.microsoft.com/office/drawing/2014/main" id="{0FAA8FD7-0C7D-4AB4-B286-B8ABB9688859}"/>
                </a:ext>
              </a:extLst>
            </p:cNvPr>
            <p:cNvSpPr/>
            <p:nvPr/>
          </p:nvSpPr>
          <p:spPr>
            <a:xfrm>
              <a:off x="5407793"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Oval 41">
              <a:extLst>
                <a:ext uri="{FF2B5EF4-FFF2-40B4-BE49-F238E27FC236}">
                  <a16:creationId xmlns:a16="http://schemas.microsoft.com/office/drawing/2014/main" id="{E391EB1E-5F29-4C26-9F00-2961FF23A072}"/>
                </a:ext>
              </a:extLst>
            </p:cNvPr>
            <p:cNvSpPr/>
            <p:nvPr/>
          </p:nvSpPr>
          <p:spPr>
            <a:xfrm>
              <a:off x="6219556"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3" name="Straight Connector 42">
              <a:extLst>
                <a:ext uri="{FF2B5EF4-FFF2-40B4-BE49-F238E27FC236}">
                  <a16:creationId xmlns:a16="http://schemas.microsoft.com/office/drawing/2014/main" id="{B1820144-60C4-441B-87D5-0A5DB58E77AA}"/>
                </a:ext>
              </a:extLst>
            </p:cNvPr>
            <p:cNvCxnSpPr>
              <a:cxnSpLocks/>
            </p:cNvCxnSpPr>
            <p:nvPr/>
          </p:nvCxnSpPr>
          <p:spPr>
            <a:xfrm>
              <a:off x="6508803"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9489AA4-A8BB-4D60-9BBA-016275648397}"/>
                </a:ext>
              </a:extLst>
            </p:cNvPr>
            <p:cNvCxnSpPr>
              <a:cxnSpLocks/>
            </p:cNvCxnSpPr>
            <p:nvPr/>
          </p:nvCxnSpPr>
          <p:spPr>
            <a:xfrm>
              <a:off x="5697038"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A027DD7B-81D4-4C11-B8A5-EE1CA040818B}"/>
                </a:ext>
              </a:extLst>
            </p:cNvPr>
            <p:cNvCxnSpPr>
              <a:cxnSpLocks/>
            </p:cNvCxnSpPr>
            <p:nvPr/>
          </p:nvCxnSpPr>
          <p:spPr>
            <a:xfrm>
              <a:off x="6605218" y="5114068"/>
              <a:ext cx="0" cy="158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47" name="Group 46">
            <a:extLst>
              <a:ext uri="{FF2B5EF4-FFF2-40B4-BE49-F238E27FC236}">
                <a16:creationId xmlns:a16="http://schemas.microsoft.com/office/drawing/2014/main" id="{19DE4374-4969-440E-BEB7-7BA0EF4EB1D4}"/>
              </a:ext>
            </a:extLst>
          </p:cNvPr>
          <p:cNvGrpSpPr/>
          <p:nvPr/>
        </p:nvGrpSpPr>
        <p:grpSpPr>
          <a:xfrm rot="16200000">
            <a:off x="3773491" y="5051296"/>
            <a:ext cx="1623526" cy="262991"/>
            <a:chOff x="5407793" y="5062750"/>
            <a:chExt cx="1623526" cy="262991"/>
          </a:xfrm>
        </p:grpSpPr>
        <p:sp>
          <p:nvSpPr>
            <p:cNvPr id="48" name="Oval 47">
              <a:extLst>
                <a:ext uri="{FF2B5EF4-FFF2-40B4-BE49-F238E27FC236}">
                  <a16:creationId xmlns:a16="http://schemas.microsoft.com/office/drawing/2014/main" id="{6199F246-5652-444D-B664-604A19585931}"/>
                </a:ext>
              </a:extLst>
            </p:cNvPr>
            <p:cNvSpPr/>
            <p:nvPr/>
          </p:nvSpPr>
          <p:spPr>
            <a:xfrm>
              <a:off x="5407793"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Oval 48">
              <a:extLst>
                <a:ext uri="{FF2B5EF4-FFF2-40B4-BE49-F238E27FC236}">
                  <a16:creationId xmlns:a16="http://schemas.microsoft.com/office/drawing/2014/main" id="{D3EEAC80-9D72-42D5-85E9-6F6F865731BE}"/>
                </a:ext>
              </a:extLst>
            </p:cNvPr>
            <p:cNvSpPr/>
            <p:nvPr/>
          </p:nvSpPr>
          <p:spPr>
            <a:xfrm>
              <a:off x="6219556"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0" name="Straight Connector 49">
              <a:extLst>
                <a:ext uri="{FF2B5EF4-FFF2-40B4-BE49-F238E27FC236}">
                  <a16:creationId xmlns:a16="http://schemas.microsoft.com/office/drawing/2014/main" id="{E8AADEC9-90D8-43AC-A4F7-94E5B95DB759}"/>
                </a:ext>
              </a:extLst>
            </p:cNvPr>
            <p:cNvCxnSpPr>
              <a:cxnSpLocks/>
            </p:cNvCxnSpPr>
            <p:nvPr/>
          </p:nvCxnSpPr>
          <p:spPr>
            <a:xfrm>
              <a:off x="6508803"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9310264F-3C88-4781-B71B-733FC5523610}"/>
                </a:ext>
              </a:extLst>
            </p:cNvPr>
            <p:cNvCxnSpPr>
              <a:cxnSpLocks/>
            </p:cNvCxnSpPr>
            <p:nvPr/>
          </p:nvCxnSpPr>
          <p:spPr>
            <a:xfrm>
              <a:off x="5697038"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7225D5A8-CA19-4941-9DEC-81457331BB7E}"/>
                </a:ext>
              </a:extLst>
            </p:cNvPr>
            <p:cNvCxnSpPr>
              <a:cxnSpLocks/>
            </p:cNvCxnSpPr>
            <p:nvPr/>
          </p:nvCxnSpPr>
          <p:spPr>
            <a:xfrm>
              <a:off x="6605218" y="5114068"/>
              <a:ext cx="0" cy="158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53" name="TextBox 52">
            <a:extLst>
              <a:ext uri="{FF2B5EF4-FFF2-40B4-BE49-F238E27FC236}">
                <a16:creationId xmlns:a16="http://schemas.microsoft.com/office/drawing/2014/main" id="{E4D9AF4F-4A94-4F71-8F00-B1FB61F5CAAB}"/>
              </a:ext>
            </a:extLst>
          </p:cNvPr>
          <p:cNvSpPr txBox="1"/>
          <p:nvPr/>
        </p:nvSpPr>
        <p:spPr>
          <a:xfrm>
            <a:off x="3926248" y="5994554"/>
            <a:ext cx="576168" cy="369332"/>
          </a:xfrm>
          <a:prstGeom prst="rect">
            <a:avLst/>
          </a:prstGeom>
          <a:noFill/>
        </p:spPr>
        <p:txBody>
          <a:bodyPr wrap="square">
            <a:spAutoFit/>
          </a:bodyPr>
          <a:lstStyle/>
          <a:p>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pp</a:t>
            </a:r>
            <a:r>
              <a:rPr lang="el-GR" sz="1100" b="1" i="1" dirty="0">
                <a:latin typeface="Times New Roman" panose="02020603050405020304" pitchFamily="18" charset="0"/>
                <a:cs typeface="Times New Roman" panose="02020603050405020304" pitchFamily="18" charset="0"/>
              </a:rPr>
              <a:t>π</a:t>
            </a:r>
            <a:endParaRPr lang="en-US" sz="1100" dirty="0"/>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0577069F-6675-4158-8230-CE2099298580}"/>
                  </a:ext>
                </a:extLst>
              </p:cNvPr>
              <p:cNvSpPr txBox="1"/>
              <p:nvPr/>
            </p:nvSpPr>
            <p:spPr>
              <a:xfrm>
                <a:off x="5604933" y="4636868"/>
                <a:ext cx="6199140" cy="969368"/>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Distance Dependence: These basic parameters depend only on the inter-atomic distance </a:t>
                </a:r>
                <a14:m>
                  <m:oMath xmlns:m="http://schemas.openxmlformats.org/officeDocument/2006/math">
                    <m:r>
                      <a:rPr lang="en-US" b="1" i="1" smtClean="0">
                        <a:latin typeface="Cambria Math" panose="02040503050406030204" pitchFamily="18" charset="0"/>
                        <a:cs typeface="Times New Roman" panose="02020603050405020304" pitchFamily="18" charset="0"/>
                      </a:rPr>
                      <m:t>𝑹</m:t>
                    </m:r>
                    <m:r>
                      <a:rPr lang="en-US" b="1" i="0" smtClean="0">
                        <a:latin typeface="Cambria Math" panose="02040503050406030204" pitchFamily="18" charset="0"/>
                        <a:cs typeface="Times New Roman" panose="02020603050405020304" pitchFamily="18" charset="0"/>
                      </a:rPr>
                      <m:t>=</m:t>
                    </m:r>
                    <m:d>
                      <m:dPr>
                        <m:begChr m:val="|"/>
                        <m:endChr m:val="|"/>
                        <m:ctrlPr>
                          <a:rPr lang="en-US" b="1" i="1" smtClean="0">
                            <a:latin typeface="Cambria Math" panose="02040503050406030204" pitchFamily="18" charset="0"/>
                            <a:cs typeface="Times New Roman" panose="02020603050405020304" pitchFamily="18" charset="0"/>
                          </a:rPr>
                        </m:ctrlPr>
                      </m:dPr>
                      <m:e>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cs typeface="Times New Roman" panose="02020603050405020304" pitchFamily="18" charset="0"/>
                              </a:rPr>
                              <m:t>𝒊</m:t>
                            </m:r>
                          </m:sub>
                        </m:sSub>
                        <m:r>
                          <a:rPr lang="en-US" b="1" i="0" smtClean="0">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𝑹</m:t>
                            </m:r>
                          </m:e>
                          <m:sub>
                            <m:r>
                              <a:rPr lang="en-US" b="1" i="1" smtClean="0">
                                <a:latin typeface="Cambria Math" panose="02040503050406030204" pitchFamily="18" charset="0"/>
                                <a:cs typeface="Times New Roman" panose="02020603050405020304" pitchFamily="18" charset="0"/>
                              </a:rPr>
                              <m:t>𝒋</m:t>
                            </m:r>
                          </m:sub>
                        </m:sSub>
                      </m:e>
                    </m:d>
                  </m:oMath>
                </a14:m>
                <a:r>
                  <a:rPr lang="en-US" b="1" dirty="0">
                    <a:latin typeface="Times New Roman" panose="02020603050405020304" pitchFamily="18" charset="0"/>
                    <a:cs typeface="Times New Roman" panose="02020603050405020304" pitchFamily="18" charset="0"/>
                  </a:rPr>
                  <a:t>, completely independent of the crystal's tilt angle</a:t>
                </a:r>
              </a:p>
            </p:txBody>
          </p:sp>
        </mc:Choice>
        <mc:Fallback xmlns="">
          <p:sp>
            <p:nvSpPr>
              <p:cNvPr id="54" name="TextBox 53">
                <a:extLst>
                  <a:ext uri="{FF2B5EF4-FFF2-40B4-BE49-F238E27FC236}">
                    <a16:creationId xmlns:a16="http://schemas.microsoft.com/office/drawing/2014/main" id="{0577069F-6675-4158-8230-CE2099298580}"/>
                  </a:ext>
                </a:extLst>
              </p:cNvPr>
              <p:cNvSpPr txBox="1">
                <a:spLocks noRot="1" noChangeAspect="1" noMove="1" noResize="1" noEditPoints="1" noAdjustHandles="1" noChangeArrowheads="1" noChangeShapeType="1" noTextEdit="1"/>
              </p:cNvSpPr>
              <p:nvPr/>
            </p:nvSpPr>
            <p:spPr>
              <a:xfrm>
                <a:off x="5604933" y="4636868"/>
                <a:ext cx="6199140" cy="969368"/>
              </a:xfrm>
              <a:prstGeom prst="rect">
                <a:avLst/>
              </a:prstGeom>
              <a:blipFill>
                <a:blip r:embed="rId5"/>
                <a:stretch>
                  <a:fillRect l="-787" t="-3774" r="-885" b="-943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5" name="TextBox 54">
                <a:extLst>
                  <a:ext uri="{FF2B5EF4-FFF2-40B4-BE49-F238E27FC236}">
                    <a16:creationId xmlns:a16="http://schemas.microsoft.com/office/drawing/2014/main" id="{2F42FD2D-C04A-47B2-9C19-5365E3D58497}"/>
                  </a:ext>
                </a:extLst>
              </p:cNvPr>
              <p:cNvSpPr txBox="1"/>
              <p:nvPr/>
            </p:nvSpPr>
            <p:spPr>
              <a:xfrm>
                <a:off x="373224" y="706998"/>
                <a:ext cx="11488185" cy="64633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Symmetry-Enforced Classification: Along this local axis, cylindrical symmetry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𝑪</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m:t>
                        </m:r>
                        <m:r>
                          <m:rPr>
                            <m:sty m:val="p"/>
                          </m:rPr>
                          <a:rPr lang="el-GR" b="1" i="1" smtClean="0">
                            <a:latin typeface="Cambria Math" panose="02040503050406030204" pitchFamily="18" charset="0"/>
                            <a:ea typeface="Cambria Math" panose="02040503050406030204" pitchFamily="18" charset="0"/>
                            <a:cs typeface="Times New Roman" panose="02020603050405020304" pitchFamily="18" charset="0"/>
                          </a:rPr>
                          <m:t>ν</m:t>
                        </m:r>
                      </m:sub>
                    </m:sSub>
                  </m:oMath>
                </a14:m>
                <a:r>
                  <a:rPr lang="en-US" b="1" dirty="0">
                    <a:latin typeface="Times New Roman" panose="02020603050405020304" pitchFamily="18" charset="0"/>
                    <a:cs typeface="Times New Roman" panose="02020603050405020304" pitchFamily="18" charset="0"/>
                  </a:rPr>
                  <a:t>) dictates that the projection of angular momentum (</a:t>
                </a:r>
                <a:r>
                  <a:rPr lang="en-US" b="1" i="1" dirty="0">
                    <a:latin typeface="Times New Roman" panose="02020603050405020304" pitchFamily="18" charset="0"/>
                    <a:cs typeface="Times New Roman" panose="02020603050405020304" pitchFamily="18" charset="0"/>
                  </a:rPr>
                  <a:t>m</a:t>
                </a:r>
                <a:r>
                  <a:rPr lang="en-US" sz="1100"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is a conserved quantum number. Hopping integrals reduce to pure, isolated chemical bonds</a:t>
                </a:r>
                <a:endParaRPr lang="en-US" b="1" i="1" dirty="0">
                  <a:latin typeface="Times New Roman" panose="02020603050405020304" pitchFamily="18" charset="0"/>
                  <a:cs typeface="Times New Roman" panose="02020603050405020304" pitchFamily="18" charset="0"/>
                </a:endParaRPr>
              </a:p>
            </p:txBody>
          </p:sp>
        </mc:Choice>
        <mc:Fallback xmlns="">
          <p:sp>
            <p:nvSpPr>
              <p:cNvPr id="55" name="TextBox 54">
                <a:extLst>
                  <a:ext uri="{FF2B5EF4-FFF2-40B4-BE49-F238E27FC236}">
                    <a16:creationId xmlns:a16="http://schemas.microsoft.com/office/drawing/2014/main" id="{2F42FD2D-C04A-47B2-9C19-5365E3D58497}"/>
                  </a:ext>
                </a:extLst>
              </p:cNvPr>
              <p:cNvSpPr txBox="1">
                <a:spLocks noRot="1" noChangeAspect="1" noMove="1" noResize="1" noEditPoints="1" noAdjustHandles="1" noChangeArrowheads="1" noChangeShapeType="1" noTextEdit="1"/>
              </p:cNvSpPr>
              <p:nvPr/>
            </p:nvSpPr>
            <p:spPr>
              <a:xfrm>
                <a:off x="373224" y="706998"/>
                <a:ext cx="11488185" cy="646331"/>
              </a:xfrm>
              <a:prstGeom prst="rect">
                <a:avLst/>
              </a:prstGeom>
              <a:blipFill>
                <a:blip r:embed="rId6"/>
                <a:stretch>
                  <a:fillRect l="-424" t="-5660" r="-424" b="-14151"/>
                </a:stretch>
              </a:blipFill>
            </p:spPr>
            <p:txBody>
              <a:bodyPr/>
              <a:lstStyle/>
              <a:p>
                <a:r>
                  <a:rPr lang="en-US">
                    <a:noFill/>
                  </a:rPr>
                  <a:t> </a:t>
                </a:r>
              </a:p>
            </p:txBody>
          </p:sp>
        </mc:Fallback>
      </mc:AlternateContent>
      <p:sp>
        <p:nvSpPr>
          <p:cNvPr id="56" name="TextBox 55">
            <a:extLst>
              <a:ext uri="{FF2B5EF4-FFF2-40B4-BE49-F238E27FC236}">
                <a16:creationId xmlns:a16="http://schemas.microsoft.com/office/drawing/2014/main" id="{9A0426A6-386F-44D1-AB13-73EF6F520B82}"/>
              </a:ext>
            </a:extLst>
          </p:cNvPr>
          <p:cNvSpPr txBox="1"/>
          <p:nvPr/>
        </p:nvSpPr>
        <p:spPr>
          <a:xfrm>
            <a:off x="1380929" y="1687128"/>
            <a:ext cx="8795657" cy="369332"/>
          </a:xfrm>
          <a:prstGeom prst="rect">
            <a:avLst/>
          </a:prstGeom>
          <a:noFill/>
        </p:spPr>
        <p:txBody>
          <a:bodyPr wrap="square" rtlCol="0">
            <a:spAutoFit/>
          </a:bodyPr>
          <a:lstStyle/>
          <a:p>
            <a:pPr algn="just"/>
            <a:r>
              <a:rPr lang="el-GR"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bond (</a:t>
            </a:r>
            <a:r>
              <a:rPr lang="en-US" b="1" i="1" dirty="0">
                <a:latin typeface="Times New Roman" panose="02020603050405020304" pitchFamily="18" charset="0"/>
                <a:cs typeface="Times New Roman" panose="02020603050405020304" pitchFamily="18" charset="0"/>
              </a:rPr>
              <a:t>m</a:t>
            </a:r>
            <a:r>
              <a:rPr lang="en-US" sz="1100"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 0): Symmetric around the </a:t>
            </a:r>
            <a:r>
              <a:rPr lang="en-US" b="1" dirty="0">
                <a:solidFill>
                  <a:srgbClr val="FFC000"/>
                </a:solidFill>
                <a:latin typeface="Times New Roman" panose="02020603050405020304" pitchFamily="18" charset="0"/>
                <a:cs typeface="Times New Roman" panose="02020603050405020304" pitchFamily="18" charset="0"/>
              </a:rPr>
              <a:t>bond axis</a:t>
            </a:r>
            <a:r>
              <a:rPr lang="en-US" b="1" dirty="0">
                <a:latin typeface="Times New Roman" panose="02020603050405020304" pitchFamily="18" charset="0"/>
                <a:cs typeface="Times New Roman" panose="02020603050405020304" pitchFamily="18" charset="0"/>
              </a:rPr>
              <a:t> (Head-to-head collision; </a:t>
            </a:r>
            <a:r>
              <a:rPr lang="en-US" b="1" i="1" dirty="0">
                <a:latin typeface="Times New Roman" panose="02020603050405020304" pitchFamily="18" charset="0"/>
                <a:cs typeface="Times New Roman" panose="02020603050405020304" pitchFamily="18" charset="0"/>
              </a:rPr>
              <a:t>e</a:t>
            </a:r>
            <a:r>
              <a:rPr lang="en-US" b="1"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g</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ss</a:t>
            </a:r>
            <a:r>
              <a:rPr lang="el-GR" sz="1100"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pp</a:t>
            </a:r>
            <a:r>
              <a:rPr lang="el-GR" sz="1100"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a:t>
            </a:r>
            <a:endParaRPr lang="en-US" b="1" i="1" dirty="0">
              <a:latin typeface="Times New Roman" panose="02020603050405020304" pitchFamily="18" charset="0"/>
              <a:cs typeface="Times New Roman" panose="02020603050405020304" pitchFamily="18" charset="0"/>
            </a:endParaRPr>
          </a:p>
        </p:txBody>
      </p:sp>
      <p:sp>
        <p:nvSpPr>
          <p:cNvPr id="57" name="Oval 56">
            <a:extLst>
              <a:ext uri="{FF2B5EF4-FFF2-40B4-BE49-F238E27FC236}">
                <a16:creationId xmlns:a16="http://schemas.microsoft.com/office/drawing/2014/main" id="{3FAA167E-743A-498B-B498-E68E181EB6FA}"/>
              </a:ext>
            </a:extLst>
          </p:cNvPr>
          <p:cNvSpPr/>
          <p:nvPr/>
        </p:nvSpPr>
        <p:spPr>
          <a:xfrm>
            <a:off x="3470988" y="2211355"/>
            <a:ext cx="765110" cy="74936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59" name="Straight Connector 58">
            <a:extLst>
              <a:ext uri="{FF2B5EF4-FFF2-40B4-BE49-F238E27FC236}">
                <a16:creationId xmlns:a16="http://schemas.microsoft.com/office/drawing/2014/main" id="{C074754C-6A44-4B65-A1EE-1BADA3F7AA17}"/>
              </a:ext>
            </a:extLst>
          </p:cNvPr>
          <p:cNvCxnSpPr>
            <a:cxnSpLocks/>
          </p:cNvCxnSpPr>
          <p:nvPr/>
        </p:nvCxnSpPr>
        <p:spPr>
          <a:xfrm>
            <a:off x="3710316" y="2603241"/>
            <a:ext cx="301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AAD893D1-9259-4026-A3A3-01ABDDF5CAA2}"/>
              </a:ext>
            </a:extLst>
          </p:cNvPr>
          <p:cNvCxnSpPr/>
          <p:nvPr/>
        </p:nvCxnSpPr>
        <p:spPr>
          <a:xfrm>
            <a:off x="3850274" y="2425959"/>
            <a:ext cx="0" cy="3638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CB6AF6EC-7521-4FEC-A08A-09E0CEA66EA0}"/>
              </a:ext>
            </a:extLst>
          </p:cNvPr>
          <p:cNvSpPr/>
          <p:nvPr/>
        </p:nvSpPr>
        <p:spPr>
          <a:xfrm>
            <a:off x="4089944" y="2214465"/>
            <a:ext cx="765110" cy="749362"/>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4" name="Straight Connector 63">
            <a:extLst>
              <a:ext uri="{FF2B5EF4-FFF2-40B4-BE49-F238E27FC236}">
                <a16:creationId xmlns:a16="http://schemas.microsoft.com/office/drawing/2014/main" id="{374CA729-4B6D-493A-B7AE-178251AE7EA7}"/>
              </a:ext>
            </a:extLst>
          </p:cNvPr>
          <p:cNvCxnSpPr>
            <a:cxnSpLocks/>
          </p:cNvCxnSpPr>
          <p:nvPr/>
        </p:nvCxnSpPr>
        <p:spPr>
          <a:xfrm>
            <a:off x="4319941" y="2606351"/>
            <a:ext cx="301848"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838A9F1D-AB84-46E5-BE70-D7A488F5B3C0}"/>
              </a:ext>
            </a:extLst>
          </p:cNvPr>
          <p:cNvCxnSpPr/>
          <p:nvPr/>
        </p:nvCxnSpPr>
        <p:spPr>
          <a:xfrm>
            <a:off x="4469230" y="2429069"/>
            <a:ext cx="0" cy="363894"/>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66" name="Group 65">
            <a:extLst>
              <a:ext uri="{FF2B5EF4-FFF2-40B4-BE49-F238E27FC236}">
                <a16:creationId xmlns:a16="http://schemas.microsoft.com/office/drawing/2014/main" id="{71A81F66-9A17-4F7E-9042-7CAB383D47E8}"/>
              </a:ext>
            </a:extLst>
          </p:cNvPr>
          <p:cNvGrpSpPr/>
          <p:nvPr/>
        </p:nvGrpSpPr>
        <p:grpSpPr>
          <a:xfrm>
            <a:off x="6194797" y="2451625"/>
            <a:ext cx="1623526" cy="262991"/>
            <a:chOff x="5407793" y="5062750"/>
            <a:chExt cx="1623526" cy="262991"/>
          </a:xfrm>
        </p:grpSpPr>
        <p:sp>
          <p:nvSpPr>
            <p:cNvPr id="67" name="Oval 66">
              <a:extLst>
                <a:ext uri="{FF2B5EF4-FFF2-40B4-BE49-F238E27FC236}">
                  <a16:creationId xmlns:a16="http://schemas.microsoft.com/office/drawing/2014/main" id="{87562F3B-6BE2-440A-9A04-10DD1A9E9324}"/>
                </a:ext>
              </a:extLst>
            </p:cNvPr>
            <p:cNvSpPr/>
            <p:nvPr/>
          </p:nvSpPr>
          <p:spPr>
            <a:xfrm>
              <a:off x="5407793"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8" name="Oval 67">
              <a:extLst>
                <a:ext uri="{FF2B5EF4-FFF2-40B4-BE49-F238E27FC236}">
                  <a16:creationId xmlns:a16="http://schemas.microsoft.com/office/drawing/2014/main" id="{21EA4727-A19B-4DCE-8E1B-66D66E55ECC6}"/>
                </a:ext>
              </a:extLst>
            </p:cNvPr>
            <p:cNvSpPr/>
            <p:nvPr/>
          </p:nvSpPr>
          <p:spPr>
            <a:xfrm>
              <a:off x="6219556"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9" name="Straight Connector 68">
              <a:extLst>
                <a:ext uri="{FF2B5EF4-FFF2-40B4-BE49-F238E27FC236}">
                  <a16:creationId xmlns:a16="http://schemas.microsoft.com/office/drawing/2014/main" id="{AAF516FC-B875-4337-B979-234AF805E1A7}"/>
                </a:ext>
              </a:extLst>
            </p:cNvPr>
            <p:cNvCxnSpPr>
              <a:cxnSpLocks/>
            </p:cNvCxnSpPr>
            <p:nvPr/>
          </p:nvCxnSpPr>
          <p:spPr>
            <a:xfrm>
              <a:off x="6508803"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0300ADB7-C6B3-4AC2-A73C-E71ACB8E5035}"/>
                </a:ext>
              </a:extLst>
            </p:cNvPr>
            <p:cNvCxnSpPr>
              <a:cxnSpLocks/>
            </p:cNvCxnSpPr>
            <p:nvPr/>
          </p:nvCxnSpPr>
          <p:spPr>
            <a:xfrm>
              <a:off x="5697038"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27F1407C-19C0-4133-887F-DE739F4FEF00}"/>
                </a:ext>
              </a:extLst>
            </p:cNvPr>
            <p:cNvCxnSpPr>
              <a:cxnSpLocks/>
            </p:cNvCxnSpPr>
            <p:nvPr/>
          </p:nvCxnSpPr>
          <p:spPr>
            <a:xfrm>
              <a:off x="6605218" y="5114068"/>
              <a:ext cx="0" cy="158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2" name="Group 71">
            <a:extLst>
              <a:ext uri="{FF2B5EF4-FFF2-40B4-BE49-F238E27FC236}">
                <a16:creationId xmlns:a16="http://schemas.microsoft.com/office/drawing/2014/main" id="{D8A9C1C5-1DB9-40FB-960C-D8A18D5FB1DE}"/>
              </a:ext>
            </a:extLst>
          </p:cNvPr>
          <p:cNvGrpSpPr/>
          <p:nvPr/>
        </p:nvGrpSpPr>
        <p:grpSpPr>
          <a:xfrm>
            <a:off x="7606827" y="2445923"/>
            <a:ext cx="1623526" cy="262991"/>
            <a:chOff x="5407793" y="5062750"/>
            <a:chExt cx="1623526" cy="262991"/>
          </a:xfrm>
        </p:grpSpPr>
        <p:sp>
          <p:nvSpPr>
            <p:cNvPr id="73" name="Oval 72">
              <a:extLst>
                <a:ext uri="{FF2B5EF4-FFF2-40B4-BE49-F238E27FC236}">
                  <a16:creationId xmlns:a16="http://schemas.microsoft.com/office/drawing/2014/main" id="{2239E447-6DA7-409A-A336-F20F1BC180E9}"/>
                </a:ext>
              </a:extLst>
            </p:cNvPr>
            <p:cNvSpPr/>
            <p:nvPr/>
          </p:nvSpPr>
          <p:spPr>
            <a:xfrm>
              <a:off x="5407793"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4" name="Oval 73">
              <a:extLst>
                <a:ext uri="{FF2B5EF4-FFF2-40B4-BE49-F238E27FC236}">
                  <a16:creationId xmlns:a16="http://schemas.microsoft.com/office/drawing/2014/main" id="{0EB9270A-79E2-4E8F-88EB-14FFA38B165A}"/>
                </a:ext>
              </a:extLst>
            </p:cNvPr>
            <p:cNvSpPr/>
            <p:nvPr/>
          </p:nvSpPr>
          <p:spPr>
            <a:xfrm>
              <a:off x="6219556" y="5062750"/>
              <a:ext cx="811763" cy="262991"/>
            </a:xfrm>
            <a:prstGeom prst="ellipse">
              <a:avLst/>
            </a:pr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75" name="Straight Connector 74">
              <a:extLst>
                <a:ext uri="{FF2B5EF4-FFF2-40B4-BE49-F238E27FC236}">
                  <a16:creationId xmlns:a16="http://schemas.microsoft.com/office/drawing/2014/main" id="{FB5511AB-D59F-4672-8B04-FBBE74BE230E}"/>
                </a:ext>
              </a:extLst>
            </p:cNvPr>
            <p:cNvCxnSpPr>
              <a:cxnSpLocks/>
            </p:cNvCxnSpPr>
            <p:nvPr/>
          </p:nvCxnSpPr>
          <p:spPr>
            <a:xfrm>
              <a:off x="6508803"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DA73EB38-4CE3-4324-9AB5-B5859B368C54}"/>
                </a:ext>
              </a:extLst>
            </p:cNvPr>
            <p:cNvCxnSpPr>
              <a:cxnSpLocks/>
            </p:cNvCxnSpPr>
            <p:nvPr/>
          </p:nvCxnSpPr>
          <p:spPr>
            <a:xfrm>
              <a:off x="5697038" y="5193378"/>
              <a:ext cx="214605"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DBD27F05-BB31-483F-B016-A8CEA4C409A0}"/>
                </a:ext>
              </a:extLst>
            </p:cNvPr>
            <p:cNvCxnSpPr>
              <a:cxnSpLocks/>
            </p:cNvCxnSpPr>
            <p:nvPr/>
          </p:nvCxnSpPr>
          <p:spPr>
            <a:xfrm>
              <a:off x="6605218" y="5114068"/>
              <a:ext cx="0" cy="15862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78" name="TextBox 77">
            <a:extLst>
              <a:ext uri="{FF2B5EF4-FFF2-40B4-BE49-F238E27FC236}">
                <a16:creationId xmlns:a16="http://schemas.microsoft.com/office/drawing/2014/main" id="{CBDF7CB6-D5FA-424E-9593-BEA269AD572E}"/>
              </a:ext>
            </a:extLst>
          </p:cNvPr>
          <p:cNvSpPr txBox="1"/>
          <p:nvPr/>
        </p:nvSpPr>
        <p:spPr>
          <a:xfrm>
            <a:off x="7494125" y="3134551"/>
            <a:ext cx="579959" cy="369332"/>
          </a:xfrm>
          <a:prstGeom prst="rect">
            <a:avLst/>
          </a:prstGeom>
          <a:noFill/>
        </p:spPr>
        <p:txBody>
          <a:bodyPr wrap="square">
            <a:spAutoFit/>
          </a:bodyPr>
          <a:lstStyle/>
          <a:p>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pp</a:t>
            </a:r>
            <a:r>
              <a:rPr lang="el-GR" sz="1100" b="1" i="1" dirty="0">
                <a:latin typeface="Times New Roman" panose="02020603050405020304" pitchFamily="18" charset="0"/>
                <a:cs typeface="Times New Roman" panose="02020603050405020304" pitchFamily="18" charset="0"/>
              </a:rPr>
              <a:t>σ</a:t>
            </a:r>
            <a:endParaRPr lang="en-US" sz="1100" dirty="0"/>
          </a:p>
        </p:txBody>
      </p:sp>
      <p:sp>
        <p:nvSpPr>
          <p:cNvPr id="79" name="TextBox 78">
            <a:extLst>
              <a:ext uri="{FF2B5EF4-FFF2-40B4-BE49-F238E27FC236}">
                <a16:creationId xmlns:a16="http://schemas.microsoft.com/office/drawing/2014/main" id="{3F98F7A4-2DE2-4645-85F1-1E506326EC57}"/>
              </a:ext>
            </a:extLst>
          </p:cNvPr>
          <p:cNvSpPr txBox="1"/>
          <p:nvPr/>
        </p:nvSpPr>
        <p:spPr>
          <a:xfrm>
            <a:off x="3922456" y="3137390"/>
            <a:ext cx="579959" cy="369332"/>
          </a:xfrm>
          <a:prstGeom prst="rect">
            <a:avLst/>
          </a:prstGeom>
          <a:noFill/>
        </p:spPr>
        <p:txBody>
          <a:bodyPr wrap="square">
            <a:spAutoFit/>
          </a:bodyPr>
          <a:lstStyle/>
          <a:p>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ss</a:t>
            </a:r>
            <a:r>
              <a:rPr lang="el-GR" sz="1100" b="1" i="1" dirty="0">
                <a:latin typeface="Times New Roman" panose="02020603050405020304" pitchFamily="18" charset="0"/>
                <a:cs typeface="Times New Roman" panose="02020603050405020304" pitchFamily="18" charset="0"/>
              </a:rPr>
              <a:t>σ</a:t>
            </a:r>
            <a:endParaRPr lang="en-US" sz="1100" dirty="0"/>
          </a:p>
        </p:txBody>
      </p:sp>
      <p:sp>
        <p:nvSpPr>
          <p:cNvPr id="3" name="Parallelogram 2">
            <a:extLst>
              <a:ext uri="{FF2B5EF4-FFF2-40B4-BE49-F238E27FC236}">
                <a16:creationId xmlns:a16="http://schemas.microsoft.com/office/drawing/2014/main" id="{52A1AF30-28F8-4824-94FB-2AAD5BE5F757}"/>
              </a:ext>
            </a:extLst>
          </p:cNvPr>
          <p:cNvSpPr/>
          <p:nvPr/>
        </p:nvSpPr>
        <p:spPr>
          <a:xfrm rot="20297285">
            <a:off x="3495016" y="4941099"/>
            <a:ext cx="765005" cy="463074"/>
          </a:xfrm>
          <a:prstGeom prst="parallelogram">
            <a:avLst/>
          </a:prstGeom>
          <a:solidFill>
            <a:schemeClr val="accent1">
              <a:alpha val="50000"/>
            </a:schemeClr>
          </a:solidFill>
          <a:ln>
            <a:solidFill>
              <a:schemeClr val="accent1">
                <a:shade val="5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Parallelogram 57">
            <a:extLst>
              <a:ext uri="{FF2B5EF4-FFF2-40B4-BE49-F238E27FC236}">
                <a16:creationId xmlns:a16="http://schemas.microsoft.com/office/drawing/2014/main" id="{07567443-4372-4569-BD04-AD25730167FB}"/>
              </a:ext>
            </a:extLst>
          </p:cNvPr>
          <p:cNvSpPr/>
          <p:nvPr/>
        </p:nvSpPr>
        <p:spPr>
          <a:xfrm rot="20297285">
            <a:off x="4212256" y="4943724"/>
            <a:ext cx="765005" cy="463074"/>
          </a:xfrm>
          <a:prstGeom prst="parallelogram">
            <a:avLst/>
          </a:prstGeom>
          <a:solidFill>
            <a:schemeClr val="accent1">
              <a:alpha val="50000"/>
            </a:schemeClr>
          </a:solidFill>
          <a:ln>
            <a:solidFill>
              <a:schemeClr val="accent1">
                <a:shade val="50000"/>
                <a:alpha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 name="Straight Arrow Connector 5">
            <a:extLst>
              <a:ext uri="{FF2B5EF4-FFF2-40B4-BE49-F238E27FC236}">
                <a16:creationId xmlns:a16="http://schemas.microsoft.com/office/drawing/2014/main" id="{8E943990-84C9-49CD-B9E9-1440D7B2E951}"/>
              </a:ext>
            </a:extLst>
          </p:cNvPr>
          <p:cNvCxnSpPr>
            <a:cxnSpLocks/>
          </p:cNvCxnSpPr>
          <p:nvPr/>
        </p:nvCxnSpPr>
        <p:spPr>
          <a:xfrm flipH="1">
            <a:off x="4089944" y="4009696"/>
            <a:ext cx="658417" cy="787432"/>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a:extLst>
              <a:ext uri="{FF2B5EF4-FFF2-40B4-BE49-F238E27FC236}">
                <a16:creationId xmlns:a16="http://schemas.microsoft.com/office/drawing/2014/main" id="{3514DD84-5087-4686-9F28-657A81F5B598}"/>
              </a:ext>
            </a:extLst>
          </p:cNvPr>
          <p:cNvCxnSpPr>
            <a:cxnSpLocks/>
          </p:cNvCxnSpPr>
          <p:nvPr/>
        </p:nvCxnSpPr>
        <p:spPr>
          <a:xfrm>
            <a:off x="4827670" y="4044196"/>
            <a:ext cx="13425" cy="752932"/>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p:sp>
        <p:nvSpPr>
          <p:cNvPr id="12" name="Oval 11">
            <a:extLst>
              <a:ext uri="{FF2B5EF4-FFF2-40B4-BE49-F238E27FC236}">
                <a16:creationId xmlns:a16="http://schemas.microsoft.com/office/drawing/2014/main" id="{CAEBAABB-CF37-426B-AA8C-17E72BCBA58E}"/>
              </a:ext>
            </a:extLst>
          </p:cNvPr>
          <p:cNvSpPr/>
          <p:nvPr/>
        </p:nvSpPr>
        <p:spPr>
          <a:xfrm>
            <a:off x="3774881" y="5095551"/>
            <a:ext cx="205274" cy="20622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Oval 79">
            <a:extLst>
              <a:ext uri="{FF2B5EF4-FFF2-40B4-BE49-F238E27FC236}">
                <a16:creationId xmlns:a16="http://schemas.microsoft.com/office/drawing/2014/main" id="{6D774B45-7262-4311-96AF-FBE65074E0A9}"/>
              </a:ext>
            </a:extLst>
          </p:cNvPr>
          <p:cNvSpPr/>
          <p:nvPr/>
        </p:nvSpPr>
        <p:spPr>
          <a:xfrm>
            <a:off x="4496690" y="5090436"/>
            <a:ext cx="205274" cy="206228"/>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9A1D4E36-00AD-4103-B13C-399009AB4952}"/>
              </a:ext>
            </a:extLst>
          </p:cNvPr>
          <p:cNvCxnSpPr>
            <a:cxnSpLocks/>
            <a:stCxn id="12" idx="6"/>
            <a:endCxn id="80" idx="2"/>
          </p:cNvCxnSpPr>
          <p:nvPr/>
        </p:nvCxnSpPr>
        <p:spPr>
          <a:xfrm flipV="1">
            <a:off x="3980155" y="5193550"/>
            <a:ext cx="516535" cy="5115"/>
          </a:xfrm>
          <a:prstGeom prst="line">
            <a:avLst/>
          </a:prstGeom>
          <a:ln w="63500">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87" name="Straight Arrow Connector 86">
            <a:extLst>
              <a:ext uri="{FF2B5EF4-FFF2-40B4-BE49-F238E27FC236}">
                <a16:creationId xmlns:a16="http://schemas.microsoft.com/office/drawing/2014/main" id="{67EA04CA-92F0-437B-B80D-D6C65754A195}"/>
              </a:ext>
            </a:extLst>
          </p:cNvPr>
          <p:cNvCxnSpPr>
            <a:cxnSpLocks/>
          </p:cNvCxnSpPr>
          <p:nvPr/>
        </p:nvCxnSpPr>
        <p:spPr>
          <a:xfrm>
            <a:off x="6251858" y="2023096"/>
            <a:ext cx="1255937" cy="505257"/>
          </a:xfrm>
          <a:prstGeom prst="straightConnector1">
            <a:avLst/>
          </a:prstGeom>
          <a:ln w="25400">
            <a:solidFill>
              <a:srgbClr val="FFC000"/>
            </a:solidFill>
            <a:prstDash val="dash"/>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710609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2" name="Slide Number Placeholder 21">
            <a:extLst>
              <a:ext uri="{FF2B5EF4-FFF2-40B4-BE49-F238E27FC236}">
                <a16:creationId xmlns:a16="http://schemas.microsoft.com/office/drawing/2014/main" id="{7911118B-E748-4BDF-982D-3D8806BD51BB}"/>
              </a:ext>
            </a:extLst>
          </p:cNvPr>
          <p:cNvSpPr>
            <a:spLocks noGrp="1"/>
          </p:cNvSpPr>
          <p:nvPr>
            <p:ph type="sldNum" sz="quarter" idx="12"/>
          </p:nvPr>
        </p:nvSpPr>
        <p:spPr>
          <a:xfrm>
            <a:off x="11802532" y="6643166"/>
            <a:ext cx="392843"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13</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5F5DAB9D-EB39-409F-9CD7-AF0DD864B33E}"/>
              </a:ext>
            </a:extLst>
          </p:cNvPr>
          <p:cNvSpPr txBox="1"/>
          <p:nvPr/>
        </p:nvSpPr>
        <p:spPr>
          <a:xfrm>
            <a:off x="182379" y="2913303"/>
            <a:ext cx="11952513"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Deconstructing Global Orbitals: Tilted global orbitals (</a:t>
            </a:r>
            <a:r>
              <a:rPr lang="en-US" b="1" i="1" dirty="0">
                <a:latin typeface="Times New Roman" panose="02020603050405020304" pitchFamily="18" charset="0"/>
                <a:cs typeface="Times New Roman" panose="02020603050405020304" pitchFamily="18" charset="0"/>
              </a:rPr>
              <a:t>p</a:t>
            </a:r>
            <a:r>
              <a:rPr lang="en-US" sz="1100"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p</a:t>
            </a:r>
            <a:r>
              <a:rPr lang="en-US" sz="1100" b="1" i="1" dirty="0" err="1">
                <a:latin typeface="Times New Roman" panose="02020603050405020304" pitchFamily="18" charset="0"/>
                <a:cs typeface="Times New Roman" panose="02020603050405020304" pitchFamily="18" charset="0"/>
              </a:rPr>
              <a:t>y</a:t>
            </a:r>
            <a:r>
              <a:rPr lang="en-US" b="1" dirty="0">
                <a:latin typeface="Times New Roman" panose="02020603050405020304" pitchFamily="18" charset="0"/>
                <a:cs typeface="Times New Roman" panose="02020603050405020304" pitchFamily="18" charset="0"/>
              </a:rPr>
              <a:t>) are mathematically projected onto the local bond axis using rigid spatial rotation matrices</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Direction Cosines (</a:t>
            </a:r>
            <a:r>
              <a:rPr lang="en-US"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m</a:t>
            </a:r>
            <a:r>
              <a:rPr lang="en-US" b="1"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n</a:t>
            </a:r>
            <a:r>
              <a:rPr lang="en-US" b="1" dirty="0">
                <a:latin typeface="Times New Roman" panose="02020603050405020304" pitchFamily="18" charset="0"/>
                <a:cs typeface="Times New Roman" panose="02020603050405020304" pitchFamily="18" charset="0"/>
              </a:rPr>
              <a:t>): The unit vector pointing from Atom </a:t>
            </a:r>
            <a:r>
              <a:rPr lang="en-US" b="1" i="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to Atom </a:t>
            </a:r>
            <a:r>
              <a:rPr lang="en-US" b="1" i="1" dirty="0">
                <a:latin typeface="Times New Roman" panose="02020603050405020304" pitchFamily="18" charset="0"/>
                <a:cs typeface="Times New Roman" panose="02020603050405020304" pitchFamily="18" charset="0"/>
              </a:rPr>
              <a:t>j</a:t>
            </a:r>
            <a:r>
              <a:rPr lang="en-US" b="1" dirty="0">
                <a:latin typeface="Times New Roman" panose="02020603050405020304" pitchFamily="18" charset="0"/>
                <a:cs typeface="Times New Roman" panose="02020603050405020304" pitchFamily="18" charset="0"/>
              </a:rPr>
              <a:t> in the global frame is given by</a:t>
            </a:r>
          </a:p>
        </p:txBody>
      </p:sp>
      <p:sp>
        <p:nvSpPr>
          <p:cNvPr id="9" name="TextBox 8">
            <a:extLst>
              <a:ext uri="{FF2B5EF4-FFF2-40B4-BE49-F238E27FC236}">
                <a16:creationId xmlns:a16="http://schemas.microsoft.com/office/drawing/2014/main" id="{61350D1E-D24D-4FD9-BA5C-03D7651BF8FD}"/>
              </a:ext>
            </a:extLst>
          </p:cNvPr>
          <p:cNvSpPr txBox="1"/>
          <p:nvPr/>
        </p:nvSpPr>
        <p:spPr>
          <a:xfrm>
            <a:off x="1877601" y="100356"/>
            <a:ext cx="84666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III. </a:t>
            </a:r>
            <a:r>
              <a:rPr lang="en-US" sz="2800" b="1" dirty="0">
                <a:latin typeface="Times New Roman" panose="02020603050405020304" pitchFamily="18" charset="0"/>
                <a:cs typeface="Times New Roman" panose="02020603050405020304" pitchFamily="18" charset="0"/>
              </a:rPr>
              <a:t>Introduction to the Slater-</a:t>
            </a:r>
            <a:r>
              <a:rPr lang="en-US" sz="2800" b="1" dirty="0" err="1">
                <a:latin typeface="Times New Roman" panose="02020603050405020304" pitchFamily="18" charset="0"/>
                <a:cs typeface="Times New Roman" panose="02020603050405020304" pitchFamily="18" charset="0"/>
              </a:rPr>
              <a:t>Koster</a:t>
            </a:r>
            <a:r>
              <a:rPr lang="en-US" sz="2800" b="1" dirty="0">
                <a:latin typeface="Times New Roman" panose="02020603050405020304" pitchFamily="18" charset="0"/>
                <a:cs typeface="Times New Roman" panose="02020603050405020304" pitchFamily="18" charset="0"/>
              </a:rPr>
              <a:t> (SK) Framework</a:t>
            </a:r>
            <a:endParaRPr lang="en-US" sz="2800" b="1"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F2C0E5AA-C249-4B03-866B-4621E4BF785B}"/>
              </a:ext>
            </a:extLst>
          </p:cNvPr>
          <p:cNvSpPr txBox="1"/>
          <p:nvPr/>
        </p:nvSpPr>
        <p:spPr>
          <a:xfrm>
            <a:off x="139959" y="623576"/>
            <a:ext cx="11952513" cy="120032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Step one of the SK method is returning to basic chemistry. If one isolates just two atoms and align the camera exactly along their bond, the physics simplifies due to cylindrical symmetry. There is no messy cross-terms but only the head-to-head smashing, which is called a </a:t>
            </a:r>
            <a:r>
              <a:rPr lang="el-GR"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bond, or side-by-side parallel coupling, which is called a </a:t>
            </a:r>
            <a:r>
              <a:rPr lang="en-US"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 bond. One extract or fit these pure parameters (</a:t>
            </a:r>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pp</a:t>
            </a:r>
            <a:r>
              <a:rPr lang="el-GR" sz="1100"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V</a:t>
            </a:r>
            <a:r>
              <a:rPr lang="en-US" sz="1100" b="1" i="1" dirty="0" err="1">
                <a:latin typeface="Times New Roman" panose="02020603050405020304" pitchFamily="18" charset="0"/>
                <a:cs typeface="Times New Roman" panose="02020603050405020304" pitchFamily="18" charset="0"/>
              </a:rPr>
              <a:t>pp</a:t>
            </a:r>
            <a:r>
              <a:rPr lang="el-GR" sz="1100"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 as a function of distance. These are the fundamental building blocks.</a:t>
            </a:r>
            <a:endParaRPr lang="en-US" b="1" i="1" dirty="0">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1E280238-40EA-4E03-A931-53E5018AFC9D}"/>
              </a:ext>
            </a:extLst>
          </p:cNvPr>
          <p:cNvSpPr txBox="1"/>
          <p:nvPr/>
        </p:nvSpPr>
        <p:spPr>
          <a:xfrm>
            <a:off x="683779" y="2183938"/>
            <a:ext cx="5351539"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How to rotate them back into our real, tilted crystal?</a:t>
            </a:r>
            <a:endParaRPr lang="en-US"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BC60AB60-A0E7-46B1-B5AB-E2DEF8A7F00C}"/>
                  </a:ext>
                </a:extLst>
              </p:cNvPr>
              <p:cNvSpPr txBox="1"/>
              <p:nvPr/>
            </p:nvSpPr>
            <p:spPr>
              <a:xfrm>
                <a:off x="4635326" y="4373002"/>
                <a:ext cx="2371964" cy="491096"/>
              </a:xfrm>
              <a:prstGeom prst="rect">
                <a:avLst/>
              </a:prstGeom>
              <a:noFill/>
            </p:spPr>
            <p:txBody>
              <a:bodyPr wrap="square" rtlCol="0">
                <a:spAutoFit/>
              </a:bodyPr>
              <a:lstStyle/>
              <a:p>
                <a:pPr algn="just"/>
                <a14:m>
                  <m:oMath xmlns:m="http://schemas.openxmlformats.org/officeDocument/2006/math">
                    <m:r>
                      <a:rPr lang="en-US" b="1" i="1" smtClean="0">
                        <a:latin typeface="Cambria Math" panose="02040503050406030204" pitchFamily="18" charset="0"/>
                        <a:cs typeface="Times New Roman" panose="02020603050405020304" pitchFamily="18" charset="0"/>
                      </a:rPr>
                      <m:t>𝒍</m:t>
                    </m:r>
                    <m:r>
                      <a:rPr lang="en-US" b="1" i="1" smtClean="0">
                        <a:latin typeface="Cambria Math" panose="02040503050406030204" pitchFamily="18" charset="0"/>
                        <a:cs typeface="Times New Roman" panose="02020603050405020304" pitchFamily="18" charset="0"/>
                      </a:rPr>
                      <m:t>=</m:t>
                    </m:r>
                    <m:f>
                      <m:fPr>
                        <m:ctrlPr>
                          <a:rPr lang="en-US" b="1" i="1" smtClean="0">
                            <a:latin typeface="Cambria Math" panose="02040503050406030204" pitchFamily="18" charset="0"/>
                            <a:cs typeface="Times New Roman" panose="02020603050405020304" pitchFamily="18" charset="0"/>
                          </a:rPr>
                        </m:ctrlPr>
                      </m:fPr>
                      <m:num>
                        <m:r>
                          <a:rPr lang="en-US" b="1" i="1" smtClean="0">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𝒙</m:t>
                        </m:r>
                      </m:num>
                      <m:den>
                        <m:r>
                          <a:rPr lang="en-US" b="1" i="1" smtClean="0">
                            <a:latin typeface="Cambria Math" panose="02040503050406030204" pitchFamily="18" charset="0"/>
                            <a:cs typeface="Times New Roman" panose="02020603050405020304" pitchFamily="18" charset="0"/>
                          </a:rPr>
                          <m:t>𝑹</m:t>
                        </m:r>
                      </m:den>
                    </m:f>
                  </m:oMath>
                </a14:m>
                <a:r>
                  <a:rPr lang="en-US" b="1" dirty="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 </a:t>
                </a:r>
                <a14:m>
                  <m:oMath xmlns:m="http://schemas.openxmlformats.org/officeDocument/2006/math">
                    <m:r>
                      <a:rPr lang="en-US" b="1" i="1" smtClean="0">
                        <a:latin typeface="Cambria Math" panose="02040503050406030204" pitchFamily="18" charset="0"/>
                        <a:cs typeface="Times New Roman" panose="02020603050405020304" pitchFamily="18" charset="0"/>
                      </a:rPr>
                      <m:t>𝒎</m:t>
                    </m:r>
                    <m:r>
                      <a:rPr lang="en-US" b="1" i="1">
                        <a:latin typeface="Cambria Math" panose="02040503050406030204" pitchFamily="18" charset="0"/>
                        <a:cs typeface="Times New Roman" panose="02020603050405020304" pitchFamily="18" charset="0"/>
                      </a:rPr>
                      <m:t>=</m:t>
                    </m:r>
                    <m:f>
                      <m:fPr>
                        <m:ctrlPr>
                          <a:rPr lang="en-US" b="1" i="1">
                            <a:latin typeface="Cambria Math" panose="02040503050406030204" pitchFamily="18" charset="0"/>
                            <a:cs typeface="Times New Roman" panose="02020603050405020304" pitchFamily="18" charset="0"/>
                          </a:rPr>
                        </m:ctrlPr>
                      </m:fPr>
                      <m:num>
                        <m:r>
                          <a:rPr lang="en-US" b="1" i="1">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𝒚</m:t>
                        </m:r>
                      </m:num>
                      <m:den>
                        <m:r>
                          <a:rPr lang="en-US" b="1" i="1">
                            <a:latin typeface="Cambria Math" panose="02040503050406030204" pitchFamily="18" charset="0"/>
                            <a:cs typeface="Times New Roman" panose="02020603050405020304" pitchFamily="18" charset="0"/>
                          </a:rPr>
                          <m:t>𝑹</m:t>
                        </m:r>
                      </m:den>
                    </m:f>
                  </m:oMath>
                </a14:m>
                <a:r>
                  <a:rPr lang="en-US" b="1" dirty="0">
                    <a:cs typeface="Times New Roman" panose="02020603050405020304" pitchFamily="18" charset="0"/>
                  </a:rPr>
                  <a:t>; </a:t>
                </a:r>
                <a14:m>
                  <m:oMath xmlns:m="http://schemas.openxmlformats.org/officeDocument/2006/math">
                    <m:r>
                      <a:rPr lang="en-US" b="1" i="1" smtClean="0">
                        <a:latin typeface="Cambria Math" panose="02040503050406030204" pitchFamily="18" charset="0"/>
                        <a:cs typeface="Times New Roman" panose="02020603050405020304" pitchFamily="18" charset="0"/>
                      </a:rPr>
                      <m:t>𝒏</m:t>
                    </m:r>
                    <m:r>
                      <a:rPr lang="en-US" b="1" i="1">
                        <a:latin typeface="Cambria Math" panose="02040503050406030204" pitchFamily="18" charset="0"/>
                        <a:cs typeface="Times New Roman" panose="02020603050405020304" pitchFamily="18" charset="0"/>
                      </a:rPr>
                      <m:t>=</m:t>
                    </m:r>
                    <m:f>
                      <m:fPr>
                        <m:ctrlPr>
                          <a:rPr lang="en-US" b="1" i="1">
                            <a:latin typeface="Cambria Math" panose="02040503050406030204" pitchFamily="18" charset="0"/>
                            <a:cs typeface="Times New Roman" panose="02020603050405020304" pitchFamily="18" charset="0"/>
                          </a:rPr>
                        </m:ctrlPr>
                      </m:fPr>
                      <m:num>
                        <m:r>
                          <a:rPr lang="en-US" b="1" i="1">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𝒛</m:t>
                        </m:r>
                      </m:num>
                      <m:den>
                        <m:r>
                          <a:rPr lang="en-US" b="1" i="1">
                            <a:latin typeface="Cambria Math" panose="02040503050406030204" pitchFamily="18" charset="0"/>
                            <a:cs typeface="Times New Roman" panose="02020603050405020304" pitchFamily="18" charset="0"/>
                          </a:rPr>
                          <m:t>𝑹</m:t>
                        </m:r>
                      </m:den>
                    </m:f>
                  </m:oMath>
                </a14:m>
                <a:endParaRPr lang="en-US" b="1" i="1"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BC60AB60-A0E7-46B1-B5AB-E2DEF8A7F00C}"/>
                  </a:ext>
                </a:extLst>
              </p:cNvPr>
              <p:cNvSpPr txBox="1">
                <a:spLocks noRot="1" noChangeAspect="1" noMove="1" noResize="1" noEditPoints="1" noAdjustHandles="1" noChangeArrowheads="1" noChangeShapeType="1" noTextEdit="1"/>
              </p:cNvSpPr>
              <p:nvPr/>
            </p:nvSpPr>
            <p:spPr>
              <a:xfrm>
                <a:off x="4635326" y="4373002"/>
                <a:ext cx="2371964" cy="491096"/>
              </a:xfrm>
              <a:prstGeom prst="rect">
                <a:avLst/>
              </a:prstGeom>
              <a:blipFill>
                <a:blip r:embed="rId5"/>
                <a:stretch>
                  <a:fillRect b="-7407"/>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D179F32A-DC61-40D7-8D43-84CEB9BD73C9}"/>
              </a:ext>
            </a:extLst>
          </p:cNvPr>
          <p:cNvSpPr txBox="1"/>
          <p:nvPr/>
        </p:nvSpPr>
        <p:spPr>
          <a:xfrm>
            <a:off x="182378" y="5152269"/>
            <a:ext cx="11910093" cy="64633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The SK Lookup Formulas: A tilted hopping integral is a geometric blend of pure </a:t>
            </a:r>
            <a:r>
              <a:rPr lang="el-GR" sz="1800"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and </a:t>
            </a:r>
            <a:r>
              <a:rPr lang="el-GR" sz="1800"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 interactions, scaled by these direction cosines</a:t>
            </a:r>
            <a:endParaRPr lang="en-US" b="1" i="1" dirty="0">
              <a:latin typeface="Times New Roman" panose="02020603050405020304" pitchFamily="18" charset="0"/>
              <a:cs typeface="Times New Roman" panose="02020603050405020304" pitchFamily="18" charset="0"/>
            </a:endParaRPr>
          </a:p>
        </p:txBody>
      </p:sp>
      <p:sp>
        <p:nvSpPr>
          <p:cNvPr id="15" name="Arrow: Down 14">
            <a:extLst>
              <a:ext uri="{FF2B5EF4-FFF2-40B4-BE49-F238E27FC236}">
                <a16:creationId xmlns:a16="http://schemas.microsoft.com/office/drawing/2014/main" id="{D0193621-3D9A-40B3-B185-215E283554A4}"/>
              </a:ext>
            </a:extLst>
          </p:cNvPr>
          <p:cNvSpPr/>
          <p:nvPr/>
        </p:nvSpPr>
        <p:spPr>
          <a:xfrm>
            <a:off x="5921568" y="1874666"/>
            <a:ext cx="237067" cy="1062270"/>
          </a:xfrm>
          <a:prstGeom prst="downArrow">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051416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2" name="Slide Number Placeholder 1">
            <a:extLst>
              <a:ext uri="{FF2B5EF4-FFF2-40B4-BE49-F238E27FC236}">
                <a16:creationId xmlns:a16="http://schemas.microsoft.com/office/drawing/2014/main" id="{CF0AFBB4-5E3C-4FFA-9680-7421DF359DB0}"/>
              </a:ext>
            </a:extLst>
          </p:cNvPr>
          <p:cNvSpPr>
            <a:spLocks noGrp="1"/>
          </p:cNvSpPr>
          <p:nvPr>
            <p:ph type="sldNum" sz="quarter" idx="12"/>
          </p:nvPr>
        </p:nvSpPr>
        <p:spPr>
          <a:xfrm>
            <a:off x="11794067" y="6646520"/>
            <a:ext cx="401309" cy="219363"/>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14</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A1C7CD37-7772-4029-BF51-98DBAB0DB6EB}"/>
              </a:ext>
            </a:extLst>
          </p:cNvPr>
          <p:cNvSpPr txBox="1"/>
          <p:nvPr/>
        </p:nvSpPr>
        <p:spPr>
          <a:xfrm>
            <a:off x="1877601" y="100356"/>
            <a:ext cx="8466668"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III. </a:t>
            </a:r>
            <a:r>
              <a:rPr lang="en-US" sz="2800" b="1" dirty="0">
                <a:latin typeface="Times New Roman" panose="02020603050405020304" pitchFamily="18" charset="0"/>
                <a:cs typeface="Times New Roman" panose="02020603050405020304" pitchFamily="18" charset="0"/>
              </a:rPr>
              <a:t>Introduction to the Slater-</a:t>
            </a:r>
            <a:r>
              <a:rPr lang="en-US" sz="2800" b="1" dirty="0" err="1">
                <a:latin typeface="Times New Roman" panose="02020603050405020304" pitchFamily="18" charset="0"/>
                <a:cs typeface="Times New Roman" panose="02020603050405020304" pitchFamily="18" charset="0"/>
              </a:rPr>
              <a:t>Koster</a:t>
            </a:r>
            <a:r>
              <a:rPr lang="en-US" sz="2800" b="1" dirty="0">
                <a:latin typeface="Times New Roman" panose="02020603050405020304" pitchFamily="18" charset="0"/>
                <a:cs typeface="Times New Roman" panose="02020603050405020304" pitchFamily="18" charset="0"/>
              </a:rPr>
              <a:t> (SK) Framework</a:t>
            </a:r>
            <a:endParaRPr lang="en-US" sz="2800" b="1" dirty="0">
              <a:effectLst/>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6D23D4D-C567-489B-BE38-3FBA32EAB382}"/>
              </a:ext>
            </a:extLst>
          </p:cNvPr>
          <p:cNvSpPr txBox="1"/>
          <p:nvPr/>
        </p:nvSpPr>
        <p:spPr>
          <a:xfrm>
            <a:off x="566435" y="841526"/>
            <a:ext cx="3548365"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Example: </a:t>
            </a:r>
            <a:r>
              <a:rPr lang="en-US" b="1" i="1" dirty="0">
                <a:latin typeface="Times New Roman" panose="02020603050405020304" pitchFamily="18" charset="0"/>
                <a:cs typeface="Times New Roman" panose="02020603050405020304" pitchFamily="18" charset="0"/>
              </a:rPr>
              <a:t>p</a:t>
            </a:r>
            <a:r>
              <a:rPr lang="en-US" sz="1100"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a:t>
            </a:r>
            <a:r>
              <a:rPr lang="en-US" b="1" i="1" dirty="0">
                <a:latin typeface="Times New Roman" panose="02020603050405020304" pitchFamily="18" charset="0"/>
                <a:cs typeface="Times New Roman" panose="02020603050405020304" pitchFamily="18" charset="0"/>
              </a:rPr>
              <a:t>p</a:t>
            </a:r>
            <a:r>
              <a:rPr lang="en-US" sz="1100"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Interaction (</a:t>
            </a:r>
            <a:r>
              <a:rPr lang="en-US" b="1" i="1" dirty="0" err="1">
                <a:latin typeface="Times New Roman" panose="02020603050405020304" pitchFamily="18" charset="0"/>
                <a:cs typeface="Times New Roman" panose="02020603050405020304" pitchFamily="18" charset="0"/>
              </a:rPr>
              <a:t>E</a:t>
            </a:r>
            <a:r>
              <a:rPr lang="en-US" sz="1100" b="1" i="1" dirty="0" err="1">
                <a:latin typeface="Times New Roman" panose="02020603050405020304" pitchFamily="18" charset="0"/>
                <a:cs typeface="Times New Roman" panose="02020603050405020304" pitchFamily="18" charset="0"/>
              </a:rPr>
              <a:t>x</a:t>
            </a:r>
            <a:r>
              <a:rPr lang="en-US" sz="1100" b="1" dirty="0" err="1">
                <a:latin typeface="Times New Roman" panose="02020603050405020304" pitchFamily="18" charset="0"/>
                <a:cs typeface="Times New Roman" panose="02020603050405020304" pitchFamily="18" charset="0"/>
              </a:rPr>
              <a:t>,</a:t>
            </a:r>
            <a:r>
              <a:rPr lang="en-US" sz="1100" b="1" i="1" dirty="0" err="1">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a:t>
            </a:r>
            <a:endParaRPr lang="en-US" b="1" i="1" dirty="0">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0E099335-7D9D-411A-8BA6-4EFA862CF618}"/>
                  </a:ext>
                </a:extLst>
              </p:cNvPr>
              <p:cNvSpPr txBox="1"/>
              <p:nvPr/>
            </p:nvSpPr>
            <p:spPr>
              <a:xfrm>
                <a:off x="4114800" y="841526"/>
                <a:ext cx="4403671" cy="413959"/>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𝑬</m:t>
                          </m:r>
                        </m:e>
                        <m:sub>
                          <m:r>
                            <a:rPr lang="en-US" b="1" i="1" smtClean="0">
                              <a:latin typeface="Cambria Math" panose="02040503050406030204" pitchFamily="18" charset="0"/>
                              <a:cs typeface="Times New Roman" panose="02020603050405020304" pitchFamily="18" charset="0"/>
                            </a:rPr>
                            <m:t>𝒙</m:t>
                          </m:r>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cs typeface="Times New Roman" panose="02020603050405020304" pitchFamily="18" charset="0"/>
                            </a:rPr>
                            <m:t>𝒙</m:t>
                          </m:r>
                        </m:sub>
                      </m:sSub>
                      <m:r>
                        <a:rPr lang="en-US" b="1" i="1" smtClean="0">
                          <a:latin typeface="Cambria Math" panose="02040503050406030204" pitchFamily="18" charset="0"/>
                          <a:cs typeface="Times New Roman" panose="02020603050405020304" pitchFamily="18" charset="0"/>
                        </a:rPr>
                        <m:t>=</m:t>
                      </m:r>
                      <m:d>
                        <m:dPr>
                          <m:begChr m:val="⟨"/>
                          <m:endChr m:val="⟩"/>
                          <m:ctrlPr>
                            <a:rPr lang="en-US" b="1" i="1" smtClean="0">
                              <a:latin typeface="Cambria Math" panose="02040503050406030204" pitchFamily="18" charset="0"/>
                              <a:cs typeface="Times New Roman" panose="02020603050405020304" pitchFamily="18" charset="0"/>
                            </a:rPr>
                          </m:ctrlPr>
                        </m:dPr>
                        <m:e>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𝒑</m:t>
                              </m:r>
                            </m:e>
                            <m:sub>
                              <m:r>
                                <a:rPr lang="en-US" b="1" i="1" smtClean="0">
                                  <a:latin typeface="Cambria Math" panose="02040503050406030204" pitchFamily="18" charset="0"/>
                                  <a:cs typeface="Times New Roman" panose="02020603050405020304" pitchFamily="18" charset="0"/>
                                </a:rPr>
                                <m:t>𝒙</m:t>
                              </m:r>
                            </m:sub>
                          </m:sSub>
                        </m:e>
                        <m:e>
                          <m:r>
                            <a:rPr lang="en-US" b="1" i="1" smtClean="0">
                              <a:latin typeface="Cambria Math" panose="02040503050406030204" pitchFamily="18" charset="0"/>
                              <a:cs typeface="Times New Roman" panose="02020603050405020304" pitchFamily="18" charset="0"/>
                            </a:rPr>
                            <m:t>𝑯</m:t>
                          </m:r>
                        </m:e>
                        <m:e>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𝒑</m:t>
                              </m:r>
                            </m:e>
                            <m:sub>
                              <m:r>
                                <a:rPr lang="en-US" b="1" i="1">
                                  <a:latin typeface="Cambria Math" panose="02040503050406030204" pitchFamily="18" charset="0"/>
                                  <a:cs typeface="Times New Roman" panose="02020603050405020304" pitchFamily="18" charset="0"/>
                                </a:rPr>
                                <m:t>𝒙</m:t>
                              </m:r>
                            </m:sub>
                          </m:sSub>
                        </m:e>
                      </m:d>
                      <m:r>
                        <a:rPr lang="en-US" b="1" i="1" smtClean="0">
                          <a:latin typeface="Cambria Math" panose="02040503050406030204" pitchFamily="18" charset="0"/>
                          <a:cs typeface="Times New Roman" panose="02020603050405020304" pitchFamily="18" charset="0"/>
                        </a:rPr>
                        <m:t>=</m:t>
                      </m:r>
                      <m:sSup>
                        <m:sSupPr>
                          <m:ctrlPr>
                            <a:rPr lang="en-US" b="1" i="1" smtClean="0">
                              <a:latin typeface="Cambria Math" panose="02040503050406030204" pitchFamily="18" charset="0"/>
                              <a:cs typeface="Times New Roman" panose="02020603050405020304" pitchFamily="18" charset="0"/>
                            </a:rPr>
                          </m:ctrlPr>
                        </m:sSupPr>
                        <m:e>
                          <m:r>
                            <a:rPr lang="en-US" b="1" i="1" smtClean="0">
                              <a:latin typeface="Cambria Math" panose="02040503050406030204" pitchFamily="18" charset="0"/>
                              <a:cs typeface="Times New Roman" panose="02020603050405020304" pitchFamily="18" charset="0"/>
                            </a:rPr>
                            <m:t>𝒍</m:t>
                          </m:r>
                        </m:e>
                        <m:sup>
                          <m:r>
                            <a:rPr lang="en-US" b="1" i="1" smtClean="0">
                              <a:latin typeface="Cambria Math" panose="02040503050406030204" pitchFamily="18" charset="0"/>
                              <a:cs typeface="Times New Roman" panose="02020603050405020304" pitchFamily="18" charset="0"/>
                            </a:rPr>
                            <m:t>𝟐</m:t>
                          </m:r>
                        </m:sup>
                      </m:sSup>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𝑽</m:t>
                          </m:r>
                        </m:e>
                        <m:sub>
                          <m:r>
                            <a:rPr lang="en-US" b="1" i="1" smtClean="0">
                              <a:latin typeface="Cambria Math" panose="02040503050406030204" pitchFamily="18" charset="0"/>
                              <a:cs typeface="Times New Roman" panose="02020603050405020304" pitchFamily="18" charset="0"/>
                            </a:rPr>
                            <m:t>𝒑𝒑</m:t>
                          </m:r>
                          <m:r>
                            <a:rPr lang="en-US" b="1" i="1" smtClean="0">
                              <a:latin typeface="Cambria Math" panose="02040503050406030204" pitchFamily="18" charset="0"/>
                              <a:ea typeface="Cambria Math" panose="02040503050406030204" pitchFamily="18" charset="0"/>
                              <a:cs typeface="Times New Roman" panose="02020603050405020304" pitchFamily="18" charset="0"/>
                            </a:rPr>
                            <m:t>𝝈</m:t>
                          </m:r>
                        </m:sub>
                      </m:sSub>
                      <m:r>
                        <a:rPr lang="en-US" b="1" i="1" smtClean="0">
                          <a:latin typeface="Cambria Math" panose="02040503050406030204" pitchFamily="18" charset="0"/>
                          <a:cs typeface="Times New Roman" panose="02020603050405020304" pitchFamily="18" charset="0"/>
                        </a:rPr>
                        <m:t>+</m:t>
                      </m:r>
                      <m:d>
                        <m:dPr>
                          <m:ctrlPr>
                            <a:rPr lang="en-US" b="1" i="1" smtClean="0">
                              <a:latin typeface="Cambria Math" panose="02040503050406030204" pitchFamily="18" charset="0"/>
                              <a:cs typeface="Times New Roman" panose="02020603050405020304" pitchFamily="18" charset="0"/>
                            </a:rPr>
                          </m:ctrlPr>
                        </m:dPr>
                        <m:e>
                          <m:r>
                            <a:rPr lang="en-US" b="1" i="1" smtClean="0">
                              <a:latin typeface="Cambria Math" panose="02040503050406030204" pitchFamily="18" charset="0"/>
                              <a:cs typeface="Times New Roman" panose="02020603050405020304" pitchFamily="18" charset="0"/>
                            </a:rPr>
                            <m:t>𝟏</m:t>
                          </m:r>
                          <m:r>
                            <a:rPr lang="en-US" b="1" i="1" smtClean="0">
                              <a:latin typeface="Cambria Math" panose="02040503050406030204" pitchFamily="18" charset="0"/>
                              <a:cs typeface="Times New Roman" panose="02020603050405020304" pitchFamily="18" charset="0"/>
                            </a:rPr>
                            <m:t>−</m:t>
                          </m:r>
                          <m:sSup>
                            <m:sSupPr>
                              <m:ctrlPr>
                                <a:rPr lang="en-US" b="1" i="1">
                                  <a:latin typeface="Cambria Math" panose="02040503050406030204" pitchFamily="18" charset="0"/>
                                  <a:cs typeface="Times New Roman" panose="02020603050405020304" pitchFamily="18" charset="0"/>
                                </a:rPr>
                              </m:ctrlPr>
                            </m:sSupPr>
                            <m:e>
                              <m:r>
                                <a:rPr lang="en-US" b="1" i="1">
                                  <a:latin typeface="Cambria Math" panose="02040503050406030204" pitchFamily="18" charset="0"/>
                                  <a:cs typeface="Times New Roman" panose="02020603050405020304" pitchFamily="18" charset="0"/>
                                </a:rPr>
                                <m:t>𝒍</m:t>
                              </m:r>
                            </m:e>
                            <m:sup>
                              <m:r>
                                <a:rPr lang="en-US" b="1" i="1">
                                  <a:latin typeface="Cambria Math" panose="02040503050406030204" pitchFamily="18" charset="0"/>
                                  <a:cs typeface="Times New Roman" panose="02020603050405020304" pitchFamily="18" charset="0"/>
                                </a:rPr>
                                <m:t>𝟐</m:t>
                              </m:r>
                            </m:sup>
                          </m:sSup>
                        </m:e>
                      </m:d>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𝑽</m:t>
                          </m:r>
                        </m:e>
                        <m:sub>
                          <m:r>
                            <a:rPr lang="en-US" b="1" i="1">
                              <a:latin typeface="Cambria Math" panose="02040503050406030204" pitchFamily="18" charset="0"/>
                              <a:cs typeface="Times New Roman" panose="02020603050405020304" pitchFamily="18" charset="0"/>
                            </a:rPr>
                            <m:t>𝒑𝒑</m:t>
                          </m:r>
                          <m:r>
                            <a:rPr lang="en-US" b="1" i="1" smtClean="0">
                              <a:latin typeface="Cambria Math" panose="02040503050406030204" pitchFamily="18" charset="0"/>
                              <a:ea typeface="Cambria Math" panose="02040503050406030204" pitchFamily="18" charset="0"/>
                              <a:cs typeface="Times New Roman" panose="02020603050405020304" pitchFamily="18" charset="0"/>
                            </a:rPr>
                            <m:t>𝝅</m:t>
                          </m:r>
                        </m:sub>
                      </m:sSub>
                    </m:oMath>
                  </m:oMathPara>
                </a14:m>
                <a:endParaRPr lang="en-US" b="1" i="1" dirty="0">
                  <a:latin typeface="Times New Roman" panose="02020603050405020304" pitchFamily="18" charset="0"/>
                  <a:cs typeface="Times New Roman" panose="02020603050405020304" pitchFamily="18" charset="0"/>
                </a:endParaRPr>
              </a:p>
            </p:txBody>
          </p:sp>
        </mc:Choice>
        <mc:Fallback xmlns="">
          <p:sp>
            <p:nvSpPr>
              <p:cNvPr id="11" name="TextBox 10">
                <a:extLst>
                  <a:ext uri="{FF2B5EF4-FFF2-40B4-BE49-F238E27FC236}">
                    <a16:creationId xmlns:a16="http://schemas.microsoft.com/office/drawing/2014/main" id="{0E099335-7D9D-411A-8BA6-4EFA862CF618}"/>
                  </a:ext>
                </a:extLst>
              </p:cNvPr>
              <p:cNvSpPr txBox="1">
                <a:spLocks noRot="1" noChangeAspect="1" noMove="1" noResize="1" noEditPoints="1" noAdjustHandles="1" noChangeArrowheads="1" noChangeShapeType="1" noTextEdit="1"/>
              </p:cNvSpPr>
              <p:nvPr/>
            </p:nvSpPr>
            <p:spPr>
              <a:xfrm>
                <a:off x="4114800" y="841526"/>
                <a:ext cx="4403671" cy="413959"/>
              </a:xfrm>
              <a:prstGeom prst="rect">
                <a:avLst/>
              </a:prstGeom>
              <a:blipFill>
                <a:blip r:embed="rId5"/>
                <a:stretch>
                  <a:fillRect b="-441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AC2050B0-C304-4F83-8A3C-5B3FB27CFCEF}"/>
                  </a:ext>
                </a:extLst>
              </p:cNvPr>
              <p:cNvSpPr txBox="1"/>
              <p:nvPr/>
            </p:nvSpPr>
            <p:spPr>
              <a:xfrm>
                <a:off x="4102467" y="1446459"/>
                <a:ext cx="6241802" cy="394210"/>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If atoms align perfectly along global </a:t>
                </a:r>
                <a:r>
                  <a:rPr lang="en-US"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axis (</a:t>
                </a:r>
                <a:r>
                  <a:rPr lang="en-US"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 1):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𝑬</m:t>
                        </m:r>
                      </m:e>
                      <m:sub>
                        <m:r>
                          <a:rPr lang="en-US" b="1" i="1" smtClean="0">
                            <a:latin typeface="Cambria Math" panose="02040503050406030204" pitchFamily="18" charset="0"/>
                            <a:cs typeface="Times New Roman" panose="02020603050405020304" pitchFamily="18" charset="0"/>
                          </a:rPr>
                          <m:t>𝒙</m:t>
                        </m:r>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cs typeface="Times New Roman" panose="02020603050405020304" pitchFamily="18" charset="0"/>
                          </a:rPr>
                          <m:t>𝒙</m:t>
                        </m:r>
                      </m:sub>
                    </m:sSub>
                    <m:r>
                      <a:rPr lang="en-US" b="1" i="1" smtClean="0">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𝑽</m:t>
                        </m:r>
                      </m:e>
                      <m:sub>
                        <m:r>
                          <a:rPr lang="en-US" b="1" i="1">
                            <a:latin typeface="Cambria Math" panose="02040503050406030204" pitchFamily="18" charset="0"/>
                            <a:cs typeface="Times New Roman" panose="02020603050405020304" pitchFamily="18" charset="0"/>
                          </a:rPr>
                          <m:t>𝒑𝒑</m:t>
                        </m:r>
                        <m:r>
                          <a:rPr lang="en-US" b="1" i="1">
                            <a:latin typeface="Cambria Math" panose="02040503050406030204" pitchFamily="18" charset="0"/>
                            <a:ea typeface="Cambria Math" panose="02040503050406030204" pitchFamily="18" charset="0"/>
                            <a:cs typeface="Times New Roman" panose="02020603050405020304" pitchFamily="18" charset="0"/>
                          </a:rPr>
                          <m:t>𝝈</m:t>
                        </m:r>
                      </m:sub>
                    </m:sSub>
                  </m:oMath>
                </a14:m>
                <a:endParaRPr lang="en-US" b="1" i="1" dirty="0">
                  <a:latin typeface="Times New Roman" panose="02020603050405020304" pitchFamily="18" charset="0"/>
                  <a:cs typeface="Times New Roman" panose="02020603050405020304" pitchFamily="18" charset="0"/>
                </a:endParaRPr>
              </a:p>
            </p:txBody>
          </p:sp>
        </mc:Choice>
        <mc:Fallback xmlns="">
          <p:sp>
            <p:nvSpPr>
              <p:cNvPr id="12" name="TextBox 11">
                <a:extLst>
                  <a:ext uri="{FF2B5EF4-FFF2-40B4-BE49-F238E27FC236}">
                    <a16:creationId xmlns:a16="http://schemas.microsoft.com/office/drawing/2014/main" id="{AC2050B0-C304-4F83-8A3C-5B3FB27CFCEF}"/>
                  </a:ext>
                </a:extLst>
              </p:cNvPr>
              <p:cNvSpPr txBox="1">
                <a:spLocks noRot="1" noChangeAspect="1" noMove="1" noResize="1" noEditPoints="1" noAdjustHandles="1" noChangeArrowheads="1" noChangeShapeType="1" noTextEdit="1"/>
              </p:cNvSpPr>
              <p:nvPr/>
            </p:nvSpPr>
            <p:spPr>
              <a:xfrm>
                <a:off x="4102467" y="1446459"/>
                <a:ext cx="6241802" cy="394210"/>
              </a:xfrm>
              <a:prstGeom prst="rect">
                <a:avLst/>
              </a:prstGeom>
              <a:blipFill>
                <a:blip r:embed="rId6"/>
                <a:stretch>
                  <a:fillRect l="-879" t="-7692"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27D5B0B-586D-4DF1-9424-63C6BB564356}"/>
                  </a:ext>
                </a:extLst>
              </p:cNvPr>
              <p:cNvSpPr txBox="1"/>
              <p:nvPr/>
            </p:nvSpPr>
            <p:spPr>
              <a:xfrm>
                <a:off x="4109601" y="2029213"/>
                <a:ext cx="6241802" cy="394210"/>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If atoms align perfectly along global </a:t>
                </a:r>
                <a:r>
                  <a:rPr lang="en-US" b="1" i="1" dirty="0">
                    <a:latin typeface="Times New Roman" panose="02020603050405020304" pitchFamily="18" charset="0"/>
                    <a:cs typeface="Times New Roman" panose="02020603050405020304" pitchFamily="18" charset="0"/>
                  </a:rPr>
                  <a:t>y</a:t>
                </a:r>
                <a:r>
                  <a:rPr lang="en-US" b="1" dirty="0">
                    <a:latin typeface="Times New Roman" panose="02020603050405020304" pitchFamily="18" charset="0"/>
                    <a:cs typeface="Times New Roman" panose="02020603050405020304" pitchFamily="18" charset="0"/>
                  </a:rPr>
                  <a:t> axis (</a:t>
                </a:r>
                <a:r>
                  <a:rPr lang="en-US"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 0):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𝑬</m:t>
                        </m:r>
                      </m:e>
                      <m:sub>
                        <m:r>
                          <a:rPr lang="en-US" b="1" i="1" smtClean="0">
                            <a:latin typeface="Cambria Math" panose="02040503050406030204" pitchFamily="18" charset="0"/>
                            <a:cs typeface="Times New Roman" panose="02020603050405020304" pitchFamily="18" charset="0"/>
                          </a:rPr>
                          <m:t>𝒙</m:t>
                        </m:r>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cs typeface="Times New Roman" panose="02020603050405020304" pitchFamily="18" charset="0"/>
                          </a:rPr>
                          <m:t>𝒙</m:t>
                        </m:r>
                      </m:sub>
                    </m:sSub>
                    <m:r>
                      <a:rPr lang="en-US" b="1" i="1" smtClean="0">
                        <a:latin typeface="Cambria Math" panose="02040503050406030204" pitchFamily="18" charset="0"/>
                        <a:cs typeface="Times New Roman" panose="02020603050405020304" pitchFamily="18" charset="0"/>
                      </a:rPr>
                      <m:t>=</m:t>
                    </m:r>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𝑽</m:t>
                        </m:r>
                      </m:e>
                      <m:sub>
                        <m:r>
                          <a:rPr lang="en-US" b="1" i="1">
                            <a:latin typeface="Cambria Math" panose="02040503050406030204" pitchFamily="18" charset="0"/>
                            <a:cs typeface="Times New Roman" panose="02020603050405020304" pitchFamily="18" charset="0"/>
                          </a:rPr>
                          <m:t>𝒑𝒑</m:t>
                        </m:r>
                        <m:r>
                          <a:rPr lang="en-US" b="1" i="1" smtClean="0">
                            <a:latin typeface="Cambria Math" panose="02040503050406030204" pitchFamily="18" charset="0"/>
                            <a:ea typeface="Cambria Math" panose="02040503050406030204" pitchFamily="18" charset="0"/>
                            <a:cs typeface="Times New Roman" panose="02020603050405020304" pitchFamily="18" charset="0"/>
                          </a:rPr>
                          <m:t>𝝅</m:t>
                        </m:r>
                      </m:sub>
                    </m:sSub>
                  </m:oMath>
                </a14:m>
                <a:endParaRPr lang="en-US" b="1" i="1"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027D5B0B-586D-4DF1-9424-63C6BB564356}"/>
                  </a:ext>
                </a:extLst>
              </p:cNvPr>
              <p:cNvSpPr txBox="1">
                <a:spLocks noRot="1" noChangeAspect="1" noMove="1" noResize="1" noEditPoints="1" noAdjustHandles="1" noChangeArrowheads="1" noChangeShapeType="1" noTextEdit="1"/>
              </p:cNvSpPr>
              <p:nvPr/>
            </p:nvSpPr>
            <p:spPr>
              <a:xfrm>
                <a:off x="4109601" y="2029213"/>
                <a:ext cx="6241802" cy="394210"/>
              </a:xfrm>
              <a:prstGeom prst="rect">
                <a:avLst/>
              </a:prstGeom>
              <a:blipFill>
                <a:blip r:embed="rId7"/>
                <a:stretch>
                  <a:fillRect l="-781" t="-9231" b="-1692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654D629C-2B13-41F0-8318-706CA1749D2A}"/>
                  </a:ext>
                </a:extLst>
              </p:cNvPr>
              <p:cNvSpPr txBox="1"/>
              <p:nvPr/>
            </p:nvSpPr>
            <p:spPr>
              <a:xfrm>
                <a:off x="134678" y="2860242"/>
                <a:ext cx="11952513" cy="2918299"/>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Step two is pure vector projection. Take the </a:t>
                </a:r>
                <a:r>
                  <a:rPr lang="en-US" b="1" i="1" dirty="0" err="1">
                    <a:latin typeface="Times New Roman" panose="02020603050405020304" pitchFamily="18" charset="0"/>
                    <a:cs typeface="Times New Roman" panose="02020603050405020304" pitchFamily="18" charset="0"/>
                  </a:rPr>
                  <a:t>E</a:t>
                </a:r>
                <a:r>
                  <a:rPr lang="en-US" sz="1100" b="1" i="1" dirty="0" err="1">
                    <a:latin typeface="Times New Roman" panose="02020603050405020304" pitchFamily="18" charset="0"/>
                    <a:cs typeface="Times New Roman" panose="02020603050405020304" pitchFamily="18" charset="0"/>
                  </a:rPr>
                  <a:t>x</a:t>
                </a:r>
                <a:r>
                  <a:rPr lang="en-US" sz="1100" b="1" dirty="0" err="1">
                    <a:latin typeface="Times New Roman" panose="02020603050405020304" pitchFamily="18" charset="0"/>
                    <a:cs typeface="Times New Roman" panose="02020603050405020304" pitchFamily="18" charset="0"/>
                  </a:rPr>
                  <a:t>,</a:t>
                </a:r>
                <a:r>
                  <a:rPr lang="en-US" sz="1100" b="1" i="1" dirty="0" err="1">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matrix element as a perfect example.</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If two carbon atoms are sitting horizontally along the global </a:t>
                </a:r>
                <a:r>
                  <a:rPr lang="en-US"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axis, their </a:t>
                </a:r>
                <a:r>
                  <a:rPr lang="en-US" b="1" i="1" dirty="0">
                    <a:latin typeface="Times New Roman" panose="02020603050405020304" pitchFamily="18" charset="0"/>
                    <a:cs typeface="Times New Roman" panose="02020603050405020304" pitchFamily="18" charset="0"/>
                  </a:rPr>
                  <a:t>p</a:t>
                </a:r>
                <a:r>
                  <a:rPr lang="en-US" sz="1100" b="1" i="1" dirty="0">
                    <a:latin typeface="Times New Roman" panose="02020603050405020304" pitchFamily="18" charset="0"/>
                    <a:cs typeface="Times New Roman" panose="02020603050405020304" pitchFamily="18" charset="0"/>
                  </a:rPr>
                  <a:t>x</a:t>
                </a:r>
                <a:r>
                  <a:rPr lang="en-US" b="1" dirty="0">
                    <a:latin typeface="Times New Roman" panose="02020603050405020304" pitchFamily="18" charset="0"/>
                    <a:cs typeface="Times New Roman" panose="02020603050405020304" pitchFamily="18" charset="0"/>
                  </a:rPr>
                  <a:t> orbitals face each other head-on. The direction cosine </a:t>
                </a:r>
                <a:r>
                  <a:rPr lang="en-US"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is 1. Plug </a:t>
                </a:r>
                <a:r>
                  <a:rPr lang="en-US"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 1 into the formula, the </a:t>
                </a:r>
                <a:r>
                  <a:rPr lang="el-GR"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 term vanishes and one gets pure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𝑽</m:t>
                        </m:r>
                      </m:e>
                      <m:sub>
                        <m:r>
                          <a:rPr lang="en-US" b="1" i="1">
                            <a:latin typeface="Cambria Math" panose="02040503050406030204" pitchFamily="18" charset="0"/>
                            <a:cs typeface="Times New Roman" panose="02020603050405020304" pitchFamily="18" charset="0"/>
                          </a:rPr>
                          <m:t>𝒑𝒑</m:t>
                        </m:r>
                        <m:r>
                          <a:rPr lang="en-US" b="1" i="1">
                            <a:latin typeface="Cambria Math" panose="02040503050406030204" pitchFamily="18" charset="0"/>
                            <a:ea typeface="Cambria Math" panose="02040503050406030204" pitchFamily="18" charset="0"/>
                            <a:cs typeface="Times New Roman" panose="02020603050405020304" pitchFamily="18" charset="0"/>
                          </a:rPr>
                          <m:t>𝝈</m:t>
                        </m:r>
                      </m:sub>
                    </m:sSub>
                  </m:oMath>
                </a14:m>
                <a:r>
                  <a:rPr lang="en-US" b="1" dirty="0">
                    <a:latin typeface="Times New Roman" panose="02020603050405020304" pitchFamily="18" charset="0"/>
                    <a:cs typeface="Times New Roman" panose="02020603050405020304" pitchFamily="18" charset="0"/>
                  </a:rPr>
                  <a:t>.</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If they are stacked vertically along the </a:t>
                </a:r>
                <a:r>
                  <a:rPr lang="en-US" b="1" i="1" dirty="0">
                    <a:latin typeface="Times New Roman" panose="02020603050405020304" pitchFamily="18" charset="0"/>
                    <a:cs typeface="Times New Roman" panose="02020603050405020304" pitchFamily="18" charset="0"/>
                  </a:rPr>
                  <a:t>y</a:t>
                </a:r>
                <a:r>
                  <a:rPr lang="en-US" b="1" dirty="0">
                    <a:latin typeface="Times New Roman" panose="02020603050405020304" pitchFamily="18" charset="0"/>
                    <a:cs typeface="Times New Roman" panose="02020603050405020304" pitchFamily="18" charset="0"/>
                  </a:rPr>
                  <a:t> axis, </a:t>
                </a:r>
                <a:r>
                  <a:rPr lang="en-US" b="1" i="1" dirty="0">
                    <a:latin typeface="Times New Roman" panose="02020603050405020304" pitchFamily="18" charset="0"/>
                    <a:cs typeface="Times New Roman" panose="02020603050405020304" pitchFamily="18" charset="0"/>
                  </a:rPr>
                  <a:t>l</a:t>
                </a:r>
                <a:r>
                  <a:rPr lang="en-US" b="1" dirty="0">
                    <a:latin typeface="Times New Roman" panose="02020603050405020304" pitchFamily="18" charset="0"/>
                    <a:cs typeface="Times New Roman" panose="02020603050405020304" pitchFamily="18" charset="0"/>
                  </a:rPr>
                  <a:t> becomes 0. The formula drops the </a:t>
                </a:r>
                <a:r>
                  <a:rPr lang="el-GR"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component and gives you pure parallel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𝑽</m:t>
                        </m:r>
                      </m:e>
                      <m:sub>
                        <m:r>
                          <a:rPr lang="en-US" b="1" i="1">
                            <a:latin typeface="Cambria Math" panose="02040503050406030204" pitchFamily="18" charset="0"/>
                            <a:cs typeface="Times New Roman" panose="02020603050405020304" pitchFamily="18" charset="0"/>
                          </a:rPr>
                          <m:t>𝒑𝒑</m:t>
                        </m:r>
                        <m:r>
                          <a:rPr lang="en-US" b="1" i="1" smtClean="0">
                            <a:latin typeface="Cambria Math" panose="02040503050406030204" pitchFamily="18" charset="0"/>
                            <a:ea typeface="Cambria Math" panose="02040503050406030204" pitchFamily="18" charset="0"/>
                            <a:cs typeface="Times New Roman" panose="02020603050405020304" pitchFamily="18" charset="0"/>
                          </a:rPr>
                          <m:t>𝝅</m:t>
                        </m:r>
                      </m:sub>
                    </m:sSub>
                  </m:oMath>
                </a14:m>
                <a:r>
                  <a:rPr lang="en-US" b="1" dirty="0">
                    <a:latin typeface="Times New Roman" panose="02020603050405020304" pitchFamily="18" charset="0"/>
                    <a:cs typeface="Times New Roman" panose="02020603050405020304" pitchFamily="18" charset="0"/>
                  </a:rPr>
                  <a:t>.</a:t>
                </a:r>
              </a:p>
              <a:p>
                <a:pPr algn="just"/>
                <a:endParaRPr lang="en-US" b="1"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What if they are tilted at a 45° angle? Then, </a:t>
                </a:r>
                <a14:m>
                  <m:oMath xmlns:m="http://schemas.openxmlformats.org/officeDocument/2006/math">
                    <m:sSup>
                      <m:sSupPr>
                        <m:ctrlPr>
                          <a:rPr lang="en-US" b="1" i="1" smtClean="0">
                            <a:latin typeface="Cambria Math" panose="02040503050406030204" pitchFamily="18" charset="0"/>
                            <a:cs typeface="Times New Roman" panose="02020603050405020304" pitchFamily="18" charset="0"/>
                          </a:rPr>
                        </m:ctrlPr>
                      </m:sSupPr>
                      <m:e>
                        <m:r>
                          <a:rPr lang="en-US" b="1" i="1">
                            <a:latin typeface="Cambria Math" panose="02040503050406030204" pitchFamily="18" charset="0"/>
                            <a:cs typeface="Times New Roman" panose="02020603050405020304" pitchFamily="18" charset="0"/>
                          </a:rPr>
                          <m:t>𝒍</m:t>
                        </m:r>
                      </m:e>
                      <m:sup>
                        <m:r>
                          <a:rPr lang="en-US" b="1" i="1">
                            <a:latin typeface="Cambria Math" panose="02040503050406030204" pitchFamily="18" charset="0"/>
                            <a:cs typeface="Times New Roman" panose="02020603050405020304" pitchFamily="18" charset="0"/>
                          </a:rPr>
                          <m:t>𝟐</m:t>
                        </m:r>
                      </m:sup>
                    </m:sSup>
                  </m:oMath>
                </a14:m>
                <a:r>
                  <a:rPr lang="en-US" b="1" dirty="0">
                    <a:latin typeface="Times New Roman" panose="02020603050405020304" pitchFamily="18" charset="0"/>
                    <a:cs typeface="Times New Roman" panose="02020603050405020304" pitchFamily="18" charset="0"/>
                  </a:rPr>
                  <a:t> = 0.5. The hopping energy is an exact 50-50 geometric mixture of both </a:t>
                </a:r>
                <a:r>
                  <a:rPr lang="el-GR" b="1" i="1" dirty="0">
                    <a:latin typeface="Times New Roman" panose="02020603050405020304" pitchFamily="18" charset="0"/>
                    <a:cs typeface="Times New Roman" panose="02020603050405020304" pitchFamily="18" charset="0"/>
                  </a:rPr>
                  <a:t>σ</a:t>
                </a:r>
                <a:r>
                  <a:rPr lang="en-US" b="1" dirty="0">
                    <a:latin typeface="Times New Roman" panose="02020603050405020304" pitchFamily="18" charset="0"/>
                    <a:cs typeface="Times New Roman" panose="02020603050405020304" pitchFamily="18" charset="0"/>
                  </a:rPr>
                  <a:t> and </a:t>
                </a:r>
                <a:r>
                  <a:rPr lang="el-GR" b="1" i="1" dirty="0">
                    <a:latin typeface="Times New Roman" panose="02020603050405020304" pitchFamily="18" charset="0"/>
                    <a:cs typeface="Times New Roman" panose="02020603050405020304" pitchFamily="18" charset="0"/>
                  </a:rPr>
                  <a:t>π</a:t>
                </a:r>
                <a:r>
                  <a:rPr lang="en-US" b="1" dirty="0">
                    <a:latin typeface="Times New Roman" panose="02020603050405020304" pitchFamily="18" charset="0"/>
                    <a:cs typeface="Times New Roman" panose="02020603050405020304" pitchFamily="18" charset="0"/>
                  </a:rPr>
                  <a:t> characters</a:t>
                </a:r>
                <a:endParaRPr lang="en-US" b="1" i="1"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654D629C-2B13-41F0-8318-706CA1749D2A}"/>
                  </a:ext>
                </a:extLst>
              </p:cNvPr>
              <p:cNvSpPr txBox="1">
                <a:spLocks noRot="1" noChangeAspect="1" noMove="1" noResize="1" noEditPoints="1" noAdjustHandles="1" noChangeArrowheads="1" noChangeShapeType="1" noTextEdit="1"/>
              </p:cNvSpPr>
              <p:nvPr/>
            </p:nvSpPr>
            <p:spPr>
              <a:xfrm>
                <a:off x="134678" y="2860242"/>
                <a:ext cx="11952513" cy="2918299"/>
              </a:xfrm>
              <a:prstGeom prst="rect">
                <a:avLst/>
              </a:prstGeom>
              <a:blipFill>
                <a:blip r:embed="rId8"/>
                <a:stretch>
                  <a:fillRect l="-408" t="-1044" r="-408" b="-2296"/>
                </a:stretch>
              </a:blipFill>
            </p:spPr>
            <p:txBody>
              <a:bodyPr/>
              <a:lstStyle/>
              <a:p>
                <a:r>
                  <a:rPr lang="en-US">
                    <a:noFill/>
                  </a:rPr>
                  <a:t> </a:t>
                </a:r>
              </a:p>
            </p:txBody>
          </p:sp>
        </mc:Fallback>
      </mc:AlternateContent>
    </p:spTree>
    <p:extLst>
      <p:ext uri="{BB962C8B-B14F-4D97-AF65-F5344CB8AC3E}">
        <p14:creationId xmlns:p14="http://schemas.microsoft.com/office/powerpoint/2010/main" val="10932676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18" name="Slide Number Placeholder 17">
            <a:extLst>
              <a:ext uri="{FF2B5EF4-FFF2-40B4-BE49-F238E27FC236}">
                <a16:creationId xmlns:a16="http://schemas.microsoft.com/office/drawing/2014/main" id="{8CB7D4C3-6B63-4204-87ED-821B46CDA39B}"/>
              </a:ext>
            </a:extLst>
          </p:cNvPr>
          <p:cNvSpPr>
            <a:spLocks noGrp="1"/>
          </p:cNvSpPr>
          <p:nvPr>
            <p:ph type="sldNum" sz="quarter" idx="12"/>
          </p:nvPr>
        </p:nvSpPr>
        <p:spPr>
          <a:xfrm>
            <a:off x="11768666" y="6643166"/>
            <a:ext cx="419957"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15</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0A01522-C77A-4F62-AD30-61F49938028B}"/>
              </a:ext>
            </a:extLst>
          </p:cNvPr>
          <p:cNvSpPr txBox="1"/>
          <p:nvPr/>
        </p:nvSpPr>
        <p:spPr>
          <a:xfrm>
            <a:off x="2053164" y="102950"/>
            <a:ext cx="8407401"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Spatial Truncation: Restricting the Infinite Matrix</a:t>
            </a:r>
            <a:endParaRPr lang="en-US" sz="2800" b="1" dirty="0">
              <a:effectLst/>
              <a:latin typeface="Times New Roman" panose="02020603050405020304" pitchFamily="18" charset="0"/>
              <a:cs typeface="Times New Roman" panose="02020603050405020304" pitchFamily="18" charset="0"/>
            </a:endParaRPr>
          </a:p>
        </p:txBody>
      </p:sp>
      <p:sp>
        <p:nvSpPr>
          <p:cNvPr id="32" name="TextBox 31">
            <a:extLst>
              <a:ext uri="{FF2B5EF4-FFF2-40B4-BE49-F238E27FC236}">
                <a16:creationId xmlns:a16="http://schemas.microsoft.com/office/drawing/2014/main" id="{167887F5-CDEA-4141-8554-FD70AA32DB73}"/>
              </a:ext>
            </a:extLst>
          </p:cNvPr>
          <p:cNvSpPr txBox="1"/>
          <p:nvPr/>
        </p:nvSpPr>
        <p:spPr>
          <a:xfrm>
            <a:off x="339173" y="714938"/>
            <a:ext cx="5638423" cy="369332"/>
          </a:xfrm>
          <a:prstGeom prst="rect">
            <a:avLst/>
          </a:prstGeom>
          <a:noFill/>
        </p:spPr>
        <p:txBody>
          <a:bodyPr wrap="square" rtlCol="0">
            <a:spAutoFit/>
          </a:bodyPr>
          <a:lstStyle/>
          <a:p>
            <a:pPr algn="just"/>
            <a:r>
              <a:rPr lang="en-US" b="1" dirty="0">
                <a:solidFill>
                  <a:srgbClr val="0070C0"/>
                </a:solidFill>
                <a:latin typeface="Times New Roman" panose="02020603050405020304" pitchFamily="18" charset="0"/>
                <a:cs typeface="Times New Roman" panose="02020603050405020304" pitchFamily="18" charset="0"/>
              </a:rPr>
              <a:t>Crystal:</a:t>
            </a:r>
            <a:r>
              <a:rPr lang="en-US" b="1" dirty="0">
                <a:latin typeface="Times New Roman" panose="02020603050405020304" pitchFamily="18" charset="0"/>
                <a:cs typeface="Times New Roman" panose="02020603050405020304" pitchFamily="18" charset="0"/>
              </a:rPr>
              <a:t> an infinite-dimensional real-space Hamiltonian</a:t>
            </a:r>
            <a:endParaRPr lang="en-US" b="1" i="1" dirty="0">
              <a:latin typeface="Times New Roman" panose="02020603050405020304" pitchFamily="18" charset="0"/>
              <a:cs typeface="Times New Roman" panose="02020603050405020304" pitchFamily="18" charset="0"/>
            </a:endParaRPr>
          </a:p>
        </p:txBody>
      </p:sp>
      <p:cxnSp>
        <p:nvCxnSpPr>
          <p:cNvPr id="3" name="Straight Arrow Connector 2">
            <a:extLst>
              <a:ext uri="{FF2B5EF4-FFF2-40B4-BE49-F238E27FC236}">
                <a16:creationId xmlns:a16="http://schemas.microsoft.com/office/drawing/2014/main" id="{81AB3EDA-65A5-4CA5-BFD8-9856E30A5E66}"/>
              </a:ext>
            </a:extLst>
          </p:cNvPr>
          <p:cNvCxnSpPr>
            <a:cxnSpLocks/>
          </p:cNvCxnSpPr>
          <p:nvPr/>
        </p:nvCxnSpPr>
        <p:spPr>
          <a:xfrm flipH="1" flipV="1">
            <a:off x="1017037" y="1084270"/>
            <a:ext cx="2638701" cy="1356146"/>
          </a:xfrm>
          <a:prstGeom prst="straightConnector1">
            <a:avLst/>
          </a:prstGeom>
          <a:ln w="25400">
            <a:prstDash val="dash"/>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9" name="TextBox 38">
                <a:extLst>
                  <a:ext uri="{FF2B5EF4-FFF2-40B4-BE49-F238E27FC236}">
                    <a16:creationId xmlns:a16="http://schemas.microsoft.com/office/drawing/2014/main" id="{B3E979A9-0852-42F5-99F6-1E5808E83EC1}"/>
                  </a:ext>
                </a:extLst>
              </p:cNvPr>
              <p:cNvSpPr txBox="1"/>
              <p:nvPr/>
            </p:nvSpPr>
            <p:spPr>
              <a:xfrm>
                <a:off x="167951" y="3688011"/>
                <a:ext cx="11804159" cy="669992"/>
              </a:xfrm>
              <a:prstGeom prst="rect">
                <a:avLst/>
              </a:prstGeom>
              <a:noFill/>
            </p:spPr>
            <p:txBody>
              <a:bodyPr wrap="square" rtlCol="0">
                <a:spAutoFit/>
              </a:bodyPr>
              <a:lstStyle/>
              <a:p>
                <a:pPr algn="just"/>
                <a:r>
                  <a:rPr lang="en-US" b="1" dirty="0">
                    <a:solidFill>
                      <a:schemeClr val="tx1"/>
                    </a:solidFill>
                    <a:latin typeface="Times New Roman" panose="02020603050405020304" pitchFamily="18" charset="0"/>
                    <a:cs typeface="Times New Roman" panose="02020603050405020304" pitchFamily="18" charset="0"/>
                  </a:rPr>
                  <a:t>Cutoff Radius (</a:t>
                </a:r>
                <a:r>
                  <a:rPr lang="en-US" b="1" i="1" dirty="0" err="1">
                    <a:solidFill>
                      <a:schemeClr val="tx1"/>
                    </a:solidFill>
                    <a:latin typeface="Times New Roman" panose="02020603050405020304" pitchFamily="18" charset="0"/>
                    <a:cs typeface="Times New Roman" panose="02020603050405020304" pitchFamily="18" charset="0"/>
                  </a:rPr>
                  <a:t>R</a:t>
                </a:r>
                <a:r>
                  <a:rPr lang="en-US" sz="1100" b="1" i="1" dirty="0" err="1">
                    <a:solidFill>
                      <a:schemeClr val="tx1"/>
                    </a:solidFill>
                    <a:latin typeface="Times New Roman" panose="02020603050405020304" pitchFamily="18" charset="0"/>
                    <a:cs typeface="Times New Roman" panose="02020603050405020304" pitchFamily="18" charset="0"/>
                  </a:rPr>
                  <a:t>c</a:t>
                </a:r>
                <a:r>
                  <a:rPr lang="en-US" b="1" dirty="0">
                    <a:solidFill>
                      <a:schemeClr val="tx1"/>
                    </a:solidFill>
                    <a:latin typeface="Times New Roman" panose="02020603050405020304" pitchFamily="18" charset="0"/>
                    <a:cs typeface="Times New Roman" panose="02020603050405020304" pitchFamily="18" charset="0"/>
                  </a:rPr>
                  <a:t>): Since atomic orbitals decay exponentially (</a:t>
                </a:r>
                <a:r>
                  <a:rPr lang="el-GR" b="1" dirty="0">
                    <a:solidFill>
                      <a:schemeClr val="tx1"/>
                    </a:solidFill>
                    <a:latin typeface="Yu Mincho Light" panose="02020300000000000000" pitchFamily="18" charset="-128"/>
                    <a:ea typeface="Yu Mincho Light" panose="02020300000000000000" pitchFamily="18" charset="-128"/>
                    <a:cs typeface="Times New Roman" panose="02020603050405020304" pitchFamily="18" charset="0"/>
                  </a:rPr>
                  <a:t>φ</a:t>
                </a:r>
                <a:r>
                  <a:rPr lang="en-US" sz="1100" b="1" dirty="0">
                    <a:solidFill>
                      <a:schemeClr val="tx1"/>
                    </a:solidFill>
                    <a:latin typeface="Times New Roman" panose="02020603050405020304" pitchFamily="18" charset="0"/>
                    <a:cs typeface="Times New Roman" panose="02020603050405020304" pitchFamily="18" charset="0"/>
                  </a:rPr>
                  <a:t>(</a:t>
                </a:r>
                <a:r>
                  <a:rPr lang="en-US" sz="1100" b="1" i="1" dirty="0">
                    <a:solidFill>
                      <a:schemeClr val="tx1"/>
                    </a:solidFill>
                    <a:latin typeface="Times New Roman" panose="02020603050405020304" pitchFamily="18" charset="0"/>
                    <a:cs typeface="Times New Roman" panose="02020603050405020304" pitchFamily="18" charset="0"/>
                  </a:rPr>
                  <a:t>r</a:t>
                </a:r>
                <a:r>
                  <a:rPr lang="en-US" sz="1100" b="1" dirty="0">
                    <a:solidFill>
                      <a:schemeClr val="tx1"/>
                    </a:solidFill>
                    <a:latin typeface="Times New Roman" panose="02020603050405020304" pitchFamily="18" charset="0"/>
                    <a:cs typeface="Times New Roman" panose="02020603050405020304" pitchFamily="18" charset="0"/>
                  </a:rPr>
                  <a:t>)</a:t>
                </a:r>
                <a:r>
                  <a:rPr lang="en-US" b="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宋体" panose="02010600030101010101" pitchFamily="2" charset="-122"/>
                    <a:ea typeface="宋体" panose="02010600030101010101" pitchFamily="2" charset="-122"/>
                    <a:cs typeface="Times New Roman" panose="02020603050405020304" pitchFamily="18" charset="0"/>
                  </a:rPr>
                  <a:t>～</a:t>
                </a:r>
                <a:r>
                  <a:rPr lang="en-US" b="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sSup>
                      <m:sSupPr>
                        <m:ctrlPr>
                          <a:rPr lang="en-US" b="1" i="1" smtClean="0">
                            <a:solidFill>
                              <a:schemeClr val="tx1"/>
                            </a:solidFill>
                            <a:latin typeface="Cambria Math" panose="02040503050406030204" pitchFamily="18" charset="0"/>
                            <a:cs typeface="Times New Roman" panose="02020603050405020304" pitchFamily="18" charset="0"/>
                          </a:rPr>
                        </m:ctrlPr>
                      </m:sSupPr>
                      <m:e>
                        <m:r>
                          <a:rPr lang="en-US" b="1" i="1" smtClean="0">
                            <a:solidFill>
                              <a:schemeClr val="tx1"/>
                            </a:solidFill>
                            <a:latin typeface="Cambria Math" panose="02040503050406030204" pitchFamily="18" charset="0"/>
                            <a:cs typeface="Times New Roman" panose="02020603050405020304" pitchFamily="18" charset="0"/>
                          </a:rPr>
                          <m:t>𝒆</m:t>
                        </m:r>
                      </m:e>
                      <m:sup>
                        <m:r>
                          <a:rPr lang="en-US" b="1" i="1" smtClean="0">
                            <a:solidFill>
                              <a:schemeClr val="tx1"/>
                            </a:solidFill>
                            <a:latin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𝜶</m:t>
                        </m:r>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𝒓</m:t>
                        </m:r>
                      </m:sup>
                    </m:sSup>
                  </m:oMath>
                </a14:m>
                <a:r>
                  <a:rPr lang="en-US" b="1" dirty="0">
                    <a:solidFill>
                      <a:schemeClr val="tx1"/>
                    </a:solidFill>
                    <a:latin typeface="Times New Roman" panose="02020603050405020304" pitchFamily="18" charset="0"/>
                    <a:cs typeface="Times New Roman" panose="02020603050405020304" pitchFamily="18" charset="0"/>
                  </a:rPr>
                  <a:t>), hopping integrals decay exponentially with distance </a:t>
                </a:r>
                <a:r>
                  <a:rPr lang="en-US" b="1" i="1" dirty="0">
                    <a:solidFill>
                      <a:schemeClr val="tx1"/>
                    </a:solidFill>
                    <a:latin typeface="Times New Roman" panose="02020603050405020304" pitchFamily="18" charset="0"/>
                    <a:cs typeface="Times New Roman" panose="02020603050405020304" pitchFamily="18" charset="0"/>
                  </a:rPr>
                  <a:t>R</a:t>
                </a:r>
              </a:p>
            </p:txBody>
          </p:sp>
        </mc:Choice>
        <mc:Fallback xmlns="">
          <p:sp>
            <p:nvSpPr>
              <p:cNvPr id="39" name="TextBox 38">
                <a:extLst>
                  <a:ext uri="{FF2B5EF4-FFF2-40B4-BE49-F238E27FC236}">
                    <a16:creationId xmlns:a16="http://schemas.microsoft.com/office/drawing/2014/main" id="{B3E979A9-0852-42F5-99F6-1E5808E83EC1}"/>
                  </a:ext>
                </a:extLst>
              </p:cNvPr>
              <p:cNvSpPr txBox="1">
                <a:spLocks noRot="1" noChangeAspect="1" noMove="1" noResize="1" noEditPoints="1" noAdjustHandles="1" noChangeArrowheads="1" noChangeShapeType="1" noTextEdit="1"/>
              </p:cNvSpPr>
              <p:nvPr/>
            </p:nvSpPr>
            <p:spPr>
              <a:xfrm>
                <a:off x="167951" y="3688011"/>
                <a:ext cx="11804159" cy="669992"/>
              </a:xfrm>
              <a:prstGeom prst="rect">
                <a:avLst/>
              </a:prstGeom>
              <a:blipFill>
                <a:blip r:embed="rId5"/>
                <a:stretch>
                  <a:fillRect l="-465" t="-8182" r="-413" b="-10000"/>
                </a:stretch>
              </a:blipFill>
            </p:spPr>
            <p:txBody>
              <a:bodyPr/>
              <a:lstStyle/>
              <a:p>
                <a:r>
                  <a:rPr lang="en-US">
                    <a:noFill/>
                  </a:rPr>
                  <a:t> </a:t>
                </a:r>
              </a:p>
            </p:txBody>
          </p:sp>
        </mc:Fallback>
      </mc:AlternateContent>
      <p:grpSp>
        <p:nvGrpSpPr>
          <p:cNvPr id="46" name="Group 45">
            <a:extLst>
              <a:ext uri="{FF2B5EF4-FFF2-40B4-BE49-F238E27FC236}">
                <a16:creationId xmlns:a16="http://schemas.microsoft.com/office/drawing/2014/main" id="{6CE32E8F-5366-42F3-A3E4-0737D11C45B0}"/>
              </a:ext>
            </a:extLst>
          </p:cNvPr>
          <p:cNvGrpSpPr/>
          <p:nvPr/>
        </p:nvGrpSpPr>
        <p:grpSpPr>
          <a:xfrm>
            <a:off x="3471788" y="1159427"/>
            <a:ext cx="4456088" cy="2341897"/>
            <a:chOff x="3471788" y="1402033"/>
            <a:chExt cx="4456088" cy="2341897"/>
          </a:xfrm>
        </p:grpSpPr>
        <p:grpSp>
          <p:nvGrpSpPr>
            <p:cNvPr id="10" name="Group 9">
              <a:extLst>
                <a:ext uri="{FF2B5EF4-FFF2-40B4-BE49-F238E27FC236}">
                  <a16:creationId xmlns:a16="http://schemas.microsoft.com/office/drawing/2014/main" id="{9D4A7288-8125-4AB9-90C8-1F13392860BF}"/>
                </a:ext>
              </a:extLst>
            </p:cNvPr>
            <p:cNvGrpSpPr/>
            <p:nvPr/>
          </p:nvGrpSpPr>
          <p:grpSpPr>
            <a:xfrm>
              <a:off x="3471788" y="2128198"/>
              <a:ext cx="4456088" cy="1615732"/>
              <a:chOff x="4786780" y="1921445"/>
              <a:chExt cx="4456088" cy="1615732"/>
            </a:xfrm>
          </p:grpSpPr>
          <p:sp>
            <p:nvSpPr>
              <p:cNvPr id="12" name="Oval 11">
                <a:extLst>
                  <a:ext uri="{FF2B5EF4-FFF2-40B4-BE49-F238E27FC236}">
                    <a16:creationId xmlns:a16="http://schemas.microsoft.com/office/drawing/2014/main" id="{D78065A6-25A7-44B6-9C11-169535DDA038}"/>
                  </a:ext>
                </a:extLst>
              </p:cNvPr>
              <p:cNvSpPr/>
              <p:nvPr/>
            </p:nvSpPr>
            <p:spPr>
              <a:xfrm>
                <a:off x="5789465"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8D059F0C-8F49-473D-8E09-2BB13B4E2901}"/>
                  </a:ext>
                </a:extLst>
              </p:cNvPr>
              <p:cNvSpPr/>
              <p:nvPr/>
            </p:nvSpPr>
            <p:spPr>
              <a:xfrm>
                <a:off x="5164035" y="1950098"/>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CCC2479D-CD0A-4036-A863-F329272FCDEC}"/>
                  </a:ext>
                </a:extLst>
              </p:cNvPr>
              <p:cNvSpPr/>
              <p:nvPr/>
            </p:nvSpPr>
            <p:spPr>
              <a:xfrm>
                <a:off x="6950517" y="1950098"/>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61B73C6-DCFE-430C-9844-C335EE66775D}"/>
                  </a:ext>
                </a:extLst>
              </p:cNvPr>
              <p:cNvSpPr/>
              <p:nvPr/>
            </p:nvSpPr>
            <p:spPr>
              <a:xfrm>
                <a:off x="6325087" y="1978751"/>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616D28AA-8FB0-45CE-A1CE-1DB70BAD84C1}"/>
                  </a:ext>
                </a:extLst>
              </p:cNvPr>
              <p:cNvSpPr/>
              <p:nvPr/>
            </p:nvSpPr>
            <p:spPr>
              <a:xfrm>
                <a:off x="8098988" y="1921445"/>
                <a:ext cx="342071" cy="355600"/>
              </a:xfrm>
              <a:prstGeom prst="ellipse">
                <a:avLst/>
              </a:prstGeom>
              <a:solidFill>
                <a:schemeClr val="tx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B4C904CF-A94D-4E2F-AEFA-CA622B9F69AB}"/>
                  </a:ext>
                </a:extLst>
              </p:cNvPr>
              <p:cNvSpPr/>
              <p:nvPr/>
            </p:nvSpPr>
            <p:spPr>
              <a:xfrm>
                <a:off x="7473558" y="1950098"/>
                <a:ext cx="1688841" cy="1558426"/>
              </a:xfrm>
              <a:custGeom>
                <a:avLst/>
                <a:gdLst>
                  <a:gd name="connsiteX0" fmla="*/ 0 w 1688841"/>
                  <a:gd name="connsiteY0" fmla="*/ 9331 h 1558426"/>
                  <a:gd name="connsiteX1" fmla="*/ 531845 w 1688841"/>
                  <a:gd name="connsiteY1" fmla="*/ 391886 h 1558426"/>
                  <a:gd name="connsiteX2" fmla="*/ 727788 w 1688841"/>
                  <a:gd name="connsiteY2" fmla="*/ 1166326 h 1558426"/>
                  <a:gd name="connsiteX3" fmla="*/ 783771 w 1688841"/>
                  <a:gd name="connsiteY3" fmla="*/ 1558212 h 1558426"/>
                  <a:gd name="connsiteX4" fmla="*/ 886408 w 1688841"/>
                  <a:gd name="connsiteY4" fmla="*/ 1119673 h 1558426"/>
                  <a:gd name="connsiteX5" fmla="*/ 1129004 w 1688841"/>
                  <a:gd name="connsiteY5" fmla="*/ 317241 h 1558426"/>
                  <a:gd name="connsiteX6" fmla="*/ 1688841 w 1688841"/>
                  <a:gd name="connsiteY6" fmla="*/ 0 h 1558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8841" h="1558426">
                    <a:moveTo>
                      <a:pt x="0" y="9331"/>
                    </a:moveTo>
                    <a:cubicBezTo>
                      <a:pt x="205273" y="104192"/>
                      <a:pt x="410547" y="199054"/>
                      <a:pt x="531845" y="391886"/>
                    </a:cubicBezTo>
                    <a:cubicBezTo>
                      <a:pt x="653143" y="584718"/>
                      <a:pt x="685800" y="971938"/>
                      <a:pt x="727788" y="1166326"/>
                    </a:cubicBezTo>
                    <a:cubicBezTo>
                      <a:pt x="769776" y="1360714"/>
                      <a:pt x="757334" y="1565988"/>
                      <a:pt x="783771" y="1558212"/>
                    </a:cubicBezTo>
                    <a:cubicBezTo>
                      <a:pt x="810208" y="1550437"/>
                      <a:pt x="828869" y="1326501"/>
                      <a:pt x="886408" y="1119673"/>
                    </a:cubicBezTo>
                    <a:cubicBezTo>
                      <a:pt x="943947" y="912845"/>
                      <a:pt x="995265" y="503853"/>
                      <a:pt x="1129004" y="317241"/>
                    </a:cubicBezTo>
                    <a:cubicBezTo>
                      <a:pt x="1262743" y="130629"/>
                      <a:pt x="1475792" y="65314"/>
                      <a:pt x="1688841" y="0"/>
                    </a:cubicBezTo>
                  </a:path>
                </a:pathLst>
              </a:custGeom>
              <a:noFill/>
              <a:ln w="254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55EA86CE-EC6C-464C-8141-EF2CE3AE7B5F}"/>
                  </a:ext>
                </a:extLst>
              </p:cNvPr>
              <p:cNvSpPr/>
              <p:nvPr/>
            </p:nvSpPr>
            <p:spPr>
              <a:xfrm>
                <a:off x="5154559" y="25328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1210DFA7-2C60-44B4-AE63-1B5A8786A398}"/>
                  </a:ext>
                </a:extLst>
              </p:cNvPr>
              <p:cNvSpPr/>
              <p:nvPr/>
            </p:nvSpPr>
            <p:spPr>
              <a:xfrm>
                <a:off x="4952134" y="2529950"/>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5F5CF22-F8D1-4721-A7FB-ED744A27193D}"/>
                  </a:ext>
                </a:extLst>
              </p:cNvPr>
              <p:cNvSpPr/>
              <p:nvPr/>
            </p:nvSpPr>
            <p:spPr>
              <a:xfrm>
                <a:off x="4786780" y="252994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1C00F4D4-7DD1-433D-B99E-06B0E0582111}"/>
                  </a:ext>
                </a:extLst>
              </p:cNvPr>
              <p:cNvSpPr/>
              <p:nvPr/>
            </p:nvSpPr>
            <p:spPr>
              <a:xfrm>
                <a:off x="9197149" y="252994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Oval 23">
                <a:extLst>
                  <a:ext uri="{FF2B5EF4-FFF2-40B4-BE49-F238E27FC236}">
                    <a16:creationId xmlns:a16="http://schemas.microsoft.com/office/drawing/2014/main" id="{A722BEE7-34E6-49CE-A219-85772CE6F142}"/>
                  </a:ext>
                </a:extLst>
              </p:cNvPr>
              <p:cNvSpPr/>
              <p:nvPr/>
            </p:nvSpPr>
            <p:spPr>
              <a:xfrm>
                <a:off x="9014056" y="2533059"/>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Oval 24">
                <a:extLst>
                  <a:ext uri="{FF2B5EF4-FFF2-40B4-BE49-F238E27FC236}">
                    <a16:creationId xmlns:a16="http://schemas.microsoft.com/office/drawing/2014/main" id="{4D7795B1-D8CF-43AF-BAA0-379CC6FFF3A6}"/>
                  </a:ext>
                </a:extLst>
              </p:cNvPr>
              <p:cNvSpPr/>
              <p:nvPr/>
            </p:nvSpPr>
            <p:spPr>
              <a:xfrm>
                <a:off x="8848702" y="2533058"/>
                <a:ext cx="45719" cy="45719"/>
              </a:xfrm>
              <a:prstGeom prst="ellipse">
                <a:avLst/>
              </a:prstGeom>
              <a:solidFill>
                <a:srgbClr val="0070C0"/>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0" name="Freeform: Shape 39">
              <a:extLst>
                <a:ext uri="{FF2B5EF4-FFF2-40B4-BE49-F238E27FC236}">
                  <a16:creationId xmlns:a16="http://schemas.microsoft.com/office/drawing/2014/main" id="{AE490FA7-6FB6-4CC9-96C0-38F209806B20}"/>
                </a:ext>
              </a:extLst>
            </p:cNvPr>
            <p:cNvSpPr/>
            <p:nvPr/>
          </p:nvSpPr>
          <p:spPr>
            <a:xfrm>
              <a:off x="4668372" y="1402033"/>
              <a:ext cx="2314319" cy="701648"/>
            </a:xfrm>
            <a:custGeom>
              <a:avLst/>
              <a:gdLst>
                <a:gd name="connsiteX0" fmla="*/ 0 w 541175"/>
                <a:gd name="connsiteY0" fmla="*/ 288937 h 298268"/>
                <a:gd name="connsiteX1" fmla="*/ 149290 w 541175"/>
                <a:gd name="connsiteY1" fmla="*/ 55672 h 298268"/>
                <a:gd name="connsiteX2" fmla="*/ 363894 w 541175"/>
                <a:gd name="connsiteY2" fmla="*/ 18349 h 298268"/>
                <a:gd name="connsiteX3" fmla="*/ 541175 w 541175"/>
                <a:gd name="connsiteY3" fmla="*/ 298268 h 298268"/>
              </a:gdLst>
              <a:ahLst/>
              <a:cxnLst>
                <a:cxn ang="0">
                  <a:pos x="connsiteX0" y="connsiteY0"/>
                </a:cxn>
                <a:cxn ang="0">
                  <a:pos x="connsiteX1" y="connsiteY1"/>
                </a:cxn>
                <a:cxn ang="0">
                  <a:pos x="connsiteX2" y="connsiteY2"/>
                </a:cxn>
                <a:cxn ang="0">
                  <a:pos x="connsiteX3" y="connsiteY3"/>
                </a:cxn>
              </a:cxnLst>
              <a:rect l="l" t="t" r="r" b="b"/>
              <a:pathLst>
                <a:path w="541175" h="298268">
                  <a:moveTo>
                    <a:pt x="0" y="288937"/>
                  </a:moveTo>
                  <a:cubicBezTo>
                    <a:pt x="44320" y="194853"/>
                    <a:pt x="88641" y="100770"/>
                    <a:pt x="149290" y="55672"/>
                  </a:cubicBezTo>
                  <a:cubicBezTo>
                    <a:pt x="209939" y="10574"/>
                    <a:pt x="298580" y="-22084"/>
                    <a:pt x="363894" y="18349"/>
                  </a:cubicBezTo>
                  <a:cubicBezTo>
                    <a:pt x="429208" y="58782"/>
                    <a:pt x="485191" y="178525"/>
                    <a:pt x="541175" y="298268"/>
                  </a:cubicBezTo>
                </a:path>
              </a:pathLst>
            </a:custGeom>
            <a:noFill/>
            <a:ln w="127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Oval 40">
              <a:extLst>
                <a:ext uri="{FF2B5EF4-FFF2-40B4-BE49-F238E27FC236}">
                  <a16:creationId xmlns:a16="http://schemas.microsoft.com/office/drawing/2014/main" id="{BDF32B0A-A9A4-4384-A5FB-938AEAB93B4B}"/>
                </a:ext>
              </a:extLst>
            </p:cNvPr>
            <p:cNvSpPr/>
            <p:nvPr/>
          </p:nvSpPr>
          <p:spPr>
            <a:xfrm>
              <a:off x="5268056" y="1446795"/>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3" name="Freeform: Shape 42">
              <a:extLst>
                <a:ext uri="{FF2B5EF4-FFF2-40B4-BE49-F238E27FC236}">
                  <a16:creationId xmlns:a16="http://schemas.microsoft.com/office/drawing/2014/main" id="{F0D8DB86-5EA4-4B70-8719-FCAD2A83E858}"/>
                </a:ext>
              </a:extLst>
            </p:cNvPr>
            <p:cNvSpPr/>
            <p:nvPr/>
          </p:nvSpPr>
          <p:spPr>
            <a:xfrm>
              <a:off x="4667928" y="1791211"/>
              <a:ext cx="961769" cy="298268"/>
            </a:xfrm>
            <a:custGeom>
              <a:avLst/>
              <a:gdLst>
                <a:gd name="connsiteX0" fmla="*/ 0 w 541175"/>
                <a:gd name="connsiteY0" fmla="*/ 288937 h 298268"/>
                <a:gd name="connsiteX1" fmla="*/ 149290 w 541175"/>
                <a:gd name="connsiteY1" fmla="*/ 55672 h 298268"/>
                <a:gd name="connsiteX2" fmla="*/ 363894 w 541175"/>
                <a:gd name="connsiteY2" fmla="*/ 18349 h 298268"/>
                <a:gd name="connsiteX3" fmla="*/ 541175 w 541175"/>
                <a:gd name="connsiteY3" fmla="*/ 298268 h 298268"/>
              </a:gdLst>
              <a:ahLst/>
              <a:cxnLst>
                <a:cxn ang="0">
                  <a:pos x="connsiteX0" y="connsiteY0"/>
                </a:cxn>
                <a:cxn ang="0">
                  <a:pos x="connsiteX1" y="connsiteY1"/>
                </a:cxn>
                <a:cxn ang="0">
                  <a:pos x="connsiteX2" y="connsiteY2"/>
                </a:cxn>
                <a:cxn ang="0">
                  <a:pos x="connsiteX3" y="connsiteY3"/>
                </a:cxn>
              </a:cxnLst>
              <a:rect l="l" t="t" r="r" b="b"/>
              <a:pathLst>
                <a:path w="541175" h="298268">
                  <a:moveTo>
                    <a:pt x="0" y="288937"/>
                  </a:moveTo>
                  <a:cubicBezTo>
                    <a:pt x="44320" y="194853"/>
                    <a:pt x="88641" y="100770"/>
                    <a:pt x="149290" y="55672"/>
                  </a:cubicBezTo>
                  <a:cubicBezTo>
                    <a:pt x="209939" y="10574"/>
                    <a:pt x="298580" y="-22084"/>
                    <a:pt x="363894" y="18349"/>
                  </a:cubicBezTo>
                  <a:cubicBezTo>
                    <a:pt x="429208" y="58782"/>
                    <a:pt x="485191" y="178525"/>
                    <a:pt x="541175" y="298268"/>
                  </a:cubicBezTo>
                </a:path>
              </a:pathLst>
            </a:custGeom>
            <a:noFill/>
            <a:ln w="38100">
              <a:solidFill>
                <a:srgbClr val="FFC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Oval 43">
              <a:extLst>
                <a:ext uri="{FF2B5EF4-FFF2-40B4-BE49-F238E27FC236}">
                  <a16:creationId xmlns:a16="http://schemas.microsoft.com/office/drawing/2014/main" id="{1FD6A70E-E42C-43C3-806D-1C3428688EC4}"/>
                </a:ext>
              </a:extLst>
            </p:cNvPr>
            <p:cNvSpPr/>
            <p:nvPr/>
          </p:nvSpPr>
          <p:spPr>
            <a:xfrm>
              <a:off x="5234502" y="1734154"/>
              <a:ext cx="138877" cy="135199"/>
            </a:xfrm>
            <a:prstGeom prst="ellipse">
              <a:avLst/>
            </a:prstGeom>
            <a:solidFill>
              <a:srgbClr val="FFC000"/>
            </a:solidFill>
            <a:ln>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5" name="TextBox 44">
            <a:extLst>
              <a:ext uri="{FF2B5EF4-FFF2-40B4-BE49-F238E27FC236}">
                <a16:creationId xmlns:a16="http://schemas.microsoft.com/office/drawing/2014/main" id="{49613B50-C5C9-4A14-8768-FE7EC7617A39}"/>
              </a:ext>
            </a:extLst>
          </p:cNvPr>
          <p:cNvSpPr txBox="1"/>
          <p:nvPr/>
        </p:nvSpPr>
        <p:spPr>
          <a:xfrm>
            <a:off x="167950" y="5079430"/>
            <a:ext cx="11804159" cy="66999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Setting a spatial cutoff enforces Sparsity in the real-space Hamiltonian matrix, making large-scale nanostructure simulations computationally feasible</a:t>
            </a:r>
            <a:endParaRPr lang="en-US" b="1" i="1" dirty="0">
              <a:solidFill>
                <a:schemeClr val="tx1"/>
              </a:solidFill>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48" name="TextBox 47">
                <a:extLst>
                  <a:ext uri="{FF2B5EF4-FFF2-40B4-BE49-F238E27FC236}">
                    <a16:creationId xmlns:a16="http://schemas.microsoft.com/office/drawing/2014/main" id="{C5AD4E89-C83A-4138-A1BC-C6546DC4E8FC}"/>
                  </a:ext>
                </a:extLst>
              </p:cNvPr>
              <p:cNvSpPr txBox="1"/>
              <p:nvPr/>
            </p:nvSpPr>
            <p:spPr>
              <a:xfrm>
                <a:off x="4464714" y="4451622"/>
                <a:ext cx="2486588" cy="369332"/>
              </a:xfrm>
              <a:prstGeom prst="rect">
                <a:avLst/>
              </a:prstGeom>
              <a:noFill/>
            </p:spPr>
            <p:txBody>
              <a:bodyPr wrap="square" rtlCol="0">
                <a:spAutoFit/>
              </a:bodyPr>
              <a:lstStyle/>
              <a:p>
                <a:pPr algn="just"/>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𝒕</m:t>
                        </m:r>
                      </m:e>
                      <m:sub>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𝜶</m:t>
                        </m:r>
                        <m:r>
                          <m:rPr>
                            <m:sty m:val="p"/>
                          </m:rPr>
                          <a:rPr lang="el-GR"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ν</m:t>
                        </m:r>
                      </m:sub>
                    </m:sSub>
                    <m:d>
                      <m:dPr>
                        <m:ctrlPr>
                          <a:rPr lang="en-US" b="1" i="1" smtClean="0">
                            <a:solidFill>
                              <a:schemeClr val="tx1"/>
                            </a:solidFill>
                            <a:latin typeface="Cambria Math" panose="02040503050406030204" pitchFamily="18" charset="0"/>
                            <a:cs typeface="Times New Roman" panose="02020603050405020304" pitchFamily="18" charset="0"/>
                          </a:rPr>
                        </m:ctrlPr>
                      </m:dPr>
                      <m:e>
                        <m:r>
                          <a:rPr lang="en-US" b="1" i="1" smtClean="0">
                            <a:solidFill>
                              <a:schemeClr val="tx1"/>
                            </a:solidFill>
                            <a:latin typeface="Cambria Math" panose="02040503050406030204" pitchFamily="18" charset="0"/>
                            <a:cs typeface="Times New Roman" panose="02020603050405020304" pitchFamily="18" charset="0"/>
                          </a:rPr>
                          <m:t>𝑹</m:t>
                        </m:r>
                      </m:e>
                    </m:d>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𝟎</m:t>
                    </m:r>
                  </m:oMath>
                </a14:m>
                <a:r>
                  <a:rPr lang="en-US" b="1" i="1" dirty="0">
                    <a:solidFill>
                      <a:schemeClr val="tx1"/>
                    </a:solidFill>
                    <a:latin typeface="Times New Roman" panose="02020603050405020304" pitchFamily="18" charset="0"/>
                    <a:cs typeface="Times New Roman" panose="02020603050405020304" pitchFamily="18" charset="0"/>
                  </a:rPr>
                  <a:t> </a:t>
                </a:r>
                <a:r>
                  <a:rPr lang="en-US" b="1" dirty="0">
                    <a:solidFill>
                      <a:schemeClr val="tx1"/>
                    </a:solidFill>
                    <a:latin typeface="Times New Roman" panose="02020603050405020304" pitchFamily="18" charset="0"/>
                    <a:cs typeface="Times New Roman" panose="02020603050405020304" pitchFamily="18" charset="0"/>
                  </a:rPr>
                  <a:t>as</a:t>
                </a:r>
                <a:r>
                  <a:rPr lang="en-US" b="1" i="1"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d>
                      <m:dPr>
                        <m:begChr m:val="|"/>
                        <m:endChr m:val="|"/>
                        <m:ctrlPr>
                          <a:rPr lang="en-US" b="1" i="1" smtClean="0">
                            <a:solidFill>
                              <a:schemeClr val="tx1"/>
                            </a:solidFill>
                            <a:latin typeface="Cambria Math" panose="02040503050406030204" pitchFamily="18" charset="0"/>
                            <a:cs typeface="Times New Roman" panose="02020603050405020304" pitchFamily="18" charset="0"/>
                          </a:rPr>
                        </m:ctrlPr>
                      </m:dPr>
                      <m:e>
                        <m:r>
                          <a:rPr lang="en-US" b="1" i="1" smtClean="0">
                            <a:solidFill>
                              <a:schemeClr val="tx1"/>
                            </a:solidFill>
                            <a:latin typeface="Cambria Math" panose="02040503050406030204" pitchFamily="18" charset="0"/>
                            <a:cs typeface="Times New Roman" panose="02020603050405020304" pitchFamily="18" charset="0"/>
                          </a:rPr>
                          <m:t>𝑹</m:t>
                        </m:r>
                      </m:e>
                    </m:d>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𝑹</m:t>
                        </m:r>
                      </m:e>
                      <m:sub>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𝒄</m:t>
                        </m:r>
                      </m:sub>
                    </m:sSub>
                  </m:oMath>
                </a14:m>
                <a:endParaRPr lang="en-US" b="1"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48" name="TextBox 47">
                <a:extLst>
                  <a:ext uri="{FF2B5EF4-FFF2-40B4-BE49-F238E27FC236}">
                    <a16:creationId xmlns:a16="http://schemas.microsoft.com/office/drawing/2014/main" id="{C5AD4E89-C83A-4138-A1BC-C6546DC4E8FC}"/>
                  </a:ext>
                </a:extLst>
              </p:cNvPr>
              <p:cNvSpPr txBox="1">
                <a:spLocks noRot="1" noChangeAspect="1" noMove="1" noResize="1" noEditPoints="1" noAdjustHandles="1" noChangeArrowheads="1" noChangeShapeType="1" noTextEdit="1"/>
              </p:cNvSpPr>
              <p:nvPr/>
            </p:nvSpPr>
            <p:spPr>
              <a:xfrm>
                <a:off x="4464714" y="4451622"/>
                <a:ext cx="2486588" cy="369332"/>
              </a:xfrm>
              <a:prstGeom prst="rect">
                <a:avLst/>
              </a:prstGeom>
              <a:blipFill>
                <a:blip r:embed="rId6"/>
                <a:stretch>
                  <a:fillRect t="-8197" b="-24590"/>
                </a:stretch>
              </a:blipFill>
            </p:spPr>
            <p:txBody>
              <a:bodyPr/>
              <a:lstStyle/>
              <a:p>
                <a:r>
                  <a:rPr lang="en-US">
                    <a:noFill/>
                  </a:rPr>
                  <a:t> </a:t>
                </a:r>
              </a:p>
            </p:txBody>
          </p:sp>
        </mc:Fallback>
      </mc:AlternateContent>
    </p:spTree>
    <p:extLst>
      <p:ext uri="{BB962C8B-B14F-4D97-AF65-F5344CB8AC3E}">
        <p14:creationId xmlns:p14="http://schemas.microsoft.com/office/powerpoint/2010/main" val="3656001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a:blip r:embed="rId3">
            <a:duotone>
              <a:prstClr val="black"/>
              <a:schemeClr val="accent2">
                <a:tint val="45000"/>
                <a:satMod val="400000"/>
              </a:schemeClr>
            </a:duotone>
            <a:lum bright="-20000" contrast="-40000"/>
            <a:alphaModFix amt="7000"/>
          </a:blip>
          <a:stretch>
            <a:fillRect/>
          </a:stretch>
        </p:blipFill>
        <p:spPr>
          <a:xfrm>
            <a:off x="10346204" y="16934"/>
            <a:ext cx="1847237" cy="6647009"/>
          </a:xfrm>
          <a:prstGeom prst="rect">
            <a:avLst/>
          </a:prstGeom>
        </p:spPr>
      </p:pic>
      <p:sp>
        <p:nvSpPr>
          <p:cNvPr id="5" name="Rectangle 4"/>
          <p:cNvSpPr/>
          <p:nvPr/>
        </p:nvSpPr>
        <p:spPr>
          <a:xfrm rot="10800000">
            <a:off x="0" y="6647009"/>
            <a:ext cx="12192000"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109A9D5F-3375-49C1-B26B-E91FEA11FDD7}"/>
              </a:ext>
            </a:extLst>
          </p:cNvPr>
          <p:cNvPicPr>
            <a:picLocks noChangeAspect="1"/>
          </p:cNvPicPr>
          <p:nvPr/>
        </p:nvPicPr>
        <p:blipFill>
          <a:blip r:embed="rId4">
            <a:extLst>
              <a:ext uri="{28A0092B-C50C-407E-A947-70E740481C1C}">
                <a14:useLocalDpi xmlns:a14="http://schemas.microsoft.com/office/drawing/2010/main"/>
              </a:ext>
            </a:extLst>
          </a:blip>
          <a:stretch>
            <a:fillRect/>
          </a:stretch>
        </p:blipFill>
        <p:spPr>
          <a:xfrm>
            <a:off x="3376" y="5928624"/>
            <a:ext cx="3356173" cy="717897"/>
          </a:xfrm>
          <a:prstGeom prst="rect">
            <a:avLst/>
          </a:prstGeom>
        </p:spPr>
      </p:pic>
      <p:sp>
        <p:nvSpPr>
          <p:cNvPr id="18" name="Slide Number Placeholder 17">
            <a:extLst>
              <a:ext uri="{FF2B5EF4-FFF2-40B4-BE49-F238E27FC236}">
                <a16:creationId xmlns:a16="http://schemas.microsoft.com/office/drawing/2014/main" id="{8CB7D4C3-6B63-4204-87ED-821B46CDA39B}"/>
              </a:ext>
            </a:extLst>
          </p:cNvPr>
          <p:cNvSpPr>
            <a:spLocks noGrp="1"/>
          </p:cNvSpPr>
          <p:nvPr>
            <p:ph type="sldNum" sz="quarter" idx="12"/>
          </p:nvPr>
        </p:nvSpPr>
        <p:spPr>
          <a:xfrm>
            <a:off x="11768666" y="6643166"/>
            <a:ext cx="419957"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16</a:t>
            </a:fld>
            <a:endParaRPr lang="en-US" sz="1600" b="1" dirty="0">
              <a:solidFill>
                <a:schemeClr val="tx1"/>
              </a:solidFill>
              <a:latin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F01802C4-DE29-443C-BA30-A4505E12EA46}"/>
              </a:ext>
            </a:extLst>
          </p:cNvPr>
          <p:cNvSpPr txBox="1"/>
          <p:nvPr/>
        </p:nvSpPr>
        <p:spPr>
          <a:xfrm>
            <a:off x="297605" y="774179"/>
            <a:ext cx="4448457"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The Nearest-Neighbor (</a:t>
            </a:r>
            <a:r>
              <a:rPr lang="en-US" b="1" i="1" dirty="0">
                <a:latin typeface="Times New Roman" panose="02020603050405020304" pitchFamily="18" charset="0"/>
                <a:cs typeface="Times New Roman" panose="02020603050405020304" pitchFamily="18" charset="0"/>
              </a:rPr>
              <a:t>NN</a:t>
            </a:r>
            <a:r>
              <a:rPr lang="en-US" b="1" dirty="0">
                <a:latin typeface="Times New Roman" panose="02020603050405020304" pitchFamily="18" charset="0"/>
                <a:cs typeface="Times New Roman" panose="02020603050405020304" pitchFamily="18" charset="0"/>
              </a:rPr>
              <a:t>) Approximation</a:t>
            </a:r>
          </a:p>
        </p:txBody>
      </p:sp>
      <p:sp>
        <p:nvSpPr>
          <p:cNvPr id="9" name="TextBox 8">
            <a:extLst>
              <a:ext uri="{FF2B5EF4-FFF2-40B4-BE49-F238E27FC236}">
                <a16:creationId xmlns:a16="http://schemas.microsoft.com/office/drawing/2014/main" id="{B1DFB5C5-2F10-4649-986F-4FC6A2ED8FEF}"/>
              </a:ext>
            </a:extLst>
          </p:cNvPr>
          <p:cNvSpPr txBox="1"/>
          <p:nvPr/>
        </p:nvSpPr>
        <p:spPr>
          <a:xfrm>
            <a:off x="2053164" y="102950"/>
            <a:ext cx="8407401" cy="523220"/>
          </a:xfrm>
          <a:prstGeom prst="rect">
            <a:avLst/>
          </a:prstGeom>
          <a:noFill/>
        </p:spPr>
        <p:txBody>
          <a:bodyPr wrap="square">
            <a:spAutoFit/>
          </a:bodyPr>
          <a:lstStyle/>
          <a:p>
            <a:r>
              <a:rPr lang="en-US" sz="2800" b="1" dirty="0">
                <a:effectLst/>
                <a:latin typeface="Times New Roman" panose="02020603050405020304" pitchFamily="18" charset="0"/>
                <a:cs typeface="Times New Roman" panose="02020603050405020304" pitchFamily="18" charset="0"/>
              </a:rPr>
              <a:t>IV. </a:t>
            </a:r>
            <a:r>
              <a:rPr lang="en-US" sz="2800" b="1" dirty="0">
                <a:latin typeface="Times New Roman" panose="02020603050405020304" pitchFamily="18" charset="0"/>
                <a:cs typeface="Times New Roman" panose="02020603050405020304" pitchFamily="18" charset="0"/>
              </a:rPr>
              <a:t>Spatial Truncation: Restricting the Infinite Matrix</a:t>
            </a:r>
            <a:endParaRPr lang="en-US" sz="2800" b="1" dirty="0">
              <a:effectLst/>
              <a:latin typeface="Times New Roman" panose="02020603050405020304" pitchFamily="18" charset="0"/>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DF2044D-00B2-4C11-802B-8A33045AE4EF}"/>
                  </a:ext>
                </a:extLst>
              </p:cNvPr>
              <p:cNvSpPr txBox="1"/>
              <p:nvPr/>
            </p:nvSpPr>
            <p:spPr>
              <a:xfrm>
                <a:off x="297605" y="1291520"/>
                <a:ext cx="11804159" cy="66999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Definition: Only consider hopping between atoms that are immediate geometric neighbors. All </a:t>
                </a:r>
                <a14:m>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𝒕</m:t>
                        </m:r>
                      </m:e>
                      <m:sub>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𝜶</m:t>
                        </m:r>
                        <m:r>
                          <m:rPr>
                            <m:sty m:val="p"/>
                          </m:rPr>
                          <a:rPr lang="el-GR"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ν</m:t>
                        </m:r>
                      </m:sub>
                    </m:sSub>
                  </m:oMath>
                </a14:m>
                <a:r>
                  <a:rPr lang="en-US" b="1" dirty="0">
                    <a:latin typeface="Times New Roman" panose="02020603050405020304" pitchFamily="18" charset="0"/>
                    <a:cs typeface="Times New Roman" panose="02020603050405020304" pitchFamily="18" charset="0"/>
                  </a:rPr>
                  <a:t> for </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1" smtClean="0">
                            <a:latin typeface="Cambria Math" panose="02040503050406030204" pitchFamily="18" charset="0"/>
                            <a:cs typeface="Times New Roman" panose="02020603050405020304" pitchFamily="18" charset="0"/>
                          </a:rPr>
                          <m:t>𝟐</m:t>
                        </m:r>
                      </m:e>
                      <m:sup>
                        <m:r>
                          <a:rPr lang="en-US" b="1" i="1" smtClean="0">
                            <a:latin typeface="Cambria Math" panose="02040503050406030204" pitchFamily="18" charset="0"/>
                            <a:ea typeface="Cambria Math" panose="02040503050406030204" pitchFamily="18" charset="0"/>
                            <a:cs typeface="Times New Roman" panose="02020603050405020304" pitchFamily="18" charset="0"/>
                          </a:rPr>
                          <m:t>𝒏𝒅</m:t>
                        </m:r>
                      </m:sup>
                    </m:sSup>
                  </m:oMath>
                </a14:m>
                <a:r>
                  <a:rPr lang="en-US" b="1" dirty="0">
                    <a:latin typeface="Times New Roman" panose="02020603050405020304" pitchFamily="18" charset="0"/>
                    <a:cs typeface="Times New Roman" panose="02020603050405020304" pitchFamily="18" charset="0"/>
                  </a:rPr>
                  <a:t>, </a:t>
                </a:r>
                <a14:m>
                  <m:oMath xmlns:m="http://schemas.openxmlformats.org/officeDocument/2006/math">
                    <m:sSup>
                      <m:sSupPr>
                        <m:ctrlPr>
                          <a:rPr lang="en-US" b="1" i="1">
                            <a:latin typeface="Cambria Math" panose="02040503050406030204" pitchFamily="18" charset="0"/>
                            <a:cs typeface="Times New Roman" panose="02020603050405020304" pitchFamily="18" charset="0"/>
                          </a:rPr>
                        </m:ctrlPr>
                      </m:sSupPr>
                      <m:e>
                        <m:r>
                          <a:rPr lang="en-US" b="1" i="1" smtClean="0">
                            <a:latin typeface="Cambria Math" panose="02040503050406030204" pitchFamily="18" charset="0"/>
                            <a:cs typeface="Times New Roman" panose="02020603050405020304" pitchFamily="18" charset="0"/>
                          </a:rPr>
                          <m:t>𝟑</m:t>
                        </m:r>
                      </m:e>
                      <m:sup>
                        <m:r>
                          <a:rPr lang="en-US" b="1" i="1" smtClean="0">
                            <a:latin typeface="Cambria Math" panose="02040503050406030204" pitchFamily="18" charset="0"/>
                            <a:ea typeface="Cambria Math" panose="02040503050406030204" pitchFamily="18" charset="0"/>
                            <a:cs typeface="Times New Roman" panose="02020603050405020304" pitchFamily="18" charset="0"/>
                          </a:rPr>
                          <m:t>𝒓</m:t>
                        </m:r>
                        <m:r>
                          <a:rPr lang="en-US" b="1" i="1">
                            <a:latin typeface="Cambria Math" panose="02040503050406030204" pitchFamily="18" charset="0"/>
                            <a:ea typeface="Cambria Math" panose="02040503050406030204" pitchFamily="18" charset="0"/>
                            <a:cs typeface="Times New Roman" panose="02020603050405020304" pitchFamily="18" charset="0"/>
                          </a:rPr>
                          <m:t>𝒅</m:t>
                        </m:r>
                      </m:sup>
                    </m:sSup>
                  </m:oMath>
                </a14:m>
                <a:r>
                  <a:rPr lang="en-US" b="1" dirty="0">
                    <a:latin typeface="Times New Roman" panose="02020603050405020304" pitchFamily="18" charset="0"/>
                    <a:cs typeface="Times New Roman" panose="02020603050405020304" pitchFamily="18" charset="0"/>
                  </a:rPr>
                  <a:t> and higher coordination shells are set to exactly zero</a:t>
                </a:r>
                <a:endParaRPr lang="en-US" b="1" i="1" dirty="0">
                  <a:solidFill>
                    <a:schemeClr val="tx1"/>
                  </a:solidFill>
                  <a:latin typeface="Times New Roman" panose="02020603050405020304" pitchFamily="18" charset="0"/>
                  <a:cs typeface="Times New Roman" panose="02020603050405020304" pitchFamily="18" charset="0"/>
                </a:endParaRPr>
              </a:p>
            </p:txBody>
          </p:sp>
        </mc:Choice>
        <mc:Fallback xmlns="">
          <p:sp>
            <p:nvSpPr>
              <p:cNvPr id="10" name="TextBox 9">
                <a:extLst>
                  <a:ext uri="{FF2B5EF4-FFF2-40B4-BE49-F238E27FC236}">
                    <a16:creationId xmlns:a16="http://schemas.microsoft.com/office/drawing/2014/main" id="{7DF2044D-00B2-4C11-802B-8A33045AE4EF}"/>
                  </a:ext>
                </a:extLst>
              </p:cNvPr>
              <p:cNvSpPr txBox="1">
                <a:spLocks noRot="1" noChangeAspect="1" noMove="1" noResize="1" noEditPoints="1" noAdjustHandles="1" noChangeArrowheads="1" noChangeShapeType="1" noTextEdit="1"/>
              </p:cNvSpPr>
              <p:nvPr/>
            </p:nvSpPr>
            <p:spPr>
              <a:xfrm>
                <a:off x="297605" y="1291520"/>
                <a:ext cx="11804159" cy="669992"/>
              </a:xfrm>
              <a:prstGeom prst="rect">
                <a:avLst/>
              </a:prstGeom>
              <a:blipFill>
                <a:blip r:embed="rId5"/>
                <a:stretch>
                  <a:fillRect l="-465" t="-3636" r="-413" b="-11818"/>
                </a:stretch>
              </a:blipFill>
            </p:spPr>
            <p:txBody>
              <a:bodyPr/>
              <a:lstStyle/>
              <a:p>
                <a:r>
                  <a:rPr lang="en-US">
                    <a:noFill/>
                  </a:rPr>
                  <a:t> </a:t>
                </a:r>
              </a:p>
            </p:txBody>
          </p:sp>
        </mc:Fallback>
      </mc:AlternateContent>
      <p:sp>
        <p:nvSpPr>
          <p:cNvPr id="12" name="TextBox 11">
            <a:extLst>
              <a:ext uri="{FF2B5EF4-FFF2-40B4-BE49-F238E27FC236}">
                <a16:creationId xmlns:a16="http://schemas.microsoft.com/office/drawing/2014/main" id="{DA325EC8-189B-4FBF-98AB-9BB40DF25315}"/>
              </a:ext>
            </a:extLst>
          </p:cNvPr>
          <p:cNvSpPr txBox="1"/>
          <p:nvPr/>
        </p:nvSpPr>
        <p:spPr>
          <a:xfrm>
            <a:off x="297605" y="2404396"/>
            <a:ext cx="2958778"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Mathematical simplification</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A505FE09-172D-4C3D-9B8D-688D911D7ACF}"/>
                  </a:ext>
                </a:extLst>
              </p:cNvPr>
              <p:cNvSpPr txBox="1"/>
              <p:nvPr/>
            </p:nvSpPr>
            <p:spPr>
              <a:xfrm>
                <a:off x="3255300" y="2120955"/>
                <a:ext cx="1490762" cy="976614"/>
              </a:xfrm>
              <a:prstGeom prst="rect">
                <a:avLst/>
              </a:prstGeom>
              <a:noFill/>
            </p:spPr>
            <p:txBody>
              <a:bodyPr wrap="square" rtlCol="0">
                <a:spAutoFit/>
              </a:bodyPr>
              <a:lstStyle/>
              <a:p>
                <a:pPr algn="just"/>
                <a14:m>
                  <m:oMathPara xmlns:m="http://schemas.openxmlformats.org/officeDocument/2006/math">
                    <m:oMathParaPr>
                      <m:jc m:val="centerGroup"/>
                    </m:oMathParaPr>
                    <m:oMath xmlns:m="http://schemas.openxmlformats.org/officeDocument/2006/math">
                      <m:sSub>
                        <m:sSubPr>
                          <m:ctrlPr>
                            <a:rPr lang="en-US" b="1" i="1" smtClean="0">
                              <a:solidFill>
                                <a:schemeClr val="tx1"/>
                              </a:solidFill>
                              <a:latin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cs typeface="Times New Roman" panose="02020603050405020304" pitchFamily="18" charset="0"/>
                            </a:rPr>
                            <m:t>𝑯</m:t>
                          </m:r>
                        </m:e>
                        <m:sub>
                          <m:r>
                            <a:rPr lang="en-US" b="1" i="1" smtClean="0">
                              <a:solidFill>
                                <a:schemeClr val="tx1"/>
                              </a:solidFill>
                              <a:latin typeface="Cambria Math" panose="02040503050406030204" pitchFamily="18" charset="0"/>
                              <a:cs typeface="Times New Roman" panose="02020603050405020304" pitchFamily="18" charset="0"/>
                            </a:rPr>
                            <m:t>𝒊</m:t>
                          </m:r>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𝜶</m:t>
                          </m:r>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ν</m:t>
                          </m:r>
                        </m:sub>
                      </m:sSub>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m:t>
                      </m:r>
                      <m:d>
                        <m:dPr>
                          <m:begChr m:val="{"/>
                          <m:endChr m:val=""/>
                          <m:ctrlP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dPr>
                        <m:e>
                          <m:m>
                            <m:mPr>
                              <m:mcs>
                                <m:mc>
                                  <m:mcPr>
                                    <m:count m:val="1"/>
                                    <m:mcJc m:val="center"/>
                                  </m:mcPr>
                                </m:mc>
                              </m:mcs>
                              <m:ctrlP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mPr>
                            <m:mr>
                              <m:e>
                                <m:sSub>
                                  <m:sSubPr>
                                    <m:ctrlP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𝜺</m:t>
                                    </m:r>
                                  </m:e>
                                  <m:sub>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𝜶</m:t>
                                    </m:r>
                                  </m:sub>
                                </m:sSub>
                              </m:e>
                            </m:mr>
                            <m:mr>
                              <m:e>
                                <m:sSub>
                                  <m:sSubPr>
                                    <m:ctrlPr>
                                      <a:rPr lang="en-US" b="1" i="1">
                                        <a:latin typeface="Cambria Math" panose="02040503050406030204" pitchFamily="18" charset="0"/>
                                        <a:cs typeface="Times New Roman" panose="02020603050405020304" pitchFamily="18" charset="0"/>
                                      </a:rPr>
                                    </m:ctrlPr>
                                  </m:sSubPr>
                                  <m:e>
                                    <m:r>
                                      <a:rPr lang="en-US" b="1" i="1">
                                        <a:latin typeface="Cambria Math" panose="02040503050406030204" pitchFamily="18" charset="0"/>
                                        <a:cs typeface="Times New Roman" panose="02020603050405020304" pitchFamily="18" charset="0"/>
                                      </a:rPr>
                                      <m:t>𝒕</m:t>
                                    </m:r>
                                  </m:e>
                                  <m:sub>
                                    <m:r>
                                      <a:rPr lang="en-US" b="1" i="1">
                                        <a:latin typeface="Cambria Math" panose="02040503050406030204" pitchFamily="18" charset="0"/>
                                        <a:ea typeface="Cambria Math" panose="02040503050406030204" pitchFamily="18" charset="0"/>
                                        <a:cs typeface="Times New Roman" panose="02020603050405020304" pitchFamily="18" charset="0"/>
                                      </a:rPr>
                                      <m:t>𝜶</m:t>
                                    </m:r>
                                    <m:r>
                                      <m:rPr>
                                        <m:sty m:val="p"/>
                                      </m:rPr>
                                      <a:rPr lang="el-GR" b="1" i="1">
                                        <a:latin typeface="Cambria Math" panose="02040503050406030204" pitchFamily="18" charset="0"/>
                                        <a:ea typeface="Cambria Math" panose="02040503050406030204" pitchFamily="18" charset="0"/>
                                        <a:cs typeface="Times New Roman" panose="02020603050405020304" pitchFamily="18" charset="0"/>
                                      </a:rPr>
                                      <m:t>ν</m:t>
                                    </m:r>
                                  </m:sub>
                                </m:sSub>
                              </m:e>
                            </m:mr>
                            <m:mr>
                              <m:e>
                                <m:r>
                                  <a:rPr lang="en-US" b="1" i="1" smtClean="0">
                                    <a:solidFill>
                                      <a:schemeClr val="tx1"/>
                                    </a:solidFill>
                                    <a:latin typeface="Cambria Math" panose="02040503050406030204" pitchFamily="18" charset="0"/>
                                    <a:ea typeface="Cambria Math" panose="02040503050406030204" pitchFamily="18" charset="0"/>
                                    <a:cs typeface="Times New Roman" panose="02020603050405020304" pitchFamily="18" charset="0"/>
                                  </a:rPr>
                                  <m:t>𝟎</m:t>
                                </m:r>
                              </m:e>
                            </m:mr>
                          </m:m>
                        </m:e>
                      </m:d>
                    </m:oMath>
                  </m:oMathPara>
                </a14:m>
                <a:endParaRPr lang="en-US" b="1" dirty="0">
                  <a:latin typeface="Times New Roman" panose="02020603050405020304" pitchFamily="18"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A505FE09-172D-4C3D-9B8D-688D911D7ACF}"/>
                  </a:ext>
                </a:extLst>
              </p:cNvPr>
              <p:cNvSpPr txBox="1">
                <a:spLocks noRot="1" noChangeAspect="1" noMove="1" noResize="1" noEditPoints="1" noAdjustHandles="1" noChangeArrowheads="1" noChangeShapeType="1" noTextEdit="1"/>
              </p:cNvSpPr>
              <p:nvPr/>
            </p:nvSpPr>
            <p:spPr>
              <a:xfrm>
                <a:off x="3255300" y="2120955"/>
                <a:ext cx="1490762" cy="97661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A6CF17CF-6382-438B-AD98-59A82F232C9B}"/>
                  </a:ext>
                </a:extLst>
              </p:cNvPr>
              <p:cNvSpPr txBox="1"/>
              <p:nvPr/>
            </p:nvSpPr>
            <p:spPr>
              <a:xfrm>
                <a:off x="4872716" y="2167610"/>
                <a:ext cx="1556076"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if </a:t>
                </a:r>
                <a14:m>
                  <m:oMath xmlns:m="http://schemas.openxmlformats.org/officeDocument/2006/math">
                    <m:r>
                      <a:rPr lang="en-US" b="1" i="1" smtClean="0">
                        <a:latin typeface="Cambria Math" panose="02040503050406030204" pitchFamily="18" charset="0"/>
                        <a:cs typeface="Times New Roman" panose="02020603050405020304" pitchFamily="18" charset="0"/>
                      </a:rPr>
                      <m:t>𝒊</m:t>
                    </m:r>
                    <m:r>
                      <a:rPr lang="en-US" b="1" i="1" smtClean="0">
                        <a:latin typeface="Cambria Math" panose="02040503050406030204" pitchFamily="18" charset="0"/>
                        <a:cs typeface="Times New Roman" panose="02020603050405020304" pitchFamily="18" charset="0"/>
                      </a:rPr>
                      <m:t>=</m:t>
                    </m:r>
                    <m:r>
                      <a:rPr lang="en-US" b="1" i="1" smtClean="0">
                        <a:latin typeface="Cambria Math" panose="02040503050406030204" pitchFamily="18" charset="0"/>
                        <a:cs typeface="Times New Roman" panose="02020603050405020304" pitchFamily="18" charset="0"/>
                      </a:rPr>
                      <m:t>𝒋</m:t>
                    </m:r>
                  </m:oMath>
                </a14:m>
                <a:r>
                  <a:rPr lang="en-US" b="1" dirty="0">
                    <a:latin typeface="Times New Roman" panose="02020603050405020304" pitchFamily="18" charset="0"/>
                    <a:cs typeface="Times New Roman" panose="02020603050405020304" pitchFamily="18" charset="0"/>
                  </a:rPr>
                  <a:t>; </a:t>
                </a:r>
                <a14:m>
                  <m:oMath xmlns:m="http://schemas.openxmlformats.org/officeDocument/2006/math">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r>
                      <a:rPr lang="en-US" b="1" i="1">
                        <a:latin typeface="Cambria Math" panose="02040503050406030204" pitchFamily="18" charset="0"/>
                        <a:cs typeface="Times New Roman" panose="02020603050405020304" pitchFamily="18" charset="0"/>
                      </a:rPr>
                      <m:t>=</m:t>
                    </m:r>
                    <m:r>
                      <m:rPr>
                        <m:sty m:val="p"/>
                      </m:rPr>
                      <a:rPr lang="el-GR" b="1" i="1" smtClean="0">
                        <a:latin typeface="Cambria Math" panose="02040503050406030204" pitchFamily="18" charset="0"/>
                        <a:cs typeface="Times New Roman" panose="02020603050405020304" pitchFamily="18" charset="0"/>
                      </a:rPr>
                      <m:t>ν</m:t>
                    </m:r>
                  </m:oMath>
                </a14:m>
                <a:endParaRPr lang="en-US" b="1" dirty="0">
                  <a:latin typeface="Times New Roman" panose="02020603050405020304" pitchFamily="18"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A6CF17CF-6382-438B-AD98-59A82F232C9B}"/>
                  </a:ext>
                </a:extLst>
              </p:cNvPr>
              <p:cNvSpPr txBox="1">
                <a:spLocks noRot="1" noChangeAspect="1" noMove="1" noResize="1" noEditPoints="1" noAdjustHandles="1" noChangeArrowheads="1" noChangeShapeType="1" noTextEdit="1"/>
              </p:cNvSpPr>
              <p:nvPr/>
            </p:nvSpPr>
            <p:spPr>
              <a:xfrm>
                <a:off x="4872716" y="2167610"/>
                <a:ext cx="1556076" cy="369332"/>
              </a:xfrm>
              <a:prstGeom prst="rect">
                <a:avLst/>
              </a:prstGeom>
              <a:blipFill>
                <a:blip r:embed="rId7"/>
                <a:stretch>
                  <a:fillRect l="-3125" t="-10000" b="-26667"/>
                </a:stretch>
              </a:blipFill>
            </p:spPr>
            <p:txBody>
              <a:bodyPr/>
              <a:lstStyle/>
              <a:p>
                <a:r>
                  <a:rPr lang="en-US">
                    <a:noFill/>
                  </a:rPr>
                  <a:t> </a:t>
                </a:r>
              </a:p>
            </p:txBody>
          </p:sp>
        </mc:Fallback>
      </mc:AlternateContent>
      <p:sp>
        <p:nvSpPr>
          <p:cNvPr id="16" name="TextBox 15">
            <a:extLst>
              <a:ext uri="{FF2B5EF4-FFF2-40B4-BE49-F238E27FC236}">
                <a16:creationId xmlns:a16="http://schemas.microsoft.com/office/drawing/2014/main" id="{E5DE7A09-6238-43CF-A6F4-0C01C5766B0D}"/>
              </a:ext>
            </a:extLst>
          </p:cNvPr>
          <p:cNvSpPr txBox="1"/>
          <p:nvPr/>
        </p:nvSpPr>
        <p:spPr>
          <a:xfrm>
            <a:off x="4872716" y="2424596"/>
            <a:ext cx="3197776"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if </a:t>
            </a:r>
            <a:r>
              <a:rPr lang="en-US" b="1" i="1" dirty="0" err="1">
                <a:latin typeface="Times New Roman" panose="02020603050405020304" pitchFamily="18" charset="0"/>
                <a:cs typeface="Times New Roman" panose="02020603050405020304" pitchFamily="18" charset="0"/>
              </a:rPr>
              <a:t>i</a:t>
            </a:r>
            <a:r>
              <a:rPr lang="en-US" b="1" dirty="0">
                <a:latin typeface="Times New Roman" panose="02020603050405020304" pitchFamily="18" charset="0"/>
                <a:cs typeface="Times New Roman" panose="02020603050405020304" pitchFamily="18" charset="0"/>
              </a:rPr>
              <a:t> and </a:t>
            </a:r>
            <a:r>
              <a:rPr lang="en-US" b="1" i="1" dirty="0">
                <a:latin typeface="Times New Roman" panose="02020603050405020304" pitchFamily="18" charset="0"/>
                <a:cs typeface="Times New Roman" panose="02020603050405020304" pitchFamily="18" charset="0"/>
              </a:rPr>
              <a:t>j</a:t>
            </a:r>
            <a:r>
              <a:rPr lang="en-US" b="1" dirty="0">
                <a:latin typeface="Times New Roman" panose="02020603050405020304" pitchFamily="18" charset="0"/>
                <a:cs typeface="Times New Roman" panose="02020603050405020304" pitchFamily="18" charset="0"/>
              </a:rPr>
              <a:t> are nearest </a:t>
            </a:r>
            <a:r>
              <a:rPr lang="en-US" b="1" dirty="0" err="1">
                <a:latin typeface="Times New Roman" panose="02020603050405020304" pitchFamily="18" charset="0"/>
                <a:cs typeface="Times New Roman" panose="02020603050405020304" pitchFamily="18" charset="0"/>
              </a:rPr>
              <a:t>neighbour</a:t>
            </a:r>
            <a:endParaRPr lang="en-US" b="1" dirty="0">
              <a:latin typeface="Times New Roman" panose="02020603050405020304" pitchFamily="18" charset="0"/>
              <a:cs typeface="Times New Roman" panose="02020603050405020304" pitchFamily="18" charset="0"/>
            </a:endParaRPr>
          </a:p>
        </p:txBody>
      </p:sp>
      <p:sp>
        <p:nvSpPr>
          <p:cNvPr id="17" name="TextBox 16">
            <a:extLst>
              <a:ext uri="{FF2B5EF4-FFF2-40B4-BE49-F238E27FC236}">
                <a16:creationId xmlns:a16="http://schemas.microsoft.com/office/drawing/2014/main" id="{D8D5BAE3-A10D-4E22-A13B-E935AC9B257F}"/>
              </a:ext>
            </a:extLst>
          </p:cNvPr>
          <p:cNvSpPr txBox="1"/>
          <p:nvPr/>
        </p:nvSpPr>
        <p:spPr>
          <a:xfrm>
            <a:off x="4872716" y="2681582"/>
            <a:ext cx="1142421" cy="369332"/>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otherwise</a:t>
            </a:r>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3904BB67-406A-4FD8-BA77-D4108A564AD0}"/>
                  </a:ext>
                </a:extLst>
              </p:cNvPr>
              <p:cNvSpPr txBox="1"/>
              <p:nvPr/>
            </p:nvSpPr>
            <p:spPr>
              <a:xfrm>
                <a:off x="297604" y="3401210"/>
                <a:ext cx="11057751" cy="395621"/>
              </a:xfrm>
              <a:prstGeom prst="rect">
                <a:avLst/>
              </a:prstGeom>
              <a:noFill/>
            </p:spPr>
            <p:txBody>
              <a:bodyPr wrap="square" rtlCol="0">
                <a:spAutoFit/>
              </a:bodyPr>
              <a:lstStyle/>
              <a:p>
                <a:pPr algn="just"/>
                <a:r>
                  <a:rPr lang="en-US" b="1" dirty="0">
                    <a:latin typeface="Times New Roman" panose="02020603050405020304" pitchFamily="18" charset="0"/>
                    <a:cs typeface="Times New Roman" panose="02020603050405020304" pitchFamily="18" charset="0"/>
                  </a:rPr>
                  <a:t>Orthogonal TBM: On this level of approximation, we frequently assume </a:t>
                </a:r>
                <a14:m>
                  <m:oMath xmlns:m="http://schemas.openxmlformats.org/officeDocument/2006/math">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cs typeface="Times New Roman" panose="02020603050405020304" pitchFamily="18" charset="0"/>
                          </a:rPr>
                          <m:t>𝑺</m:t>
                        </m:r>
                      </m:e>
                      <m:sub>
                        <m:r>
                          <a:rPr lang="en-US" b="1" i="1" smtClean="0">
                            <a:latin typeface="Cambria Math" panose="02040503050406030204" pitchFamily="18" charset="0"/>
                            <a:cs typeface="Times New Roman" panose="02020603050405020304" pitchFamily="18" charset="0"/>
                          </a:rPr>
                          <m:t>𝒊</m:t>
                        </m:r>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r>
                          <a:rPr lang="en-US" b="1" i="1" smtClean="0">
                            <a:latin typeface="Cambria Math" panose="02040503050406030204" pitchFamily="18" charset="0"/>
                            <a:ea typeface="Cambria Math" panose="02040503050406030204" pitchFamily="18" charset="0"/>
                            <a:cs typeface="Times New Roman" panose="02020603050405020304" pitchFamily="18" charset="0"/>
                          </a:rPr>
                          <m:t>,</m:t>
                        </m:r>
                        <m:r>
                          <a:rPr lang="en-US" b="1" i="1" smtClean="0">
                            <a:latin typeface="Cambria Math" panose="02040503050406030204" pitchFamily="18" charset="0"/>
                            <a:ea typeface="Cambria Math" panose="02040503050406030204" pitchFamily="18" charset="0"/>
                            <a:cs typeface="Times New Roman" panose="02020603050405020304" pitchFamily="18" charset="0"/>
                          </a:rPr>
                          <m:t>𝒋</m:t>
                        </m:r>
                        <m:r>
                          <m:rPr>
                            <m:sty m:val="p"/>
                          </m:rPr>
                          <a:rPr lang="el-GR" b="1" i="1" smtClean="0">
                            <a:latin typeface="Cambria Math" panose="02040503050406030204" pitchFamily="18" charset="0"/>
                            <a:ea typeface="Cambria Math" panose="02040503050406030204" pitchFamily="18" charset="0"/>
                            <a:cs typeface="Times New Roman" panose="02020603050405020304" pitchFamily="18" charset="0"/>
                          </a:rPr>
                          <m:t>ν</m:t>
                        </m:r>
                      </m:sub>
                    </m:sSub>
                    <m:r>
                      <a:rPr lang="en-US" b="1" i="1" smtClean="0">
                        <a:latin typeface="Cambria Math" panose="02040503050406030204" pitchFamily="18" charset="0"/>
                        <a:cs typeface="Times New Roman" panose="02020603050405020304" pitchFamily="18" charset="0"/>
                      </a:rPr>
                      <m:t>=</m:t>
                    </m:r>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ea typeface="Cambria Math" panose="02040503050406030204" pitchFamily="18" charset="0"/>
                            <a:cs typeface="Times New Roman" panose="02020603050405020304" pitchFamily="18" charset="0"/>
                          </a:rPr>
                          <m:t>𝜹</m:t>
                        </m:r>
                      </m:e>
                      <m:sub>
                        <m:r>
                          <a:rPr lang="en-US" b="1" i="1" smtClean="0">
                            <a:latin typeface="Cambria Math" panose="02040503050406030204" pitchFamily="18" charset="0"/>
                            <a:cs typeface="Times New Roman" panose="02020603050405020304" pitchFamily="18" charset="0"/>
                          </a:rPr>
                          <m:t>𝒊𝒋</m:t>
                        </m:r>
                      </m:sub>
                    </m:sSub>
                    <m:sSub>
                      <m:sSubPr>
                        <m:ctrlPr>
                          <a:rPr lang="en-US" b="1" i="1" smtClean="0">
                            <a:latin typeface="Cambria Math" panose="02040503050406030204" pitchFamily="18" charset="0"/>
                            <a:cs typeface="Times New Roman" panose="02020603050405020304" pitchFamily="18" charset="0"/>
                          </a:rPr>
                        </m:ctrlPr>
                      </m:sSubPr>
                      <m:e>
                        <m:r>
                          <a:rPr lang="en-US" b="1" i="1" smtClean="0">
                            <a:latin typeface="Cambria Math" panose="02040503050406030204" pitchFamily="18" charset="0"/>
                            <a:ea typeface="Cambria Math" panose="02040503050406030204" pitchFamily="18" charset="0"/>
                            <a:cs typeface="Times New Roman" panose="02020603050405020304" pitchFamily="18" charset="0"/>
                          </a:rPr>
                          <m:t>𝜹</m:t>
                        </m:r>
                      </m:e>
                      <m:sub>
                        <m:r>
                          <a:rPr lang="en-US" b="1" i="1" smtClean="0">
                            <a:latin typeface="Cambria Math" panose="02040503050406030204" pitchFamily="18" charset="0"/>
                            <a:ea typeface="Cambria Math" panose="02040503050406030204" pitchFamily="18" charset="0"/>
                            <a:cs typeface="Times New Roman" panose="02020603050405020304" pitchFamily="18" charset="0"/>
                          </a:rPr>
                          <m:t>𝜶</m:t>
                        </m:r>
                        <m:r>
                          <m:rPr>
                            <m:sty m:val="p"/>
                          </m:rPr>
                          <a:rPr lang="el-GR" b="1" i="1" smtClean="0">
                            <a:latin typeface="Cambria Math" panose="02040503050406030204" pitchFamily="18" charset="0"/>
                            <a:ea typeface="Cambria Math" panose="02040503050406030204" pitchFamily="18" charset="0"/>
                            <a:cs typeface="Times New Roman" panose="02020603050405020304" pitchFamily="18" charset="0"/>
                          </a:rPr>
                          <m:t>ν</m:t>
                        </m:r>
                      </m:sub>
                    </m:sSub>
                  </m:oMath>
                </a14:m>
                <a:r>
                  <a:rPr lang="en-US" b="1" dirty="0">
                    <a:latin typeface="Times New Roman" panose="02020603050405020304" pitchFamily="18" charset="0"/>
                    <a:cs typeface="Times New Roman" panose="02020603050405020304" pitchFamily="18" charset="0"/>
                  </a:rPr>
                  <a:t> (ideal orthogonal basis)</a:t>
                </a:r>
              </a:p>
            </p:txBody>
          </p:sp>
        </mc:Choice>
        <mc:Fallback xmlns="">
          <p:sp>
            <p:nvSpPr>
              <p:cNvPr id="19" name="TextBox 18">
                <a:extLst>
                  <a:ext uri="{FF2B5EF4-FFF2-40B4-BE49-F238E27FC236}">
                    <a16:creationId xmlns:a16="http://schemas.microsoft.com/office/drawing/2014/main" id="{3904BB67-406A-4FD8-BA77-D4108A564AD0}"/>
                  </a:ext>
                </a:extLst>
              </p:cNvPr>
              <p:cNvSpPr txBox="1">
                <a:spLocks noRot="1" noChangeAspect="1" noMove="1" noResize="1" noEditPoints="1" noAdjustHandles="1" noChangeArrowheads="1" noChangeShapeType="1" noTextEdit="1"/>
              </p:cNvSpPr>
              <p:nvPr/>
            </p:nvSpPr>
            <p:spPr>
              <a:xfrm>
                <a:off x="297604" y="3401210"/>
                <a:ext cx="11057751" cy="395621"/>
              </a:xfrm>
              <a:prstGeom prst="rect">
                <a:avLst/>
              </a:prstGeom>
              <a:blipFill>
                <a:blip r:embed="rId8"/>
                <a:stretch>
                  <a:fillRect l="-496" t="-9231" r="-276" b="-16923"/>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A34925FF-7CD7-477D-AB6C-99685241797B}"/>
              </a:ext>
            </a:extLst>
          </p:cNvPr>
          <p:cNvPicPr>
            <a:picLocks noChangeAspect="1"/>
          </p:cNvPicPr>
          <p:nvPr/>
        </p:nvPicPr>
        <p:blipFill rotWithShape="1">
          <a:blip r:embed="rId9">
            <a:extLst>
              <a:ext uri="{28A0092B-C50C-407E-A947-70E740481C1C}">
                <a14:useLocalDpi xmlns:a14="http://schemas.microsoft.com/office/drawing/2010/main" val="0"/>
              </a:ext>
            </a:extLst>
          </a:blip>
          <a:srcRect l="5908" t="2260" b="1"/>
          <a:stretch/>
        </p:blipFill>
        <p:spPr>
          <a:xfrm>
            <a:off x="3391462" y="3781065"/>
            <a:ext cx="4504679" cy="2834107"/>
          </a:xfrm>
          <a:prstGeom prst="rect">
            <a:avLst/>
          </a:prstGeom>
        </p:spPr>
      </p:pic>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B6550F99-4A59-4368-B996-16E25B23976B}"/>
                  </a:ext>
                </a:extLst>
              </p:cNvPr>
              <p:cNvSpPr txBox="1"/>
              <p:nvPr/>
            </p:nvSpPr>
            <p:spPr>
              <a:xfrm>
                <a:off x="8403879" y="4254802"/>
                <a:ext cx="2503629" cy="369332"/>
              </a:xfrm>
              <a:prstGeom prst="rect">
                <a:avLst/>
              </a:prstGeom>
              <a:noFill/>
            </p:spPr>
            <p:txBody>
              <a:bodyPr wrap="square" rtlCol="0">
                <a:spAutoFit/>
              </a:bodyPr>
              <a:lstStyle/>
              <a:p>
                <a:pPr algn="just"/>
                <a:r>
                  <a:rPr lang="en-US" b="1" dirty="0">
                    <a:solidFill>
                      <a:srgbClr val="00B050"/>
                    </a:solidFill>
                    <a:latin typeface="Times New Roman" panose="02020603050405020304" pitchFamily="18" charset="0"/>
                    <a:cs typeface="Times New Roman" panose="02020603050405020304" pitchFamily="18" charset="0"/>
                  </a:rPr>
                  <a:t>Green</a:t>
                </a:r>
                <a:r>
                  <a:rPr lang="en-US" b="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b="1" i="1" smtClean="0">
                            <a:latin typeface="Cambria Math" panose="02040503050406030204" pitchFamily="18" charset="0"/>
                            <a:cs typeface="Times New Roman" panose="02020603050405020304" pitchFamily="18" charset="0"/>
                          </a:rPr>
                        </m:ctrlPr>
                      </m:sSupPr>
                      <m:e>
                        <m:r>
                          <a:rPr lang="en-US" b="1" i="1" smtClean="0">
                            <a:latin typeface="Cambria Math" panose="02040503050406030204" pitchFamily="18" charset="0"/>
                            <a:cs typeface="Times New Roman" panose="02020603050405020304" pitchFamily="18" charset="0"/>
                          </a:rPr>
                          <m:t>𝟏</m:t>
                        </m:r>
                      </m:e>
                      <m:sup>
                        <m:r>
                          <a:rPr lang="en-US" b="1" i="1" smtClean="0">
                            <a:latin typeface="Cambria Math" panose="02040503050406030204" pitchFamily="18" charset="0"/>
                            <a:cs typeface="Times New Roman" panose="02020603050405020304" pitchFamily="18" charset="0"/>
                          </a:rPr>
                          <m:t>𝒔𝒕</m:t>
                        </m:r>
                      </m:sup>
                    </m:sSup>
                  </m:oMath>
                </a14:m>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neighbour</a:t>
                </a:r>
                <a:endParaRPr lang="en-US" b="1" dirty="0">
                  <a:latin typeface="Times New Roman" panose="02020603050405020304" pitchFamily="18" charset="0"/>
                  <a:cs typeface="Times New Roman" panose="02020603050405020304" pitchFamily="18" charset="0"/>
                </a:endParaRPr>
              </a:p>
            </p:txBody>
          </p:sp>
        </mc:Choice>
        <mc:Fallback xmlns="">
          <p:sp>
            <p:nvSpPr>
              <p:cNvPr id="20" name="TextBox 19">
                <a:extLst>
                  <a:ext uri="{FF2B5EF4-FFF2-40B4-BE49-F238E27FC236}">
                    <a16:creationId xmlns:a16="http://schemas.microsoft.com/office/drawing/2014/main" id="{B6550F99-4A59-4368-B996-16E25B23976B}"/>
                  </a:ext>
                </a:extLst>
              </p:cNvPr>
              <p:cNvSpPr txBox="1">
                <a:spLocks noRot="1" noChangeAspect="1" noMove="1" noResize="1" noEditPoints="1" noAdjustHandles="1" noChangeArrowheads="1" noChangeShapeType="1" noTextEdit="1"/>
              </p:cNvSpPr>
              <p:nvPr/>
            </p:nvSpPr>
            <p:spPr>
              <a:xfrm>
                <a:off x="8403879" y="4254802"/>
                <a:ext cx="2503629" cy="369332"/>
              </a:xfrm>
              <a:prstGeom prst="rect">
                <a:avLst/>
              </a:prstGeom>
              <a:blipFill>
                <a:blip r:embed="rId10"/>
                <a:stretch>
                  <a:fillRect l="-2195" t="-9836" r="-1951" b="-2459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50CB333C-24C3-4F9C-BA32-FF4283FF1567}"/>
                  </a:ext>
                </a:extLst>
              </p:cNvPr>
              <p:cNvSpPr txBox="1"/>
              <p:nvPr/>
            </p:nvSpPr>
            <p:spPr>
              <a:xfrm>
                <a:off x="8403879" y="4856745"/>
                <a:ext cx="2428985" cy="379784"/>
              </a:xfrm>
              <a:prstGeom prst="rect">
                <a:avLst/>
              </a:prstGeom>
              <a:noFill/>
            </p:spPr>
            <p:txBody>
              <a:bodyPr wrap="square" rtlCol="0">
                <a:spAutoFit/>
              </a:bodyPr>
              <a:lstStyle/>
              <a:p>
                <a:pPr algn="just"/>
                <a:r>
                  <a:rPr lang="en-US" b="1" dirty="0">
                    <a:solidFill>
                      <a:srgbClr val="0070C0"/>
                    </a:solidFill>
                    <a:latin typeface="Times New Roman" panose="02020603050405020304" pitchFamily="18" charset="0"/>
                    <a:cs typeface="Times New Roman" panose="02020603050405020304" pitchFamily="18" charset="0"/>
                  </a:rPr>
                  <a:t>Blue</a:t>
                </a:r>
                <a:r>
                  <a:rPr lang="en-US" b="1" dirty="0">
                    <a:latin typeface="Times New Roman" panose="02020603050405020304" pitchFamily="18" charset="0"/>
                    <a:cs typeface="Times New Roman" panose="02020603050405020304" pitchFamily="18" charset="0"/>
                  </a:rPr>
                  <a:t> — </a:t>
                </a:r>
                <a14:m>
                  <m:oMath xmlns:m="http://schemas.openxmlformats.org/officeDocument/2006/math">
                    <m:sSup>
                      <m:sSupPr>
                        <m:ctrlPr>
                          <a:rPr lang="en-US" b="1" i="1" smtClean="0">
                            <a:latin typeface="Cambria Math" panose="02040503050406030204" pitchFamily="18" charset="0"/>
                            <a:cs typeface="Times New Roman" panose="02020603050405020304" pitchFamily="18" charset="0"/>
                          </a:rPr>
                        </m:ctrlPr>
                      </m:sSupPr>
                      <m:e>
                        <m:r>
                          <a:rPr lang="en-US" b="1" i="1" smtClean="0">
                            <a:latin typeface="Cambria Math" panose="02040503050406030204" pitchFamily="18" charset="0"/>
                            <a:cs typeface="Times New Roman" panose="02020603050405020304" pitchFamily="18" charset="0"/>
                          </a:rPr>
                          <m:t>𝟐</m:t>
                        </m:r>
                      </m:e>
                      <m:sup>
                        <m:r>
                          <a:rPr lang="en-US" b="1" i="1" smtClean="0">
                            <a:latin typeface="Cambria Math" panose="02040503050406030204" pitchFamily="18" charset="0"/>
                            <a:cs typeface="Times New Roman" panose="02020603050405020304" pitchFamily="18" charset="0"/>
                          </a:rPr>
                          <m:t>𝒏𝒅</m:t>
                        </m:r>
                      </m:sup>
                    </m:sSup>
                  </m:oMath>
                </a14:m>
                <a:r>
                  <a:rPr lang="en-US" b="1" dirty="0">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neighbour</a:t>
                </a:r>
                <a:endParaRPr lang="en-US" b="1" dirty="0">
                  <a:latin typeface="Times New Roman" panose="02020603050405020304" pitchFamily="18" charset="0"/>
                  <a:cs typeface="Times New Roman" panose="02020603050405020304" pitchFamily="18" charset="0"/>
                </a:endParaRPr>
              </a:p>
            </p:txBody>
          </p:sp>
        </mc:Choice>
        <mc:Fallback xmlns="">
          <p:sp>
            <p:nvSpPr>
              <p:cNvPr id="21" name="TextBox 20">
                <a:extLst>
                  <a:ext uri="{FF2B5EF4-FFF2-40B4-BE49-F238E27FC236}">
                    <a16:creationId xmlns:a16="http://schemas.microsoft.com/office/drawing/2014/main" id="{50CB333C-24C3-4F9C-BA32-FF4283FF1567}"/>
                  </a:ext>
                </a:extLst>
              </p:cNvPr>
              <p:cNvSpPr txBox="1">
                <a:spLocks noRot="1" noChangeAspect="1" noMove="1" noResize="1" noEditPoints="1" noAdjustHandles="1" noChangeArrowheads="1" noChangeShapeType="1" noTextEdit="1"/>
              </p:cNvSpPr>
              <p:nvPr/>
            </p:nvSpPr>
            <p:spPr>
              <a:xfrm>
                <a:off x="8403879" y="4856745"/>
                <a:ext cx="2428985" cy="379784"/>
              </a:xfrm>
              <a:prstGeom prst="rect">
                <a:avLst/>
              </a:prstGeom>
              <a:blipFill>
                <a:blip r:embed="rId11"/>
                <a:stretch>
                  <a:fillRect l="-2261" t="-6452" r="-1005" b="-25806"/>
                </a:stretch>
              </a:blipFill>
            </p:spPr>
            <p:txBody>
              <a:bodyPr/>
              <a:lstStyle/>
              <a:p>
                <a:r>
                  <a:rPr lang="en-US">
                    <a:noFill/>
                  </a:rPr>
                  <a:t> </a:t>
                </a:r>
              </a:p>
            </p:txBody>
          </p:sp>
        </mc:Fallback>
      </mc:AlternateContent>
      <p:sp>
        <p:nvSpPr>
          <p:cNvPr id="6" name="Left Brace 5">
            <a:extLst>
              <a:ext uri="{FF2B5EF4-FFF2-40B4-BE49-F238E27FC236}">
                <a16:creationId xmlns:a16="http://schemas.microsoft.com/office/drawing/2014/main" id="{25E50A1F-50F7-4A90-9899-C5CD8D55D444}"/>
              </a:ext>
            </a:extLst>
          </p:cNvPr>
          <p:cNvSpPr/>
          <p:nvPr/>
        </p:nvSpPr>
        <p:spPr>
          <a:xfrm>
            <a:off x="8247294" y="4219210"/>
            <a:ext cx="243084" cy="988101"/>
          </a:xfrm>
          <a:prstGeom prst="leftBrace">
            <a:avLst/>
          </a:prstGeom>
          <a:ln w="254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9738C448-77F3-44BE-B15D-6AC176D0D96B}"/>
              </a:ext>
            </a:extLst>
          </p:cNvPr>
          <p:cNvCxnSpPr>
            <a:cxnSpLocks/>
          </p:cNvCxnSpPr>
          <p:nvPr/>
        </p:nvCxnSpPr>
        <p:spPr>
          <a:xfrm flipH="1">
            <a:off x="5533948" y="4713260"/>
            <a:ext cx="2602346" cy="446570"/>
          </a:xfrm>
          <a:prstGeom prst="straightConnector1">
            <a:avLst/>
          </a:prstGeom>
          <a:ln w="25400">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89096283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Title 1"/>
          <p:cNvSpPr txBox="1">
            <a:spLocks/>
          </p:cNvSpPr>
          <p:nvPr/>
        </p:nvSpPr>
        <p:spPr>
          <a:xfrm>
            <a:off x="1981200" y="4903102"/>
            <a:ext cx="7647280" cy="116518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en-US" sz="2000" b="1" dirty="0">
                <a:effectLst/>
                <a:latin typeface="Times New Roman" panose="02020603050405020304" pitchFamily="18" charset="0"/>
                <a:cs typeface="Times New Roman" panose="02020603050405020304" pitchFamily="18" charset="0"/>
              </a:rPr>
              <a:t>That's all for this </a:t>
            </a:r>
            <a:r>
              <a:rPr lang="en-US" sz="2000" b="1" dirty="0">
                <a:latin typeface="Times New Roman" panose="02020603050405020304" pitchFamily="18" charset="0"/>
                <a:cs typeface="Times New Roman" panose="02020603050405020304" pitchFamily="18" charset="0"/>
              </a:rPr>
              <a:t>s</a:t>
            </a:r>
            <a:r>
              <a:rPr lang="en-US" sz="2000" b="1" dirty="0">
                <a:effectLst/>
                <a:latin typeface="Times New Roman" panose="02020603050405020304" pitchFamily="18" charset="0"/>
                <a:cs typeface="Times New Roman" panose="02020603050405020304" pitchFamily="18" charset="0"/>
              </a:rPr>
              <a:t>ession</a:t>
            </a:r>
          </a:p>
          <a:p>
            <a:endParaRPr lang="en-US" sz="2000" b="1" dirty="0">
              <a:effectLst/>
              <a:latin typeface="Times New Roman" panose="02020603050405020304" pitchFamily="18" charset="0"/>
              <a:cs typeface="Times New Roman" panose="02020603050405020304" pitchFamily="18" charset="0"/>
            </a:endParaRPr>
          </a:p>
          <a:p>
            <a:r>
              <a:rPr lang="en-US" sz="2000" b="1" dirty="0">
                <a:effectLst/>
                <a:latin typeface="Times New Roman" panose="02020603050405020304" pitchFamily="18" charset="0"/>
                <a:cs typeface="Times New Roman" panose="02020603050405020304" pitchFamily="18" charset="0"/>
              </a:rPr>
              <a:t>Thank you for your attention and great participation</a:t>
            </a:r>
          </a:p>
        </p:txBody>
      </p:sp>
      <p:sp>
        <p:nvSpPr>
          <p:cNvPr id="6" name="Rectangle 5"/>
          <p:cNvSpPr/>
          <p:nvPr/>
        </p:nvSpPr>
        <p:spPr>
          <a:xfrm rot="10800000">
            <a:off x="-1" y="6647009"/>
            <a:ext cx="12191999" cy="214833"/>
          </a:xfrm>
          <a:prstGeom prst="rect">
            <a:avLst/>
          </a:prstGeom>
          <a:gradFill>
            <a:gsLst>
              <a:gs pos="100000">
                <a:srgbClr val="CE57C1"/>
              </a:gs>
              <a:gs pos="27000">
                <a:srgbClr val="000044"/>
              </a:gs>
            </a:gsLst>
            <a:lin ang="13500000" scaled="0"/>
          </a:gra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 name="Content Placeholder 1"/>
          <p:cNvPicPr>
            <a:picLocks noGrp="1" noChangeAspect="1"/>
          </p:cNvPicPr>
          <p:nvPr>
            <p:ph idx="1"/>
          </p:nvPr>
        </p:nvPicPr>
        <p:blipFill rotWithShape="1">
          <a:blip r:embed="rId3">
            <a:extLst>
              <a:ext uri="{28A0092B-C50C-407E-A947-70E740481C1C}">
                <a14:useLocalDpi xmlns:a14="http://schemas.microsoft.com/office/drawing/2010/main" val="0"/>
              </a:ext>
            </a:extLst>
          </a:blip>
          <a:srcRect t="11497" b="11314"/>
          <a:stretch/>
        </p:blipFill>
        <p:spPr>
          <a:xfrm>
            <a:off x="1473200" y="0"/>
            <a:ext cx="9262533" cy="4768850"/>
          </a:xfrm>
        </p:spPr>
      </p:pic>
      <p:pic>
        <p:nvPicPr>
          <p:cNvPr id="8" name="Picture 7" descr="Shield-navy(rgb for online).png"/>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531333" y="6199957"/>
            <a:ext cx="356139" cy="444524"/>
          </a:xfrm>
          <a:prstGeom prst="rect">
            <a:avLst/>
          </a:prstGeom>
        </p:spPr>
      </p:pic>
      <p:sp>
        <p:nvSpPr>
          <p:cNvPr id="4" name="Slide Number Placeholder 3">
            <a:extLst>
              <a:ext uri="{FF2B5EF4-FFF2-40B4-BE49-F238E27FC236}">
                <a16:creationId xmlns:a16="http://schemas.microsoft.com/office/drawing/2014/main" id="{7B9B7A8B-B62A-42E2-9B1F-59950FA368E9}"/>
              </a:ext>
            </a:extLst>
          </p:cNvPr>
          <p:cNvSpPr>
            <a:spLocks noGrp="1"/>
          </p:cNvSpPr>
          <p:nvPr>
            <p:ph type="sldNum" sz="quarter" idx="12"/>
          </p:nvPr>
        </p:nvSpPr>
        <p:spPr>
          <a:xfrm>
            <a:off x="11726332" y="6643166"/>
            <a:ext cx="465667" cy="214834"/>
          </a:xfrm>
        </p:spPr>
        <p:txBody>
          <a:bodyPr/>
          <a:lstStyle/>
          <a:p>
            <a:fld id="{3F1413E9-7962-4F18-9234-18DB3F15F116}" type="slidenum">
              <a:rPr lang="en-US" sz="1600" b="1" smtClean="0">
                <a:solidFill>
                  <a:schemeClr val="tx1"/>
                </a:solidFill>
                <a:latin typeface="Times New Roman" panose="02020603050405020304" pitchFamily="18" charset="0"/>
                <a:cs typeface="Times New Roman" panose="02020603050405020304" pitchFamily="18" charset="0"/>
              </a:rPr>
              <a:t>17</a:t>
            </a:fld>
            <a:endParaRPr lang="en-US" sz="16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037268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2920</TotalTime>
  <Words>1863</Words>
  <Application>Microsoft Office PowerPoint</Application>
  <PresentationFormat>Widescreen</PresentationFormat>
  <Paragraphs>258</Paragraphs>
  <Slides>17</Slides>
  <Notes>14</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宋体</vt:lpstr>
      <vt:lpstr>Yu Mincho Light</vt:lpstr>
      <vt:lpstr>Arial</vt:lpstr>
      <vt:lpstr>Calibri</vt:lpstr>
      <vt:lpstr>Calibri Light</vt:lpstr>
      <vt:lpstr>Cambria Math</vt:lpstr>
      <vt:lpstr>Times New Roman</vt:lpstr>
      <vt:lpstr>Office Theme</vt:lpstr>
      <vt:lpstr>Atomic-Level Materials Simulation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Kenan Song</dc:creator>
  <cp:lastModifiedBy>Kenan Song</cp:lastModifiedBy>
  <cp:revision>313</cp:revision>
  <dcterms:created xsi:type="dcterms:W3CDTF">2026-01-31T01:24:38Z</dcterms:created>
  <dcterms:modified xsi:type="dcterms:W3CDTF">2026-09-17T15:30:07Z</dcterms:modified>
</cp:coreProperties>
</file>