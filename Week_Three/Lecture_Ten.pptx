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87" r:id="rId2"/>
    <p:sldId id="297" r:id="rId3"/>
    <p:sldId id="296" r:id="rId4"/>
    <p:sldId id="310" r:id="rId5"/>
    <p:sldId id="282" r:id="rId6"/>
    <p:sldId id="295" r:id="rId7"/>
    <p:sldId id="311" r:id="rId8"/>
    <p:sldId id="317" r:id="rId9"/>
    <p:sldId id="315" r:id="rId10"/>
    <p:sldId id="314" r:id="rId11"/>
    <p:sldId id="294" r:id="rId12"/>
    <p:sldId id="293" r:id="rId13"/>
    <p:sldId id="288" r:id="rId14"/>
    <p:sldId id="292" r:id="rId15"/>
    <p:sldId id="318" r:id="rId16"/>
    <p:sldId id="300" r:id="rId17"/>
    <p:sldId id="319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nan Song" initials="KS" lastIdx="1" clrIdx="0">
    <p:extLst>
      <p:ext uri="{19B8F6BF-5375-455C-9EA6-DF929625EA0E}">
        <p15:presenceInfo xmlns:p15="http://schemas.microsoft.com/office/powerpoint/2012/main" userId="S-1-5-21-1612857076-1602373485-3872515628-2187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3B92"/>
    <a:srgbClr val="17DCF1"/>
    <a:srgbClr val="2AC0DE"/>
    <a:srgbClr val="5AA4AE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68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689EB-B573-45B5-8193-6506A546A233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6C2B68-83DF-49A6-B67F-93C713339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06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English Title:</a:t>
            </a:r>
            <a:r>
              <a:rPr lang="en-US" baseline="0" dirty="0"/>
              <a:t> Uppercase, Calibri size 60, XJTLU Navy</a:t>
            </a:r>
          </a:p>
          <a:p>
            <a:r>
              <a:rPr lang="en-US" baseline="0" dirty="0"/>
              <a:t>English Subtitle: Uppercase, Calibri size 36, XJTLU Navy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175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58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632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175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376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2331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964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865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8600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4102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8866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952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8985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3335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Images should be RGB </a:t>
            </a:r>
            <a:r>
              <a:rPr lang="en-US" baseline="0" dirty="0" err="1"/>
              <a:t>colour</a:t>
            </a:r>
            <a:r>
              <a:rPr lang="en-US" baseline="0" dirty="0"/>
              <a:t> setting</a:t>
            </a:r>
            <a:endParaRPr lang="en-GB" dirty="0"/>
          </a:p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096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B7692-00CC-4D85-9834-54FA546E0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BF3BF9-70F2-45B9-A1D0-4963FD061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77331-7A7B-42A4-8956-4C3988580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956DF-857D-4461-96F1-6776F2F5B81A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8333B-41CE-4DBB-8024-E64BC8645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DBD60-F226-4CCE-B568-37C63D52F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21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30DEE-6A0A-4E5E-BD87-C360D90C5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38C41-B259-4216-A4AE-A34A5F2F0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8CC75-9F97-437C-8F04-2AB43226D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FDE24-EE6B-4EF8-8991-8B8343E53DA5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CC0F1-7F09-4639-AAC3-CBF2D0C15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4FA7F-6A27-46B3-B0AB-8D36E075A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492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3E709-D79E-4876-976F-555CD9BA7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3D221-9F5E-416A-965C-16C7E4E96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AD0CA-E413-4683-8359-C18C00A07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00866-C47B-4495-84B2-8E7F96E5ED1E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F851E-5772-4A09-A7D2-CAD517CB1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1CF18-E81B-4A0A-8AE9-2F923CCB2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318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D339D-1AE7-4F74-A256-CD864A868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60A28-5C7C-4DEB-82A1-EA2D1412BD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6205B-E420-4090-BE4C-CB3DE793B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9074B-1019-4C5B-AE52-6E54FBE37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9162-9FAA-4B81-BEAA-152A7E130A59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0AFB0-DB18-44EF-BF9A-172202984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A5C97-5BDD-491E-82EC-271512112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5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C6061-E0A4-4393-AF11-3C0D33484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66B1-5D25-436B-96BF-63B37C90C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CBD42F-949D-41FC-90EA-B9DFFC4FFE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110839-8A42-43A4-8417-E904FFC1B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E8F3B7-A7D7-4C4A-88DE-01C6743CB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71CA0C-A291-4177-B7CA-D56BB28CA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0AA3F-E19F-4C95-A255-595B77933C71}" type="datetime1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ECE47C-4F84-4805-A722-D45FF454B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1C8387-7D60-41D8-B1D7-139D268FE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967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AD6E6-19B9-404C-BEF3-C4046C57F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062F18-B541-43FB-B4FE-D708EC248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C51F-E268-4F35-A5AE-85DF94254B1F}" type="datetime1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44C150-377C-48C4-B3A2-A62D81767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3399CE-19B6-4E67-B4FD-CF9D2CD57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540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DC0FFC-959C-4911-9426-696686E48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48AEF-B9EC-465C-A3A8-E3FD06F0D5F4}" type="datetime1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83F369-89EC-460C-94C3-421DC2C0A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A08C1-6B26-4254-824E-92D02CC5F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746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A0620-7C37-4AE7-B35A-B3CCFCD43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E0477-81FB-4676-B603-792BF971C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61B079-52FE-4184-A30D-642CAC7CC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377D5-71CD-4409-998F-EC76B53F6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D042-DCBA-430F-B26F-F760C65A05B9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9643E-6933-42EC-9551-BB686E0F4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9EA81A-586C-4E23-B657-06A96CC49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83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3ECD3-7EE6-4019-8615-7EF8EBCB5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1992BD-1AD0-42F6-8302-BCEB72EFC1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5D11A7-A33F-4F56-9FBA-0D641F887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76D814-0949-4667-9117-2B4510DBF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EA0A4-2F41-4943-887A-A8FF9AA79713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77BCAC-8594-4E8C-ACF3-DA2BDA5F1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BC2B3E-4229-457F-BB19-EE896CB51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039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AE555-085D-470D-881D-459E91C65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8C7BDB-1490-403F-B3A1-0B70FE1E4A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2A618-3458-4895-B9ED-98EB886D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C14C1-87D3-45D2-A1E2-C7B8C47C5AAC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8D71D-4EEF-4333-8536-4BBD3CB56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C000D-8BC4-4EEF-B74F-67FE82D2F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930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01B6A8-9551-4681-ABF5-D1963B41B6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CB4652-08A6-45D3-B4FB-CD7C24E8E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F9ABF-6A2D-44D0-91AD-83C82B1C0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2149B-A775-469F-A1A5-94C33EAFD592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82D59-74B6-43D5-8B47-D3312C182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485ED-9279-4CF5-B7BF-D2271F55B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370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D87A8F-22C0-48C0-BE22-24EDEB965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06A83-6023-42A2-8B75-C26EED93C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0EF81-77D8-4AC0-B5AB-7E680285EB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4AB26-75B2-4388-B3AB-EA05CB8D99ED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B84D1-A4B4-457A-B215-6194F092E3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C8477-C608-42E5-94FD-5D17EC1FA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27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emf"/><Relationship Id="rId7" Type="http://schemas.openxmlformats.org/officeDocument/2006/relationships/image" Target="../media/image11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emf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emf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emf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2.emf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29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.emf"/><Relationship Id="rId7" Type="http://schemas.openxmlformats.org/officeDocument/2006/relationships/image" Target="../media/image33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emf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2.emf"/><Relationship Id="rId9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1.emf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2.emf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1.emf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2.emf"/><Relationship Id="rId9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2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3" Type="http://schemas.openxmlformats.org/officeDocument/2006/relationships/image" Target="../media/image1.emf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2.emf"/><Relationship Id="rId9" Type="http://schemas.openxmlformats.org/officeDocument/2006/relationships/image" Target="../media/image6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.emf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2.emf"/><Relationship Id="rId9" Type="http://schemas.openxmlformats.org/officeDocument/2006/relationships/image" Target="../media/image7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12348" y="0"/>
            <a:ext cx="1881342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1845734" y="539271"/>
            <a:ext cx="9381066" cy="2576972"/>
          </a:xfrm>
        </p:spPr>
        <p:txBody>
          <a:bodyPr>
            <a:noAutofit/>
          </a:bodyPr>
          <a:lstStyle/>
          <a:p>
            <a:r>
              <a:rPr lang="en-US" b="1" cap="all" dirty="0">
                <a:solidFill>
                  <a:srgbClr val="000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Atomic-Level Materials Simulation</a:t>
            </a:r>
            <a:endParaRPr lang="en-US" b="1" cap="all" spc="300" dirty="0">
              <a:solidFill>
                <a:srgbClr val="00004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931788"/>
            <a:ext cx="3356173" cy="717897"/>
          </a:xfrm>
          <a:prstGeom prst="rect">
            <a:avLst/>
          </a:prstGeom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5CBD63E4-A19B-48E4-92A6-80AB9D355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43407" y="4313247"/>
            <a:ext cx="3429000" cy="1655762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Kenan Song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Chips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Kenan.Song@xjtlu.edu.cn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Office: C5007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63B04092-2132-437A-A663-8A0C6DF466AF}"/>
              </a:ext>
            </a:extLst>
          </p:cNvPr>
          <p:cNvSpPr txBox="1">
            <a:spLocks/>
          </p:cNvSpPr>
          <p:nvPr/>
        </p:nvSpPr>
        <p:spPr>
          <a:xfrm>
            <a:off x="4491576" y="3379839"/>
            <a:ext cx="3492492" cy="42660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Code: MES306TC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411CA1-062B-44DF-A595-5CC38317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12600" y="6643166"/>
            <a:ext cx="279400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730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00199" y="8463"/>
            <a:ext cx="8864600" cy="1354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fr-F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Bloch’s</a:t>
            </a:r>
            <a:r>
              <a:rPr lang="fr-F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Theorem</a:t>
            </a:r>
            <a:r>
              <a:rPr lang="fr-F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Multi-</a:t>
            </a:r>
            <a:r>
              <a:rPr lang="fr-F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Sublattice</a:t>
            </a:r>
            <a:r>
              <a:rPr lang="fr-F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Transformations &amp; 1D </a:t>
            </a:r>
            <a:r>
              <a:rPr lang="fr-F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Chains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432D16-D1E6-45CC-AC39-11CF73BF1D81}"/>
              </a:ext>
            </a:extLst>
          </p:cNvPr>
          <p:cNvSpPr txBox="1"/>
          <p:nvPr/>
        </p:nvSpPr>
        <p:spPr>
          <a:xfrm>
            <a:off x="1993896" y="1870268"/>
            <a:ext cx="89027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I. Crystal Translational Symmetry &amp; The Bloch Theorem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63633B-269F-45B5-905D-584EE122F55F}"/>
              </a:ext>
            </a:extLst>
          </p:cNvPr>
          <p:cNvSpPr txBox="1"/>
          <p:nvPr/>
        </p:nvSpPr>
        <p:spPr>
          <a:xfrm>
            <a:off x="2782133" y="2954396"/>
            <a:ext cx="72085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Constructing the Tight-Binding Bloch Sum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6F5EC494-AB40-42C8-9402-C6E9855A5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87200" y="6643166"/>
            <a:ext cx="301424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F55BD0-BB46-49A0-8BA7-E3CE5B14326A}"/>
              </a:ext>
            </a:extLst>
          </p:cNvPr>
          <p:cNvSpPr txBox="1"/>
          <p:nvPr/>
        </p:nvSpPr>
        <p:spPr>
          <a:xfrm>
            <a:off x="4157099" y="4135652"/>
            <a:ext cx="40851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III.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Monatomic 1D Chain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8DF719-B8A8-4117-8DEF-7F54A137B482}"/>
              </a:ext>
            </a:extLst>
          </p:cNvPr>
          <p:cNvSpPr txBox="1"/>
          <p:nvPr/>
        </p:nvSpPr>
        <p:spPr>
          <a:xfrm>
            <a:off x="2019295" y="5122819"/>
            <a:ext cx="86487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IV.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Crystals with a Basis: The Multi-Sublattice Problem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05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FC216DF-96C1-4BDE-A499-0F0FD6EAB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78732" y="6643166"/>
            <a:ext cx="313267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DE34CA-918C-486B-8EED-5BBE31CBA2F3}"/>
              </a:ext>
            </a:extLst>
          </p:cNvPr>
          <p:cNvSpPr txBox="1"/>
          <p:nvPr/>
        </p:nvSpPr>
        <p:spPr>
          <a:xfrm>
            <a:off x="401377" y="883839"/>
            <a:ext cx="1004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Review:</a:t>
            </a:r>
            <a:endParaRPr lang="en-US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05B7C-C02F-42E9-B26E-13D56BA29C4D}"/>
                  </a:ext>
                </a:extLst>
              </p:cNvPr>
              <p:cNvSpPr txBox="1"/>
              <p:nvPr/>
            </p:nvSpPr>
            <p:spPr>
              <a:xfrm>
                <a:off x="1214178" y="1317655"/>
                <a:ext cx="84970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Lattice Translation Vector: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m:rPr>
                        <m:nor/>
                      </m:rPr>
                      <a: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primitive vectors</a:t>
                </a:r>
                <a:endParaRPr lang="en-US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05B7C-C02F-42E9-B26E-13D56BA29C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178" y="1317655"/>
                <a:ext cx="8497089" cy="369332"/>
              </a:xfrm>
              <a:prstGeom prst="rect">
                <a:avLst/>
              </a:prstGeom>
              <a:blipFill>
                <a:blip r:embed="rId4"/>
                <a:stretch>
                  <a:fillRect l="-574" t="-8197" r="-64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22D4832-695D-4141-99CF-D995BE679225}"/>
                  </a:ext>
                </a:extLst>
              </p:cNvPr>
              <p:cNvSpPr txBox="1"/>
              <p:nvPr/>
            </p:nvSpPr>
            <p:spPr>
              <a:xfrm>
                <a:off x="1214178" y="3413631"/>
                <a:ext cx="1066455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Periodic Potential: The crystal potential satisfies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𝑽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𝒓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  <m:r>
                      <a:rPr lang="en-US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𝑽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which implies the Hamiltonian commutes with the translation operator: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𝑯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endParaRPr lang="en-US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22D4832-695D-4141-99CF-D995BE679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178" y="3413631"/>
                <a:ext cx="10664554" cy="646331"/>
              </a:xfrm>
              <a:prstGeom prst="rect">
                <a:avLst/>
              </a:prstGeom>
              <a:blipFill>
                <a:blip r:embed="rId5"/>
                <a:stretch>
                  <a:fillRect l="-457" t="-5660" r="-45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F22BD683-DBAD-41F7-B060-C91629C82E1F}"/>
              </a:ext>
            </a:extLst>
          </p:cNvPr>
          <p:cNvSpPr txBox="1"/>
          <p:nvPr/>
        </p:nvSpPr>
        <p:spPr>
          <a:xfrm>
            <a:off x="2015317" y="59396"/>
            <a:ext cx="89027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I. Crystal Translational Symmetry &amp; The Bloch Theorem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8678F0C-33FC-4613-9D6D-C44B97D9F6C0}"/>
              </a:ext>
            </a:extLst>
          </p:cNvPr>
          <p:cNvSpPr txBox="1"/>
          <p:nvPr/>
        </p:nvSpPr>
        <p:spPr>
          <a:xfrm>
            <a:off x="1214178" y="2212055"/>
            <a:ext cx="97874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 Operator (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Defines the spatial displacement of a wavefunction by a lattice vector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b="1" i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4531C801-6E96-43C3-A926-84F542F42B70}"/>
                  </a:ext>
                </a:extLst>
              </p:cNvPr>
              <p:cNvSpPr txBox="1"/>
              <p:nvPr/>
            </p:nvSpPr>
            <p:spPr>
              <a:xfrm>
                <a:off x="3898111" y="2660131"/>
                <a:ext cx="21978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𝒓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4531C801-6E96-43C3-A926-84F542F42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111" y="2660131"/>
                <a:ext cx="2197889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0F0E871-92CA-4657-B0B1-3E5EC87FFD68}"/>
                  </a:ext>
                </a:extLst>
              </p:cNvPr>
              <p:cNvSpPr txBox="1"/>
              <p:nvPr/>
            </p:nvSpPr>
            <p:spPr>
              <a:xfrm>
                <a:off x="1214178" y="4614261"/>
                <a:ext cx="1066455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b="1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Physical Consequence: According to quantum mechanics, commuting operators share a simultaneous set of eigenstates. Therefore, the energy stationary states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Ψ</m:t>
                    </m:r>
                    <m:d>
                      <m:d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en-US" b="1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must also be unique eigenstates of the translation operator</a:t>
                </a: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0F0E871-92CA-4657-B0B1-3E5EC87FF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178" y="4614261"/>
                <a:ext cx="10664554" cy="923330"/>
              </a:xfrm>
              <a:prstGeom prst="rect">
                <a:avLst/>
              </a:prstGeom>
              <a:blipFill>
                <a:blip r:embed="rId7"/>
                <a:stretch>
                  <a:fillRect l="-457" t="-3974" r="-457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C5E35DD-0660-4960-8EE4-3C3D0F46BA46}"/>
                  </a:ext>
                </a:extLst>
              </p:cNvPr>
              <p:cNvSpPr txBox="1"/>
              <p:nvPr/>
            </p:nvSpPr>
            <p:spPr>
              <a:xfrm>
                <a:off x="2162443" y="5168259"/>
                <a:ext cx="19777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𝒓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C5E35DD-0660-4960-8EE4-3C3D0F46B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2443" y="5168259"/>
                <a:ext cx="1977756" cy="369332"/>
              </a:xfrm>
              <a:prstGeom prst="rect">
                <a:avLst/>
              </a:prstGeom>
              <a:blipFill>
                <a:blip r:embed="rId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459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00A0960-457D-43DB-A948-CB10161603F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5257F49-8016-44C6-B361-FBFAF42C9BC3}"/>
              </a:ext>
            </a:extLst>
          </p:cNvPr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20F3C7-2FC3-4AF9-991A-7FA79CD80F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B6BD37A9-D919-45A4-91FA-3AA973CA5B82}"/>
              </a:ext>
            </a:extLst>
          </p:cNvPr>
          <p:cNvSpPr txBox="1">
            <a:spLocks/>
          </p:cNvSpPr>
          <p:nvPr/>
        </p:nvSpPr>
        <p:spPr>
          <a:xfrm>
            <a:off x="11751732" y="6643166"/>
            <a:ext cx="443643" cy="214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DF3C1C-6B77-4DDC-A615-2CEAFFF0245B}"/>
              </a:ext>
            </a:extLst>
          </p:cNvPr>
          <p:cNvSpPr txBox="1"/>
          <p:nvPr/>
        </p:nvSpPr>
        <p:spPr>
          <a:xfrm>
            <a:off x="2015317" y="59396"/>
            <a:ext cx="89027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I. Crystal Translational Symmetry &amp; The Bloch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F82495A-8A25-4E53-83CD-980EA0B950D6}"/>
                  </a:ext>
                </a:extLst>
              </p:cNvPr>
              <p:cNvSpPr txBox="1"/>
              <p:nvPr/>
            </p:nvSpPr>
            <p:spPr>
              <a:xfrm>
                <a:off x="211667" y="903407"/>
                <a:ext cx="1179406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Boundary Condition: Consider a macroscopically large but finite crystal with 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11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cells along each primitive direction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Apply the periodic boundary condition</a:t>
                </a:r>
                <a:endParaRPr lang="en-US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F82495A-8A25-4E53-83CD-980EA0B95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67" y="903407"/>
                <a:ext cx="11794066" cy="923330"/>
              </a:xfrm>
              <a:prstGeom prst="rect">
                <a:avLst/>
              </a:prstGeom>
              <a:blipFill>
                <a:blip r:embed="rId4"/>
                <a:stretch>
                  <a:fillRect l="-465"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4A8E809-4E63-4BDC-90AC-C878B8A79B81}"/>
                  </a:ext>
                </a:extLst>
              </p:cNvPr>
              <p:cNvSpPr txBox="1"/>
              <p:nvPr/>
            </p:nvSpPr>
            <p:spPr>
              <a:xfrm>
                <a:off x="4167074" y="1415943"/>
                <a:ext cx="5637326" cy="4528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Ψ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𝒓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Ψ</m:t>
                    </m:r>
                    <m:d>
                      <m:dPr>
                        <m:ctrlPr>
                          <a:rPr lang="el-GR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en-US" dirty="0"/>
                  <a:t>   ⇒   </a:t>
                </a:r>
                <a:r>
                  <a:rPr lang="en-US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</m:sub>
                    </m:sSub>
                    <m:r>
                      <m:rPr>
                        <m:sty m:val="p"/>
                      </m:rPr>
                      <a:rPr lang="el-GR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Ψ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𝒓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λ</m:t>
                        </m:r>
                      </m:e>
                      <m:sub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</m:sup>
                    </m:sSubSup>
                    <m:r>
                      <m:rPr>
                        <m:sty m:val="p"/>
                      </m:rPr>
                      <a:rPr lang="el-GR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Ψ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𝒓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Ψ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𝒓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4A8E809-4E63-4BDC-90AC-C878B8A79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7074" y="1415943"/>
                <a:ext cx="5637326" cy="452881"/>
              </a:xfrm>
              <a:prstGeom prst="rect">
                <a:avLst/>
              </a:prstGeom>
              <a:blipFill>
                <a:blip r:embed="rId5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8D9EE42-EE9B-4A35-AEFE-136F536D7C3D}"/>
                  </a:ext>
                </a:extLst>
              </p:cNvPr>
              <p:cNvSpPr txBox="1"/>
              <p:nvPr/>
            </p:nvSpPr>
            <p:spPr>
              <a:xfrm>
                <a:off x="208294" y="2614413"/>
                <a:ext cx="10126132" cy="520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Solving the Eigenvalue: This enforces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λ</m:t>
                        </m:r>
                      </m:e>
                      <m:sub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</m:sup>
                    </m:sSubSup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which means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λ</m:t>
                        </m:r>
                      </m:e>
                      <m:sub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must be a root of unity:</a:t>
                </a:r>
                <a:r>
                  <a:rPr lang="en-US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λ</m:t>
                        </m:r>
                      </m:e>
                      <m:sub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p>
                        <m:f>
                          <m:fPr>
                            <m:type m:val="skw"/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𝝅</m:t>
                            </m:r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𝒊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𝑵</m:t>
                                </m:r>
                              </m:e>
                              <m:sub>
                                <m:r>
                                  <a:rPr lang="en-US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𝒊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endParaRPr lang="en-US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8D9EE42-EE9B-4A35-AEFE-136F536D7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94" y="2614413"/>
                <a:ext cx="10126132" cy="520335"/>
              </a:xfrm>
              <a:prstGeom prst="rect">
                <a:avLst/>
              </a:prstGeom>
              <a:blipFill>
                <a:blip r:embed="rId6"/>
                <a:stretch>
                  <a:fillRect l="-482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7DC72DA-D6ED-4CF1-B3AF-E3EF650820A1}"/>
                  </a:ext>
                </a:extLst>
              </p:cNvPr>
              <p:cNvSpPr txBox="1"/>
              <p:nvPr/>
            </p:nvSpPr>
            <p:spPr>
              <a:xfrm>
                <a:off x="8768094" y="3126360"/>
                <a:ext cx="2433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where,</a:t>
                </a:r>
                <a:r>
                  <a:rPr lang="en-US" b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integer</a:t>
                </a:r>
                <a:endParaRPr lang="en-US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7DC72DA-D6ED-4CF1-B3AF-E3EF65082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8094" y="3126360"/>
                <a:ext cx="2433305" cy="369332"/>
              </a:xfrm>
              <a:prstGeom prst="rect">
                <a:avLst/>
              </a:prstGeom>
              <a:blipFill>
                <a:blip r:embed="rId7"/>
                <a:stretch>
                  <a:fillRect l="-2005" t="-11667" r="-22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83B3F80-7D1D-4BC7-9BAD-73E62F4F0DB2}"/>
                  </a:ext>
                </a:extLst>
              </p:cNvPr>
              <p:cNvSpPr txBox="1"/>
              <p:nvPr/>
            </p:nvSpPr>
            <p:spPr>
              <a:xfrm>
                <a:off x="208294" y="4491334"/>
                <a:ext cx="97993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Defining the Wavevector 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For a general lattice vector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𝑹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accumulated eigenvalue is:</a:t>
                </a:r>
                <a:endParaRPr lang="en-US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83B3F80-7D1D-4BC7-9BAD-73E62F4F0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94" y="4491334"/>
                <a:ext cx="9799306" cy="369332"/>
              </a:xfrm>
              <a:prstGeom prst="rect">
                <a:avLst/>
              </a:prstGeom>
              <a:blipFill>
                <a:blip r:embed="rId8"/>
                <a:stretch>
                  <a:fillRect l="-498" t="-120000" r="-435" b="-19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7806CB6-C8A4-4360-8504-7F46E43F9235}"/>
                  </a:ext>
                </a:extLst>
              </p:cNvPr>
              <p:cNvSpPr txBox="1"/>
              <p:nvPr/>
            </p:nvSpPr>
            <p:spPr>
              <a:xfrm>
                <a:off x="9878577" y="4486108"/>
                <a:ext cx="1187355" cy="3797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𝒊𝒌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7806CB6-C8A4-4360-8504-7F46E43F9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8577" y="4486108"/>
                <a:ext cx="1187355" cy="37978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C44A16B-2897-438C-A5F0-A49730633E68}"/>
                  </a:ext>
                </a:extLst>
              </p:cNvPr>
              <p:cNvSpPr txBox="1"/>
              <p:nvPr/>
            </p:nvSpPr>
            <p:spPr>
              <a:xfrm>
                <a:off x="3651651" y="5004282"/>
                <a:ext cx="8354082" cy="495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where,</a:t>
                </a:r>
                <a:r>
                  <a:rPr lang="en-US" b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𝐤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𝒊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𝑵</m:t>
                                </m:r>
                              </m:e>
                              <m:sub>
                                <m:r>
                                  <a:rPr lang="en-US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𝒊</m:t>
                                </m:r>
                              </m:sub>
                            </m:sSub>
                          </m:den>
                        </m:f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lattice vector of unit cell within the reciprocal space</a:t>
                </a:r>
                <a:endParaRPr lang="en-US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C44A16B-2897-438C-A5F0-A49730633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1651" y="5004282"/>
                <a:ext cx="8354082" cy="495777"/>
              </a:xfrm>
              <a:prstGeom prst="rect">
                <a:avLst/>
              </a:prstGeom>
              <a:blipFill>
                <a:blip r:embed="rId10"/>
                <a:stretch>
                  <a:fillRect l="-584" t="-82716" r="-365" b="-120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Down 5">
            <a:extLst>
              <a:ext uri="{FF2B5EF4-FFF2-40B4-BE49-F238E27FC236}">
                <a16:creationId xmlns:a16="http://schemas.microsoft.com/office/drawing/2014/main" id="{676B8CA3-CA80-48A5-B6CD-C8C91AF04813}"/>
              </a:ext>
            </a:extLst>
          </p:cNvPr>
          <p:cNvSpPr/>
          <p:nvPr/>
        </p:nvSpPr>
        <p:spPr>
          <a:xfrm>
            <a:off x="5740400" y="3409937"/>
            <a:ext cx="355600" cy="941260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378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9853340-B29D-4E0D-9366-BA708209F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95666" y="6643166"/>
            <a:ext cx="292957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C6B69A2-47C4-4D21-A354-1D72ECDF6A87}"/>
                  </a:ext>
                </a:extLst>
              </p:cNvPr>
              <p:cNvSpPr txBox="1"/>
              <p:nvPr/>
            </p:nvSpPr>
            <p:spPr>
              <a:xfrm>
                <a:off x="833567" y="982016"/>
                <a:ext cx="8198465" cy="3763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Redundancy Paradox: Let 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 reciprocal lattice vector satisfying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𝒊𝑮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∙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C6B69A2-47C4-4D21-A354-1D72ECDF6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67" y="982016"/>
                <a:ext cx="8198465" cy="376385"/>
              </a:xfrm>
              <a:prstGeom prst="rect">
                <a:avLst/>
              </a:prstGeom>
              <a:blipFill>
                <a:blip r:embed="rId5"/>
                <a:stretch>
                  <a:fillRect l="-669" t="-6452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TextBox 89">
            <a:extLst>
              <a:ext uri="{FF2B5EF4-FFF2-40B4-BE49-F238E27FC236}">
                <a16:creationId xmlns:a16="http://schemas.microsoft.com/office/drawing/2014/main" id="{5A2DB693-AB62-4518-91CD-C4882A768220}"/>
              </a:ext>
            </a:extLst>
          </p:cNvPr>
          <p:cNvSpPr txBox="1"/>
          <p:nvPr/>
        </p:nvSpPr>
        <p:spPr>
          <a:xfrm>
            <a:off x="3520480" y="1526584"/>
            <a:ext cx="8621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the wavevector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translation eigenvalue remains completely unchanged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E9DB99-A77B-476F-B7A4-2F7BA1E919AC}"/>
              </a:ext>
            </a:extLst>
          </p:cNvPr>
          <p:cNvSpPr txBox="1"/>
          <p:nvPr/>
        </p:nvSpPr>
        <p:spPr>
          <a:xfrm>
            <a:off x="2015317" y="59396"/>
            <a:ext cx="89027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I. Crystal Translational Symmetry &amp; The Bloch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57FF60C-B930-49B1-871E-26CDEC5DDE5C}"/>
                  </a:ext>
                </a:extLst>
              </p:cNvPr>
              <p:cNvSpPr txBox="1"/>
              <p:nvPr/>
            </p:nvSpPr>
            <p:spPr>
              <a:xfrm>
                <a:off x="2641133" y="3357437"/>
                <a:ext cx="82768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where, 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crystal wavevector confined within the First Brillouin Zone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e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𝐬𝐭</m:t>
                        </m:r>
                      </m:sup>
                    </m:sSup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BZ)</a:t>
                </a:r>
                <a:endParaRPr lang="en-US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57FF60C-B930-49B1-871E-26CDEC5DD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133" y="3357437"/>
                <a:ext cx="8276888" cy="369332"/>
              </a:xfrm>
              <a:prstGeom prst="rect">
                <a:avLst/>
              </a:prstGeom>
              <a:blipFill>
                <a:blip r:embed="rId6"/>
                <a:stretch>
                  <a:fillRect l="-589" t="-10000" r="-51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4D8B2D8-528D-432B-ADF8-1F637D0092A5}"/>
                  </a:ext>
                </a:extLst>
              </p:cNvPr>
              <p:cNvSpPr txBox="1"/>
              <p:nvPr/>
            </p:nvSpPr>
            <p:spPr>
              <a:xfrm>
                <a:off x="829199" y="2839884"/>
                <a:ext cx="9336758" cy="3797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Bloch's Theorem: The eigenstates of a periodic system must satisfy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Ψ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</m:sub>
                    </m:sSub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𝒓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𝒊𝒌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sup>
                    </m:sSup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Ψ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</m:sub>
                    </m:sSub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𝒓</m:t>
                        </m:r>
                      </m:e>
                    </m:d>
                  </m:oMath>
                </a14:m>
                <a:endParaRPr lang="en-US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4D8B2D8-528D-432B-ADF8-1F637D009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199" y="2839884"/>
                <a:ext cx="9336758" cy="379784"/>
              </a:xfrm>
              <a:prstGeom prst="rect">
                <a:avLst/>
              </a:prstGeom>
              <a:blipFill>
                <a:blip r:embed="rId7"/>
                <a:stretch>
                  <a:fillRect l="-522" t="-6452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966065B-4237-4323-8B7A-4380D4DB87BB}"/>
                  </a:ext>
                </a:extLst>
              </p:cNvPr>
              <p:cNvSpPr txBox="1"/>
              <p:nvPr/>
            </p:nvSpPr>
            <p:spPr>
              <a:xfrm>
                <a:off x="4594611" y="2224782"/>
                <a:ext cx="3744116" cy="387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𝒌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𝑮</m:t>
                              </m:r>
                            </m:e>
                          </m:d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𝒊𝑮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𝒊𝒌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966065B-4237-4323-8B7A-4380D4DB8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611" y="2224782"/>
                <a:ext cx="3744116" cy="38792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Arrow: Down 53">
            <a:extLst>
              <a:ext uri="{FF2B5EF4-FFF2-40B4-BE49-F238E27FC236}">
                <a16:creationId xmlns:a16="http://schemas.microsoft.com/office/drawing/2014/main" id="{68E434A8-D39D-4370-982F-8A94B3332221}"/>
              </a:ext>
            </a:extLst>
          </p:cNvPr>
          <p:cNvSpPr/>
          <p:nvPr/>
        </p:nvSpPr>
        <p:spPr>
          <a:xfrm>
            <a:off x="6378046" y="1895916"/>
            <a:ext cx="177245" cy="369332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B4364C7-8A97-41D6-8C6D-2AF5402B7687}"/>
                  </a:ext>
                </a:extLst>
              </p:cNvPr>
              <p:cNvSpPr txBox="1"/>
              <p:nvPr/>
            </p:nvSpPr>
            <p:spPr>
              <a:xfrm>
                <a:off x="829199" y="4253396"/>
                <a:ext cx="10488834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Physical Meaning: 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describe the exact same physical quantum state with identical translation symmetry</a:t>
                </a:r>
              </a:p>
              <a:p>
                <a:pPr algn="just"/>
                <a:endParaRPr lang="en-US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b="1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First Brillouin Zone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e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𝐬𝐭</m:t>
                        </m:r>
                      </m:sup>
                    </m:sSup>
                  </m:oMath>
                </a14:m>
                <a:r>
                  <a:rPr lang="en-US" b="1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BZ): To eliminate this mathematical redundancy, one restricts all unique </a:t>
                </a:r>
                <a:r>
                  <a:rPr lang="en-US" b="1" i="1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b="1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vectors to the unique Wigner-Seitz cell of the reciprocal lattice—the First Brillouin Zone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B4364C7-8A97-41D6-8C6D-2AF5402B7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199" y="4253396"/>
                <a:ext cx="10488834" cy="1477328"/>
              </a:xfrm>
              <a:prstGeom prst="rect">
                <a:avLst/>
              </a:prstGeom>
              <a:blipFill>
                <a:blip r:embed="rId9"/>
                <a:stretch>
                  <a:fillRect l="-465" t="-2479" r="-465" b="-5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1678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595578-6B19-464A-8AA7-6F68494F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44866" y="6643166"/>
            <a:ext cx="350509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6FB7705-A027-415A-AEA7-963EB9C29481}"/>
                  </a:ext>
                </a:extLst>
              </p:cNvPr>
              <p:cNvSpPr txBox="1"/>
              <p:nvPr/>
            </p:nvSpPr>
            <p:spPr>
              <a:xfrm>
                <a:off x="1865120" y="986241"/>
                <a:ext cx="896671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Problem: Raw atomic orbitals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Φ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𝜶</m:t>
                        </m:r>
                      </m:sub>
                    </m:sSub>
                    <m:d>
                      <m:d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𝒓</m:t>
                        </m:r>
                        <m:r>
                          <a:rPr lang="en-US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 not satisfy Bloch's theorem individually</a:t>
                </a:r>
                <a:endParaRPr lang="en-US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6FB7705-A027-415A-AEA7-963EB9C29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120" y="986241"/>
                <a:ext cx="8966718" cy="369332"/>
              </a:xfrm>
              <a:prstGeom prst="rect">
                <a:avLst/>
              </a:prstGeom>
              <a:blipFill>
                <a:blip r:embed="rId5"/>
                <a:stretch>
                  <a:fillRect l="-612" t="-10000" r="-40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F5ACBFF-882F-46CF-9A9D-9609A3818624}"/>
                  </a:ext>
                </a:extLst>
              </p:cNvPr>
              <p:cNvSpPr txBox="1"/>
              <p:nvPr/>
            </p:nvSpPr>
            <p:spPr>
              <a:xfrm>
                <a:off x="3594964" y="2282436"/>
                <a:ext cx="3784786" cy="764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</m:d>
                      <m:r>
                        <a:rPr lang="en-US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1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𝑵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𝒊𝒌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𝜶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𝒓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F5ACBFF-882F-46CF-9A9D-9609A3818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964" y="2282436"/>
                <a:ext cx="3784786" cy="7643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4F89F7D9-5046-4695-B6B5-EC7929C82484}"/>
                  </a:ext>
                </a:extLst>
              </p:cNvPr>
              <p:cNvSpPr txBox="1"/>
              <p:nvPr/>
            </p:nvSpPr>
            <p:spPr>
              <a:xfrm>
                <a:off x="3460018" y="5256944"/>
                <a:ext cx="5870851" cy="7857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l-GR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  <m:r>
                            <m:rPr>
                              <m:sty m:val="p"/>
                            </m:rPr>
                            <a:rPr lang="el-GR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ν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e>
                      </m:d>
                      <m:r>
                        <a:rPr lang="en-US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𝑵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𝒎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𝒊𝒌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𝒎</m:t>
                                  </m:r>
                                </m:sub>
                              </m:sSub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𝒊𝒌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sup>
                          </m:sSup>
                          <m:d>
                            <m:dPr>
                              <m:begChr m:val="⟨"/>
                              <m:endChr m:val="⟩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𝜶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𝒓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𝒎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l-GR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𝒓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𝒏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4F89F7D9-5046-4695-B6B5-EC7929C824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0018" y="5256944"/>
                <a:ext cx="5870851" cy="78572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8FDDE28-ABBB-4D2D-A118-27D88F9C4576}"/>
              </a:ext>
            </a:extLst>
          </p:cNvPr>
          <p:cNvCxnSpPr>
            <a:cxnSpLocks/>
          </p:cNvCxnSpPr>
          <p:nvPr/>
        </p:nvCxnSpPr>
        <p:spPr>
          <a:xfrm>
            <a:off x="6264515" y="4628166"/>
            <a:ext cx="0" cy="72464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A8CA0ED3-BD54-4034-87EC-9DDACC82C35C}"/>
                  </a:ext>
                </a:extLst>
              </p:cNvPr>
              <p:cNvSpPr txBox="1"/>
              <p:nvPr/>
            </p:nvSpPr>
            <p:spPr>
              <a:xfrm>
                <a:off x="987263" y="1871153"/>
                <a:ext cx="10703770" cy="3797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Solution (Bloch Sum): Linearly combine atomic orbitals across all lattice sites with a phase factor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𝒊𝒌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sup>
                    </m:sSup>
                  </m:oMath>
                </a14:m>
                <a:endParaRPr lang="en-US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A8CA0ED3-BD54-4034-87EC-9DDACC82C3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263" y="1871153"/>
                <a:ext cx="10703770" cy="379784"/>
              </a:xfrm>
              <a:prstGeom prst="rect">
                <a:avLst/>
              </a:prstGeom>
              <a:blipFill>
                <a:blip r:embed="rId8"/>
                <a:stretch>
                  <a:fillRect l="-513" t="-6452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TextBox 76">
            <a:extLst>
              <a:ext uri="{FF2B5EF4-FFF2-40B4-BE49-F238E27FC236}">
                <a16:creationId xmlns:a16="http://schemas.microsoft.com/office/drawing/2014/main" id="{E97EA1BB-9311-4C12-8BD9-D471ED366F6C}"/>
              </a:ext>
            </a:extLst>
          </p:cNvPr>
          <p:cNvSpPr txBox="1"/>
          <p:nvPr/>
        </p:nvSpPr>
        <p:spPr>
          <a:xfrm>
            <a:off x="3037197" y="108361"/>
            <a:ext cx="72085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Constructing the Tight-Binding Bloch Sum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AE7D486-D4AE-431D-8BC3-FE528E4D1102}"/>
              </a:ext>
            </a:extLst>
          </p:cNvPr>
          <p:cNvSpPr txBox="1"/>
          <p:nvPr/>
        </p:nvSpPr>
        <p:spPr>
          <a:xfrm>
            <a:off x="7302190" y="2441623"/>
            <a:ext cx="4151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where,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total number of unit cells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CD0FBE2-91E5-4D33-ACBF-299FE97DF2DB}"/>
                  </a:ext>
                </a:extLst>
              </p:cNvPr>
              <p:cNvSpPr txBox="1"/>
              <p:nvPr/>
            </p:nvSpPr>
            <p:spPr>
              <a:xfrm>
                <a:off x="987263" y="3735824"/>
                <a:ext cx="10198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Under the orthogonal Bloch sum basis,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Ψ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𝜶</m:t>
                            </m:r>
                          </m:sub>
                        </m:sSub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𝒓</m:t>
                            </m:r>
                          </m:e>
                        </m:d>
                      </m:e>
                    </m:d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calculate the 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dependent Hamiltonian matrix element</a:t>
                </a: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CD0FBE2-91E5-4D33-ACBF-299FE97DF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263" y="3735824"/>
                <a:ext cx="10198450" cy="369332"/>
              </a:xfrm>
              <a:prstGeom prst="rect">
                <a:avLst/>
              </a:prstGeom>
              <a:blipFill>
                <a:blip r:embed="rId9"/>
                <a:stretch>
                  <a:fillRect l="-538" t="-120000" r="-418" b="-19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45CBAAA5-648E-4C7B-A637-AC6290ADC7F0}"/>
                  </a:ext>
                </a:extLst>
              </p:cNvPr>
              <p:cNvSpPr txBox="1"/>
              <p:nvPr/>
            </p:nvSpPr>
            <p:spPr>
              <a:xfrm>
                <a:off x="8170933" y="4070407"/>
                <a:ext cx="29418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l-GR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  <m:r>
                            <m:rPr>
                              <m:sty m:val="p"/>
                            </m:rPr>
                            <a:rPr lang="el-GR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ν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e>
                      </m:d>
                      <m:r>
                        <a:rPr lang="en-US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𝒌</m:t>
                              </m:r>
                            </m:e>
                          </m:d>
                        </m:e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l-GR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ν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𝒌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45CBAAA5-648E-4C7B-A637-AC6290ADC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0933" y="4070407"/>
                <a:ext cx="294182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2731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D3A3029-BDF9-40F7-B6A0-F60E8E3D18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5257F49-8016-44C6-B361-FBFAF42C9BC3}"/>
              </a:ext>
            </a:extLst>
          </p:cNvPr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20F3C7-2FC3-4AF9-991A-7FA79CD80F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B6BD37A9-D919-45A4-91FA-3AA973CA5B82}"/>
              </a:ext>
            </a:extLst>
          </p:cNvPr>
          <p:cNvSpPr txBox="1">
            <a:spLocks/>
          </p:cNvSpPr>
          <p:nvPr/>
        </p:nvSpPr>
        <p:spPr>
          <a:xfrm>
            <a:off x="11751732" y="6643166"/>
            <a:ext cx="443643" cy="214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69A371-3746-4C49-AC28-2724C5970AF4}"/>
                  </a:ext>
                </a:extLst>
              </p:cNvPr>
              <p:cNvSpPr txBox="1"/>
              <p:nvPr/>
            </p:nvSpPr>
            <p:spPr>
              <a:xfrm>
                <a:off x="634483" y="969382"/>
                <a:ext cx="5682341" cy="3956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Using lattice translational invariance,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69A371-3746-4C49-AC28-2724C5970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483" y="969382"/>
                <a:ext cx="5682341" cy="395621"/>
              </a:xfrm>
              <a:prstGeom prst="rect">
                <a:avLst/>
              </a:prstGeom>
              <a:blipFill>
                <a:blip r:embed="rId4"/>
                <a:stretch>
                  <a:fillRect l="-858" t="-7692" r="-858" b="-1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822A6B0-52E0-4FDA-A09F-31EB0C1C31E0}"/>
                  </a:ext>
                </a:extLst>
              </p:cNvPr>
              <p:cNvSpPr txBox="1"/>
              <p:nvPr/>
            </p:nvSpPr>
            <p:spPr>
              <a:xfrm>
                <a:off x="634483" y="4544550"/>
                <a:ext cx="43573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Secular Equation: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𝒅𝒆𝒕</m:t>
                    </m:r>
                    <m:d>
                      <m:dPr>
                        <m:begChr m:val="["/>
                        <m:endChr m:val="]"/>
                        <m:ctrlPr>
                          <a:rPr lang="en-US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𝒌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𝒌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𝑰</m:t>
                        </m:r>
                      </m:e>
                    </m:d>
                    <m:r>
                      <a:rPr lang="en-US" b="1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endParaRPr lang="en-US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822A6B0-52E0-4FDA-A09F-31EB0C1C3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483" y="4544550"/>
                <a:ext cx="4357395" cy="369332"/>
              </a:xfrm>
              <a:prstGeom prst="rect">
                <a:avLst/>
              </a:prstGeom>
              <a:blipFill>
                <a:blip r:embed="rId5"/>
                <a:stretch>
                  <a:fillRect l="-1119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A2DE41A-A29D-4302-A7EF-0CB4E276E773}"/>
              </a:ext>
            </a:extLst>
          </p:cNvPr>
          <p:cNvSpPr txBox="1"/>
          <p:nvPr/>
        </p:nvSpPr>
        <p:spPr>
          <a:xfrm>
            <a:off x="3037197" y="108361"/>
            <a:ext cx="72085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Constructing the Tight-Binding Bloch Sum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F495079-273C-4CD0-B97F-6905B7A48D60}"/>
                  </a:ext>
                </a:extLst>
              </p:cNvPr>
              <p:cNvSpPr txBox="1"/>
              <p:nvPr/>
            </p:nvSpPr>
            <p:spPr>
              <a:xfrm>
                <a:off x="6096000" y="1585337"/>
                <a:ext cx="2850502" cy="7998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l-GR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  <m:r>
                            <m:rPr>
                              <m:sty m:val="p"/>
                            </m:rPr>
                            <a:rPr lang="el-GR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ν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e>
                      </m:d>
                      <m:r>
                        <a:rPr lang="en-US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𝒋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𝒊𝒌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sup>
                          </m:sSup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  <m:r>
                                <m:rPr>
                                  <m:sty m:val="p"/>
                                </m:rPr>
                                <a:rPr lang="el-G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ν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F495079-273C-4CD0-B97F-6905B7A48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585337"/>
                <a:ext cx="2850502" cy="7998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9C79376-E976-4D85-840C-658F52DB29E3}"/>
                  </a:ext>
                </a:extLst>
              </p:cNvPr>
              <p:cNvSpPr txBox="1"/>
              <p:nvPr/>
            </p:nvSpPr>
            <p:spPr>
              <a:xfrm>
                <a:off x="6096000" y="2517689"/>
                <a:ext cx="4939573" cy="4153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𝜶</m:t>
                        </m:r>
                        <m:r>
                          <m:rPr>
                            <m:sty m:val="p"/>
                          </m:rPr>
                          <a:rPr lang="el-G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ν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𝒋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real-space hopping integral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9C79376-E976-4D85-840C-658F52DB2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517689"/>
                <a:ext cx="4939573" cy="415370"/>
              </a:xfrm>
              <a:prstGeom prst="rect">
                <a:avLst/>
              </a:prstGeom>
              <a:blipFill>
                <a:blip r:embed="rId7"/>
                <a:stretch>
                  <a:fillRect l="-988" t="-2941" r="-98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0C0DA14-66EA-4CFC-959B-3762AFB4D5D6}"/>
              </a:ext>
            </a:extLst>
          </p:cNvPr>
          <p:cNvSpPr txBox="1"/>
          <p:nvPr/>
        </p:nvSpPr>
        <p:spPr>
          <a:xfrm>
            <a:off x="634483" y="3290399"/>
            <a:ext cx="5803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format of the tight-binding Hamiltonian matrix</a:t>
            </a:r>
            <a:endParaRPr lang="en-US" b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2DD0A46-1160-478F-9C57-52D2C2B1F3E9}"/>
              </a:ext>
            </a:extLst>
          </p:cNvPr>
          <p:cNvSpPr/>
          <p:nvPr/>
        </p:nvSpPr>
        <p:spPr>
          <a:xfrm>
            <a:off x="5926667" y="1439333"/>
            <a:ext cx="3166533" cy="1016000"/>
          </a:xfrm>
          <a:prstGeom prst="ellipse">
            <a:avLst/>
          </a:prstGeom>
          <a:noFill/>
          <a:ln w="254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E8CF972-41D6-4F0B-8B13-2C3DA86CB0E7}"/>
              </a:ext>
            </a:extLst>
          </p:cNvPr>
          <p:cNvCxnSpPr>
            <a:cxnSpLocks/>
          </p:cNvCxnSpPr>
          <p:nvPr/>
        </p:nvCxnSpPr>
        <p:spPr>
          <a:xfrm flipH="1">
            <a:off x="5085184" y="2249143"/>
            <a:ext cx="960582" cy="1179857"/>
          </a:xfrm>
          <a:prstGeom prst="straightConnector1">
            <a:avLst/>
          </a:prstGeom>
          <a:ln w="25400"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194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00A0960-457D-43DB-A948-CB10161603F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5257F49-8016-44C6-B361-FBFAF42C9BC3}"/>
              </a:ext>
            </a:extLst>
          </p:cNvPr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20F3C7-2FC3-4AF9-991A-7FA79CD80F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B6BD37A9-D919-45A4-91FA-3AA973CA5B82}"/>
              </a:ext>
            </a:extLst>
          </p:cNvPr>
          <p:cNvSpPr txBox="1">
            <a:spLocks/>
          </p:cNvSpPr>
          <p:nvPr/>
        </p:nvSpPr>
        <p:spPr>
          <a:xfrm>
            <a:off x="11751732" y="6643166"/>
            <a:ext cx="443643" cy="214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5C5E70F-EA86-4F73-963E-0B7E7AACF940}"/>
                  </a:ext>
                </a:extLst>
              </p:cNvPr>
              <p:cNvSpPr txBox="1"/>
              <p:nvPr/>
            </p:nvSpPr>
            <p:spPr>
              <a:xfrm>
                <a:off x="776107" y="852398"/>
                <a:ext cx="796523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System Geometry: A 1D array of identical atoms separated by lattice constant 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</a:p>
              <a:p>
                <a:pPr algn="just"/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Real space lattice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𝒏𝒂</m:t>
                    </m:r>
                  </m:oMath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5C5E70F-EA86-4F73-963E-0B7E7AACF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107" y="852398"/>
                <a:ext cx="7965232" cy="923330"/>
              </a:xfrm>
              <a:prstGeom prst="rect">
                <a:avLst/>
              </a:prstGeom>
              <a:blipFill>
                <a:blip r:embed="rId4"/>
                <a:stretch>
                  <a:fillRect l="-612" t="-3974" r="-230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E82B9166-92EC-402F-A59F-4530F2C648C4}"/>
              </a:ext>
            </a:extLst>
          </p:cNvPr>
          <p:cNvSpPr txBox="1"/>
          <p:nvPr/>
        </p:nvSpPr>
        <p:spPr>
          <a:xfrm>
            <a:off x="3914959" y="177598"/>
            <a:ext cx="40851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III.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Monatomic 1D Chain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9D6858F-7A76-4342-88E3-6B6CBD876354}"/>
              </a:ext>
            </a:extLst>
          </p:cNvPr>
          <p:cNvGrpSpPr/>
          <p:nvPr/>
        </p:nvGrpSpPr>
        <p:grpSpPr>
          <a:xfrm>
            <a:off x="4782254" y="1527200"/>
            <a:ext cx="1575003" cy="1700480"/>
            <a:chOff x="4782254" y="1527200"/>
            <a:chExt cx="1575003" cy="170048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C2BB6D7-85D1-4F1A-9511-FFAD6EB6971C}"/>
                </a:ext>
              </a:extLst>
            </p:cNvPr>
            <p:cNvSpPr/>
            <p:nvPr/>
          </p:nvSpPr>
          <p:spPr>
            <a:xfrm>
              <a:off x="5312230" y="2070069"/>
              <a:ext cx="522514" cy="56916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306D172-BF04-4777-8745-B7BA36C6A9D5}"/>
                </a:ext>
              </a:extLst>
            </p:cNvPr>
            <p:cNvSpPr/>
            <p:nvPr/>
          </p:nvSpPr>
          <p:spPr>
            <a:xfrm>
              <a:off x="5508172" y="2296730"/>
              <a:ext cx="121298" cy="13656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1E49DEF-8509-44E1-B0F0-11D9C976A862}"/>
                </a:ext>
              </a:extLst>
            </p:cNvPr>
            <p:cNvSpPr/>
            <p:nvPr/>
          </p:nvSpPr>
          <p:spPr>
            <a:xfrm>
              <a:off x="5834743" y="2067661"/>
              <a:ext cx="522514" cy="56916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1F43CDC-36B9-461B-BAD4-45B668586F28}"/>
                </a:ext>
              </a:extLst>
            </p:cNvPr>
            <p:cNvSpPr/>
            <p:nvPr/>
          </p:nvSpPr>
          <p:spPr>
            <a:xfrm>
              <a:off x="6030685" y="2294322"/>
              <a:ext cx="121298" cy="13656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9E0D49E-B2E0-4F6B-B1F4-DE463B12BCC2}"/>
                </a:ext>
              </a:extLst>
            </p:cNvPr>
            <p:cNvSpPr/>
            <p:nvPr/>
          </p:nvSpPr>
          <p:spPr>
            <a:xfrm>
              <a:off x="4789718" y="2067045"/>
              <a:ext cx="522514" cy="56916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E97E828-88ED-4C2D-91FB-CDDA665C11F5}"/>
                </a:ext>
              </a:extLst>
            </p:cNvPr>
            <p:cNvSpPr/>
            <p:nvPr/>
          </p:nvSpPr>
          <p:spPr>
            <a:xfrm>
              <a:off x="4985660" y="2293706"/>
              <a:ext cx="121298" cy="13656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EA50C66-25F2-4A9E-96FF-5B4D9840861C}"/>
                    </a:ext>
                  </a:extLst>
                </p:cNvPr>
                <p:cNvSpPr txBox="1"/>
                <p:nvPr/>
              </p:nvSpPr>
              <p:spPr>
                <a:xfrm>
                  <a:off x="4876556" y="2858348"/>
                  <a:ext cx="32657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EA50C66-25F2-4A9E-96FF-5B4D984086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6556" y="2858348"/>
                  <a:ext cx="32657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CFB5583D-7A14-4123-88B5-E83EE2778B38}"/>
                </a:ext>
              </a:extLst>
            </p:cNvPr>
            <p:cNvSpPr/>
            <p:nvPr/>
          </p:nvSpPr>
          <p:spPr>
            <a:xfrm rot="5400000">
              <a:off x="4963035" y="2507820"/>
              <a:ext cx="160952" cy="522513"/>
            </a:xfrm>
            <a:prstGeom prst="righ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2B2DD29-6378-453F-8C60-87B0CA654CB8}"/>
                </a:ext>
              </a:extLst>
            </p:cNvPr>
            <p:cNvSpPr/>
            <p:nvPr/>
          </p:nvSpPr>
          <p:spPr>
            <a:xfrm>
              <a:off x="5058393" y="1905522"/>
              <a:ext cx="483992" cy="298268"/>
            </a:xfrm>
            <a:custGeom>
              <a:avLst/>
              <a:gdLst>
                <a:gd name="connsiteX0" fmla="*/ 0 w 541175"/>
                <a:gd name="connsiteY0" fmla="*/ 288937 h 298268"/>
                <a:gd name="connsiteX1" fmla="*/ 149290 w 541175"/>
                <a:gd name="connsiteY1" fmla="*/ 55672 h 298268"/>
                <a:gd name="connsiteX2" fmla="*/ 363894 w 541175"/>
                <a:gd name="connsiteY2" fmla="*/ 18349 h 298268"/>
                <a:gd name="connsiteX3" fmla="*/ 541175 w 541175"/>
                <a:gd name="connsiteY3" fmla="*/ 298268 h 298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1175" h="298268">
                  <a:moveTo>
                    <a:pt x="0" y="288937"/>
                  </a:moveTo>
                  <a:cubicBezTo>
                    <a:pt x="44320" y="194853"/>
                    <a:pt x="88641" y="100770"/>
                    <a:pt x="149290" y="55672"/>
                  </a:cubicBezTo>
                  <a:cubicBezTo>
                    <a:pt x="209939" y="10574"/>
                    <a:pt x="298580" y="-22084"/>
                    <a:pt x="363894" y="18349"/>
                  </a:cubicBezTo>
                  <a:cubicBezTo>
                    <a:pt x="429208" y="58782"/>
                    <a:pt x="485191" y="178525"/>
                    <a:pt x="541175" y="298268"/>
                  </a:cubicBezTo>
                </a:path>
              </a:pathLst>
            </a:custGeom>
            <a:noFill/>
            <a:ln w="38100"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F2C20BF-A40C-4677-AF9C-984E1A69263A}"/>
                </a:ext>
              </a:extLst>
            </p:cNvPr>
            <p:cNvSpPr/>
            <p:nvPr/>
          </p:nvSpPr>
          <p:spPr>
            <a:xfrm>
              <a:off x="5603878" y="1907931"/>
              <a:ext cx="518670" cy="295859"/>
            </a:xfrm>
            <a:custGeom>
              <a:avLst/>
              <a:gdLst>
                <a:gd name="connsiteX0" fmla="*/ 0 w 541175"/>
                <a:gd name="connsiteY0" fmla="*/ 288937 h 298268"/>
                <a:gd name="connsiteX1" fmla="*/ 149290 w 541175"/>
                <a:gd name="connsiteY1" fmla="*/ 55672 h 298268"/>
                <a:gd name="connsiteX2" fmla="*/ 363894 w 541175"/>
                <a:gd name="connsiteY2" fmla="*/ 18349 h 298268"/>
                <a:gd name="connsiteX3" fmla="*/ 541175 w 541175"/>
                <a:gd name="connsiteY3" fmla="*/ 298268 h 298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1175" h="298268">
                  <a:moveTo>
                    <a:pt x="0" y="288937"/>
                  </a:moveTo>
                  <a:cubicBezTo>
                    <a:pt x="44320" y="194853"/>
                    <a:pt x="88641" y="100770"/>
                    <a:pt x="149290" y="55672"/>
                  </a:cubicBezTo>
                  <a:cubicBezTo>
                    <a:pt x="209939" y="10574"/>
                    <a:pt x="298580" y="-22084"/>
                    <a:pt x="363894" y="18349"/>
                  </a:cubicBezTo>
                  <a:cubicBezTo>
                    <a:pt x="429208" y="58782"/>
                    <a:pt x="485191" y="178525"/>
                    <a:pt x="541175" y="298268"/>
                  </a:cubicBezTo>
                </a:path>
              </a:pathLst>
            </a:custGeom>
            <a:noFill/>
            <a:ln w="38100"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1047B6CF-15A8-4189-96E0-203BD262A7FF}"/>
                    </a:ext>
                  </a:extLst>
                </p:cNvPr>
                <p:cNvSpPr txBox="1"/>
                <p:nvPr/>
              </p:nvSpPr>
              <p:spPr>
                <a:xfrm>
                  <a:off x="5169786" y="1527200"/>
                  <a:ext cx="32657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𝒕</m:t>
                        </m:r>
                      </m:oMath>
                    </m:oMathPara>
                  </a14:m>
                  <a:endParaRPr lang="en-US" b="1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1047B6CF-15A8-4189-96E0-203BD262A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9786" y="1527200"/>
                  <a:ext cx="32657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9358412C-DDB6-4E4B-8B9F-182879121F1B}"/>
              </a:ext>
            </a:extLst>
          </p:cNvPr>
          <p:cNvSpPr txBox="1"/>
          <p:nvPr/>
        </p:nvSpPr>
        <p:spPr>
          <a:xfrm>
            <a:off x="776107" y="3475898"/>
            <a:ext cx="4353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Basis: One single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orbital per atom (</a:t>
            </a:r>
            <a:r>
              <a:rPr lang="el-G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9BEA0BC-D5CC-4583-8E1E-F195576A71E0}"/>
              </a:ext>
            </a:extLst>
          </p:cNvPr>
          <p:cNvSpPr txBox="1"/>
          <p:nvPr/>
        </p:nvSpPr>
        <p:spPr>
          <a:xfrm>
            <a:off x="776107" y="4103189"/>
            <a:ext cx="3598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will be a 1×1 matrix (a scalar)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D6FB980-0BE3-4505-B7D3-38D21A7700B5}"/>
              </a:ext>
            </a:extLst>
          </p:cNvPr>
          <p:cNvSpPr txBox="1"/>
          <p:nvPr/>
        </p:nvSpPr>
        <p:spPr>
          <a:xfrm>
            <a:off x="776107" y="5022178"/>
            <a:ext cx="198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TBM Parameters: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11E7EC7-5CCA-409B-9CC7-F8A6519E5EDD}"/>
                  </a:ext>
                </a:extLst>
              </p:cNvPr>
              <p:cNvSpPr txBox="1"/>
              <p:nvPr/>
            </p:nvSpPr>
            <p:spPr>
              <a:xfrm>
                <a:off x="3050293" y="4585408"/>
                <a:ext cx="48743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On-site energy: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Φ</m:t>
                        </m:r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𝒓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𝒏𝒂</m:t>
                            </m:r>
                          </m:e>
                        </m:d>
                      </m:e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𝑯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l-GR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Φ</m:t>
                        </m:r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𝒓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𝒏𝒂</m:t>
                            </m:r>
                          </m:e>
                        </m:d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11E7EC7-5CCA-409B-9CC7-F8A6519E5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0293" y="4585408"/>
                <a:ext cx="4874302" cy="369332"/>
              </a:xfrm>
              <a:prstGeom prst="rect">
                <a:avLst/>
              </a:prstGeom>
              <a:blipFill>
                <a:blip r:embed="rId7"/>
                <a:stretch>
                  <a:fillRect l="-1000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17362BD-1154-47B1-BB34-A0BA024A3D45}"/>
                  </a:ext>
                </a:extLst>
              </p:cNvPr>
              <p:cNvSpPr txBox="1"/>
              <p:nvPr/>
            </p:nvSpPr>
            <p:spPr>
              <a:xfrm>
                <a:off x="3050293" y="5003516"/>
                <a:ext cx="7016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Nearest-neighbor (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NN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hopping: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Φ</m:t>
                        </m:r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𝒓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𝒏𝒂</m:t>
                            </m:r>
                          </m:e>
                        </m:d>
                      </m:e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𝑯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l-GR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Φ</m:t>
                        </m:r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𝒓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±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e>
                            </m:d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</m:d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𝒕</m:t>
                    </m:r>
                  </m:oMath>
                </a14:m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17362BD-1154-47B1-BB34-A0BA024A3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0293" y="5003516"/>
                <a:ext cx="7016400" cy="369332"/>
              </a:xfrm>
              <a:prstGeom prst="rect">
                <a:avLst/>
              </a:prstGeom>
              <a:blipFill>
                <a:blip r:embed="rId8"/>
                <a:stretch>
                  <a:fillRect l="-695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64A1D3F7-368A-4940-80CC-00EA781B59E2}"/>
              </a:ext>
            </a:extLst>
          </p:cNvPr>
          <p:cNvSpPr txBox="1"/>
          <p:nvPr/>
        </p:nvSpPr>
        <p:spPr>
          <a:xfrm>
            <a:off x="3050293" y="5460917"/>
            <a:ext cx="5246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further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hoppings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(2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…), are truncated to 0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ight Brace 43">
            <a:extLst>
              <a:ext uri="{FF2B5EF4-FFF2-40B4-BE49-F238E27FC236}">
                <a16:creationId xmlns:a16="http://schemas.microsoft.com/office/drawing/2014/main" id="{289054FB-1A13-4A67-9931-E2A5385836BB}"/>
              </a:ext>
            </a:extLst>
          </p:cNvPr>
          <p:cNvSpPr/>
          <p:nvPr/>
        </p:nvSpPr>
        <p:spPr>
          <a:xfrm rot="10800000">
            <a:off x="2819438" y="4669314"/>
            <a:ext cx="234445" cy="1122087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958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595578-6B19-464A-8AA7-6F68494F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44866" y="6643166"/>
            <a:ext cx="350509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CF6ACBD-412F-4511-8EE6-DE625212B185}"/>
                  </a:ext>
                </a:extLst>
              </p:cNvPr>
              <p:cNvSpPr txBox="1"/>
              <p:nvPr/>
            </p:nvSpPr>
            <p:spPr>
              <a:xfrm>
                <a:off x="406759" y="4925923"/>
                <a:ext cx="5613162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Hamiltonian matrix is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d>
                      <m:d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𝒊𝒌</m:t>
                            </m:r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∙−</m:t>
                            </m:r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sup>
                        </m:sSup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𝒊𝒌</m:t>
                            </m:r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∙</m:t>
                            </m:r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sup>
                        </m:sSup>
                      </m:e>
                    </m:d>
                  </m:oMath>
                </a14:m>
                <a:endPara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CF6ACBD-412F-4511-8EE6-DE625212B1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59" y="4925923"/>
                <a:ext cx="5613162" cy="404983"/>
              </a:xfrm>
              <a:prstGeom prst="rect">
                <a:avLst/>
              </a:prstGeom>
              <a:blipFill>
                <a:blip r:embed="rId5"/>
                <a:stretch>
                  <a:fillRect l="-977" t="-3030" b="-19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EE964DE-2501-465F-8B71-719A36F70B76}"/>
                  </a:ext>
                </a:extLst>
              </p:cNvPr>
              <p:cNvSpPr txBox="1"/>
              <p:nvPr/>
            </p:nvSpPr>
            <p:spPr>
              <a:xfrm>
                <a:off x="6025413" y="3602435"/>
                <a:ext cx="1405763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𝒔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𝒊𝒔</m:t>
                          </m:r>
                        </m:sub>
                      </m:sSub>
                      <m:r>
                        <a:rPr lang="en-US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EE964DE-2501-465F-8B71-719A36F70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5413" y="3602435"/>
                <a:ext cx="1405763" cy="3815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999D43DD-9B16-4194-978A-527AD358F259}"/>
              </a:ext>
            </a:extLst>
          </p:cNvPr>
          <p:cNvSpPr txBox="1"/>
          <p:nvPr/>
        </p:nvSpPr>
        <p:spPr>
          <a:xfrm>
            <a:off x="3914959" y="177598"/>
            <a:ext cx="40851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III.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Monatomic 1D Chain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3FB4F05-114A-48C3-AEBC-576A44383FB7}"/>
                  </a:ext>
                </a:extLst>
              </p:cNvPr>
              <p:cNvSpPr txBox="1"/>
              <p:nvPr/>
            </p:nvSpPr>
            <p:spPr>
              <a:xfrm>
                <a:off x="406759" y="3597176"/>
                <a:ext cx="48743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On-site energy: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Φ</m:t>
                        </m:r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𝒓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𝒏𝒂</m:t>
                            </m:r>
                          </m:e>
                        </m:d>
                      </m:e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𝑯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l-GR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Φ</m:t>
                        </m:r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𝒓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𝒏𝒂</m:t>
                            </m:r>
                          </m:e>
                        </m:d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3FB4F05-114A-48C3-AEBC-576A44383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59" y="3597176"/>
                <a:ext cx="4874302" cy="369332"/>
              </a:xfrm>
              <a:prstGeom prst="rect">
                <a:avLst/>
              </a:prstGeom>
              <a:blipFill>
                <a:blip r:embed="rId7"/>
                <a:stretch>
                  <a:fillRect l="-1126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1A17E23-C42E-447F-8A96-17EC6A1B6A17}"/>
              </a:ext>
            </a:extLst>
          </p:cNvPr>
          <p:cNvCxnSpPr>
            <a:cxnSpLocks/>
          </p:cNvCxnSpPr>
          <p:nvPr/>
        </p:nvCxnSpPr>
        <p:spPr>
          <a:xfrm>
            <a:off x="5281061" y="3798224"/>
            <a:ext cx="692326" cy="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C155878-C602-4AF8-A35C-8C28D7938BE6}"/>
                  </a:ext>
                </a:extLst>
              </p:cNvPr>
              <p:cNvSpPr txBox="1"/>
              <p:nvPr/>
            </p:nvSpPr>
            <p:spPr>
              <a:xfrm>
                <a:off x="406759" y="896513"/>
                <a:ext cx="7016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Nearest-neighbor (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NN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hopping: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Φ</m:t>
                        </m:r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𝒓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𝒏𝒂</m:t>
                            </m:r>
                          </m:e>
                        </m:d>
                      </m:e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𝑯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l-GR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Φ</m:t>
                        </m:r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𝒓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±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e>
                            </m:d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</m:d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𝒕</m:t>
                    </m:r>
                  </m:oMath>
                </a14:m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C155878-C602-4AF8-A35C-8C28D7938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59" y="896513"/>
                <a:ext cx="7016400" cy="369332"/>
              </a:xfrm>
              <a:prstGeom prst="rect">
                <a:avLst/>
              </a:prstGeom>
              <a:blipFill>
                <a:blip r:embed="rId8"/>
                <a:stretch>
                  <a:fillRect l="-782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7819404-E7CC-423E-9186-85D22547FCBC}"/>
              </a:ext>
            </a:extLst>
          </p:cNvPr>
          <p:cNvCxnSpPr>
            <a:cxnSpLocks/>
          </p:cNvCxnSpPr>
          <p:nvPr/>
        </p:nvCxnSpPr>
        <p:spPr>
          <a:xfrm>
            <a:off x="7431176" y="1105349"/>
            <a:ext cx="692326" cy="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0DF00F1-21D3-4133-BCED-A4A08841347C}"/>
                  </a:ext>
                </a:extLst>
              </p:cNvPr>
              <p:cNvSpPr txBox="1"/>
              <p:nvPr/>
            </p:nvSpPr>
            <p:spPr>
              <a:xfrm>
                <a:off x="8207330" y="896513"/>
                <a:ext cx="2485552" cy="4124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𝒔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𝒋𝒔</m:t>
                          </m:r>
                        </m:sub>
                      </m:sSub>
                      <m:r>
                        <a:rPr lang="en-US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𝒕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𝒊𝒌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𝒕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𝒊𝒌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0DF00F1-21D3-4133-BCED-A4A088413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7330" y="896513"/>
                <a:ext cx="2485552" cy="412421"/>
              </a:xfrm>
              <a:prstGeom prst="rect">
                <a:avLst/>
              </a:prstGeom>
              <a:blipFill>
                <a:blip r:embed="rId9"/>
                <a:stretch>
                  <a:fillRect b="-7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92773055-3348-4530-9DCE-0488D215F96A}"/>
              </a:ext>
            </a:extLst>
          </p:cNvPr>
          <p:cNvGrpSpPr/>
          <p:nvPr/>
        </p:nvGrpSpPr>
        <p:grpSpPr>
          <a:xfrm>
            <a:off x="5069360" y="1818164"/>
            <a:ext cx="1575003" cy="1700480"/>
            <a:chOff x="781383" y="700818"/>
            <a:chExt cx="1575003" cy="1700480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B975349-37B0-413B-83A0-86FF07D291F3}"/>
                </a:ext>
              </a:extLst>
            </p:cNvPr>
            <p:cNvGrpSpPr/>
            <p:nvPr/>
          </p:nvGrpSpPr>
          <p:grpSpPr>
            <a:xfrm>
              <a:off x="781383" y="700818"/>
              <a:ext cx="1575003" cy="1700480"/>
              <a:chOff x="4782254" y="1527200"/>
              <a:chExt cx="1575003" cy="1700480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EEF20A91-9D55-486B-BC0B-4537B887C8DF}"/>
                  </a:ext>
                </a:extLst>
              </p:cNvPr>
              <p:cNvSpPr/>
              <p:nvPr/>
            </p:nvSpPr>
            <p:spPr>
              <a:xfrm>
                <a:off x="5312230" y="2070069"/>
                <a:ext cx="522514" cy="56916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990FC02E-8029-4CCF-B0AA-ED96EF190A2D}"/>
                  </a:ext>
                </a:extLst>
              </p:cNvPr>
              <p:cNvSpPr/>
              <p:nvPr/>
            </p:nvSpPr>
            <p:spPr>
              <a:xfrm>
                <a:off x="5508172" y="2296730"/>
                <a:ext cx="121298" cy="13656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2275CA1-6644-4AB1-82E9-A73482D17FA4}"/>
                  </a:ext>
                </a:extLst>
              </p:cNvPr>
              <p:cNvSpPr/>
              <p:nvPr/>
            </p:nvSpPr>
            <p:spPr>
              <a:xfrm>
                <a:off x="5834743" y="2067661"/>
                <a:ext cx="522514" cy="56916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43395B9-4DB3-4861-B123-284814E4799D}"/>
                  </a:ext>
                </a:extLst>
              </p:cNvPr>
              <p:cNvSpPr/>
              <p:nvPr/>
            </p:nvSpPr>
            <p:spPr>
              <a:xfrm>
                <a:off x="6030685" y="2294322"/>
                <a:ext cx="121298" cy="13656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E835A2C5-5166-464E-8078-ED89FA48E0DE}"/>
                  </a:ext>
                </a:extLst>
              </p:cNvPr>
              <p:cNvSpPr/>
              <p:nvPr/>
            </p:nvSpPr>
            <p:spPr>
              <a:xfrm>
                <a:off x="4789718" y="2067045"/>
                <a:ext cx="522514" cy="56916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6A78C083-8388-485B-A18A-E67EF2D9833E}"/>
                  </a:ext>
                </a:extLst>
              </p:cNvPr>
              <p:cNvSpPr/>
              <p:nvPr/>
            </p:nvSpPr>
            <p:spPr>
              <a:xfrm>
                <a:off x="4985660" y="2293706"/>
                <a:ext cx="121298" cy="13656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DD6A6846-5481-4236-9931-B185D489ABDC}"/>
                      </a:ext>
                    </a:extLst>
                  </p:cNvPr>
                  <p:cNvSpPr txBox="1"/>
                  <p:nvPr/>
                </p:nvSpPr>
                <p:spPr>
                  <a:xfrm>
                    <a:off x="4876556" y="2858348"/>
                    <a:ext cx="32657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oMath>
                      </m:oMathPara>
                    </a14:m>
                    <a:endPara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DD6A6846-5481-4236-9931-B185D489AB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76556" y="2858348"/>
                    <a:ext cx="326570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8" name="Right Brace 37">
                <a:extLst>
                  <a:ext uri="{FF2B5EF4-FFF2-40B4-BE49-F238E27FC236}">
                    <a16:creationId xmlns:a16="http://schemas.microsoft.com/office/drawing/2014/main" id="{EEE9F440-D35A-4819-BB4E-3F4DECD70911}"/>
                  </a:ext>
                </a:extLst>
              </p:cNvPr>
              <p:cNvSpPr/>
              <p:nvPr/>
            </p:nvSpPr>
            <p:spPr>
              <a:xfrm rot="5400000">
                <a:off x="4963035" y="2507820"/>
                <a:ext cx="160952" cy="522513"/>
              </a:xfrm>
              <a:prstGeom prst="rightBrac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81CEBD0A-77FE-4DA3-83EF-0B3A079310D4}"/>
                  </a:ext>
                </a:extLst>
              </p:cNvPr>
              <p:cNvSpPr/>
              <p:nvPr/>
            </p:nvSpPr>
            <p:spPr>
              <a:xfrm>
                <a:off x="5058393" y="1905522"/>
                <a:ext cx="483992" cy="298268"/>
              </a:xfrm>
              <a:custGeom>
                <a:avLst/>
                <a:gdLst>
                  <a:gd name="connsiteX0" fmla="*/ 0 w 541175"/>
                  <a:gd name="connsiteY0" fmla="*/ 288937 h 298268"/>
                  <a:gd name="connsiteX1" fmla="*/ 149290 w 541175"/>
                  <a:gd name="connsiteY1" fmla="*/ 55672 h 298268"/>
                  <a:gd name="connsiteX2" fmla="*/ 363894 w 541175"/>
                  <a:gd name="connsiteY2" fmla="*/ 18349 h 298268"/>
                  <a:gd name="connsiteX3" fmla="*/ 541175 w 541175"/>
                  <a:gd name="connsiteY3" fmla="*/ 298268 h 298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1175" h="298268">
                    <a:moveTo>
                      <a:pt x="0" y="288937"/>
                    </a:moveTo>
                    <a:cubicBezTo>
                      <a:pt x="44320" y="194853"/>
                      <a:pt x="88641" y="100770"/>
                      <a:pt x="149290" y="55672"/>
                    </a:cubicBezTo>
                    <a:cubicBezTo>
                      <a:pt x="209939" y="10574"/>
                      <a:pt x="298580" y="-22084"/>
                      <a:pt x="363894" y="18349"/>
                    </a:cubicBezTo>
                    <a:cubicBezTo>
                      <a:pt x="429208" y="58782"/>
                      <a:pt x="485191" y="178525"/>
                      <a:pt x="541175" y="298268"/>
                    </a:cubicBezTo>
                  </a:path>
                </a:pathLst>
              </a:custGeom>
              <a:noFill/>
              <a:ln w="38100">
                <a:solidFill>
                  <a:srgbClr val="FFC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F33104C1-C59C-45E7-8137-DB049006F94C}"/>
                  </a:ext>
                </a:extLst>
              </p:cNvPr>
              <p:cNvSpPr/>
              <p:nvPr/>
            </p:nvSpPr>
            <p:spPr>
              <a:xfrm>
                <a:off x="5603878" y="1907931"/>
                <a:ext cx="518670" cy="295859"/>
              </a:xfrm>
              <a:custGeom>
                <a:avLst/>
                <a:gdLst>
                  <a:gd name="connsiteX0" fmla="*/ 0 w 541175"/>
                  <a:gd name="connsiteY0" fmla="*/ 288937 h 298268"/>
                  <a:gd name="connsiteX1" fmla="*/ 149290 w 541175"/>
                  <a:gd name="connsiteY1" fmla="*/ 55672 h 298268"/>
                  <a:gd name="connsiteX2" fmla="*/ 363894 w 541175"/>
                  <a:gd name="connsiteY2" fmla="*/ 18349 h 298268"/>
                  <a:gd name="connsiteX3" fmla="*/ 541175 w 541175"/>
                  <a:gd name="connsiteY3" fmla="*/ 298268 h 298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1175" h="298268">
                    <a:moveTo>
                      <a:pt x="0" y="288937"/>
                    </a:moveTo>
                    <a:cubicBezTo>
                      <a:pt x="44320" y="194853"/>
                      <a:pt x="88641" y="100770"/>
                      <a:pt x="149290" y="55672"/>
                    </a:cubicBezTo>
                    <a:cubicBezTo>
                      <a:pt x="209939" y="10574"/>
                      <a:pt x="298580" y="-22084"/>
                      <a:pt x="363894" y="18349"/>
                    </a:cubicBezTo>
                    <a:cubicBezTo>
                      <a:pt x="429208" y="58782"/>
                      <a:pt x="485191" y="178525"/>
                      <a:pt x="541175" y="298268"/>
                    </a:cubicBezTo>
                  </a:path>
                </a:pathLst>
              </a:custGeom>
              <a:noFill/>
              <a:ln w="38100">
                <a:solidFill>
                  <a:srgbClr val="FFC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EB3284E1-3F40-4F83-AAF6-FC6BE9B08B32}"/>
                      </a:ext>
                    </a:extLst>
                  </p:cNvPr>
                  <p:cNvSpPr txBox="1"/>
                  <p:nvPr/>
                </p:nvSpPr>
                <p:spPr>
                  <a:xfrm>
                    <a:off x="5169786" y="1527200"/>
                    <a:ext cx="32657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𝒕</m:t>
                          </m:r>
                        </m:oMath>
                      </m:oMathPara>
                    </a14:m>
                    <a:endParaRPr lang="en-US" b="1" dirty="0">
                      <a:solidFill>
                        <a:srgbClr val="FFC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EB3284E1-3F40-4F83-AAF6-FC6BE9B08B3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69786" y="1527200"/>
                    <a:ext cx="326570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6032757C-A5AB-4CA4-B6FA-CC355EC4FD8C}"/>
                    </a:ext>
                  </a:extLst>
                </p:cNvPr>
                <p:cNvSpPr txBox="1"/>
                <p:nvPr/>
              </p:nvSpPr>
              <p:spPr>
                <a:xfrm>
                  <a:off x="1741735" y="700818"/>
                  <a:ext cx="32657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𝒕</m:t>
                        </m:r>
                      </m:oMath>
                    </m:oMathPara>
                  </a14:m>
                  <a:endParaRPr lang="en-US" b="1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6032757C-A5AB-4CA4-B6FA-CC355EC4FD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1735" y="700818"/>
                  <a:ext cx="326570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7" name="Oval 46">
            <a:extLst>
              <a:ext uri="{FF2B5EF4-FFF2-40B4-BE49-F238E27FC236}">
                <a16:creationId xmlns:a16="http://schemas.microsoft.com/office/drawing/2014/main" id="{D384CFD0-04A5-42C6-B516-857B6D435645}"/>
              </a:ext>
            </a:extLst>
          </p:cNvPr>
          <p:cNvSpPr/>
          <p:nvPr/>
        </p:nvSpPr>
        <p:spPr>
          <a:xfrm>
            <a:off x="6006125" y="3509824"/>
            <a:ext cx="1425051" cy="580315"/>
          </a:xfrm>
          <a:prstGeom prst="ellipse">
            <a:avLst/>
          </a:prstGeom>
          <a:noFill/>
          <a:ln w="254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16D68A5-4C91-474C-BEB4-02131E1038DA}"/>
              </a:ext>
            </a:extLst>
          </p:cNvPr>
          <p:cNvCxnSpPr>
            <a:cxnSpLocks/>
          </p:cNvCxnSpPr>
          <p:nvPr/>
        </p:nvCxnSpPr>
        <p:spPr>
          <a:xfrm flipH="1" flipV="1">
            <a:off x="5916577" y="2746199"/>
            <a:ext cx="683551" cy="694584"/>
          </a:xfrm>
          <a:prstGeom prst="straightConnector1">
            <a:avLst/>
          </a:prstGeom>
          <a:ln w="25400"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D5A8A404-4151-461C-A680-CCCE14B488B1}"/>
              </a:ext>
            </a:extLst>
          </p:cNvPr>
          <p:cNvSpPr/>
          <p:nvPr/>
        </p:nvSpPr>
        <p:spPr>
          <a:xfrm>
            <a:off x="9066038" y="852516"/>
            <a:ext cx="777595" cy="500732"/>
          </a:xfrm>
          <a:prstGeom prst="ellipse">
            <a:avLst/>
          </a:prstGeom>
          <a:noFill/>
          <a:ln w="254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B44B415-3ED9-4472-853D-0DDC974E021D}"/>
              </a:ext>
            </a:extLst>
          </p:cNvPr>
          <p:cNvSpPr/>
          <p:nvPr/>
        </p:nvSpPr>
        <p:spPr>
          <a:xfrm>
            <a:off x="10018006" y="854983"/>
            <a:ext cx="626397" cy="500732"/>
          </a:xfrm>
          <a:prstGeom prst="ellipse">
            <a:avLst/>
          </a:prstGeom>
          <a:noFill/>
          <a:ln w="254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97D33B7-DBC5-4FD5-BB09-D1BB035149E9}"/>
              </a:ext>
            </a:extLst>
          </p:cNvPr>
          <p:cNvCxnSpPr>
            <a:cxnSpLocks/>
          </p:cNvCxnSpPr>
          <p:nvPr/>
        </p:nvCxnSpPr>
        <p:spPr>
          <a:xfrm flipH="1">
            <a:off x="5686429" y="1257401"/>
            <a:ext cx="3398271" cy="729238"/>
          </a:xfrm>
          <a:prstGeom prst="straightConnector1">
            <a:avLst/>
          </a:prstGeom>
          <a:ln w="25400"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A68759E-6FDE-4A4C-869E-96A0E56F5470}"/>
              </a:ext>
            </a:extLst>
          </p:cNvPr>
          <p:cNvCxnSpPr>
            <a:cxnSpLocks/>
          </p:cNvCxnSpPr>
          <p:nvPr/>
        </p:nvCxnSpPr>
        <p:spPr>
          <a:xfrm flipH="1">
            <a:off x="6300996" y="1353248"/>
            <a:ext cx="3801362" cy="645678"/>
          </a:xfrm>
          <a:prstGeom prst="straightConnector1">
            <a:avLst/>
          </a:prstGeom>
          <a:ln w="25400"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0710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595578-6B19-464A-8AA7-6F68494F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2533" y="6643166"/>
            <a:ext cx="392843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46F9F1-D47B-4A4E-85C3-4AB5ACE7C022}"/>
              </a:ext>
            </a:extLst>
          </p:cNvPr>
          <p:cNvSpPr txBox="1"/>
          <p:nvPr/>
        </p:nvSpPr>
        <p:spPr>
          <a:xfrm>
            <a:off x="547310" y="884557"/>
            <a:ext cx="6571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 the Hamiltonian and obtain the eigenstate and eigenvalue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A70E3A6-3E2D-45C3-B363-AB4050AAC4D6}"/>
                  </a:ext>
                </a:extLst>
              </p:cNvPr>
              <p:cNvSpPr txBox="1"/>
              <p:nvPr/>
            </p:nvSpPr>
            <p:spPr>
              <a:xfrm>
                <a:off x="547310" y="3179658"/>
                <a:ext cx="8018192" cy="4604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Boundary Conditions: 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confined within the First Brillouin Zone: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𝝅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den>
                    </m:f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𝒌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𝝅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den>
                    </m:f>
                  </m:oMath>
                </a14:m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A70E3A6-3E2D-45C3-B363-AB4050AAC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310" y="3179658"/>
                <a:ext cx="8018192" cy="460447"/>
              </a:xfrm>
              <a:prstGeom prst="rect">
                <a:avLst/>
              </a:prstGeom>
              <a:blipFill>
                <a:blip r:embed="rId5"/>
                <a:stretch>
                  <a:fillRect l="-684" t="-1333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Down 3">
            <a:extLst>
              <a:ext uri="{FF2B5EF4-FFF2-40B4-BE49-F238E27FC236}">
                <a16:creationId xmlns:a16="http://schemas.microsoft.com/office/drawing/2014/main" id="{7E8E3C80-DB3B-4183-B143-40CAF7E1407E}"/>
              </a:ext>
            </a:extLst>
          </p:cNvPr>
          <p:cNvSpPr/>
          <p:nvPr/>
        </p:nvSpPr>
        <p:spPr>
          <a:xfrm>
            <a:off x="5858933" y="1894914"/>
            <a:ext cx="237067" cy="613110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A5A6F60-AA3F-41AD-A07E-526779E79AA2}"/>
                  </a:ext>
                </a:extLst>
              </p:cNvPr>
              <p:cNvSpPr txBox="1"/>
              <p:nvPr/>
            </p:nvSpPr>
            <p:spPr>
              <a:xfrm>
                <a:off x="8449303" y="6156873"/>
                <a:ext cx="396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A5A6F60-AA3F-41AD-A07E-526779E79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9303" y="6156873"/>
                <a:ext cx="39611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D7B81DFE-D752-43CF-8B54-E685F8F60614}"/>
              </a:ext>
            </a:extLst>
          </p:cNvPr>
          <p:cNvSpPr txBox="1"/>
          <p:nvPr/>
        </p:nvSpPr>
        <p:spPr>
          <a:xfrm>
            <a:off x="3914959" y="177598"/>
            <a:ext cx="40851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III.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Monatomic 1D Chain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A7C24CE-C1A1-4879-A29F-0934140C48D4}"/>
                  </a:ext>
                </a:extLst>
              </p:cNvPr>
              <p:cNvSpPr txBox="1"/>
              <p:nvPr/>
            </p:nvSpPr>
            <p:spPr>
              <a:xfrm>
                <a:off x="3546163" y="1460669"/>
                <a:ext cx="5299258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𝒅𝒆𝒕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𝑯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𝑬𝑰</m:t>
                          </m:r>
                        </m:e>
                      </m:d>
                      <m:r>
                        <a:rPr lang="en-US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𝒅𝒆𝒕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𝒆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𝒊𝒌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∙−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𝒂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𝒆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𝒊𝒌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∙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𝒂</m:t>
                                  </m:r>
                                </m:sup>
                              </m:sSup>
                            </m:e>
                          </m:d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𝑬𝑰</m:t>
                          </m:r>
                        </m:e>
                      </m:d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A7C24CE-C1A1-4879-A29F-0934140C4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6163" y="1460669"/>
                <a:ext cx="5299258" cy="4049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E3E8E196-2DA1-49A7-BB65-445E7E0BAE94}"/>
                  </a:ext>
                </a:extLst>
              </p:cNvPr>
              <p:cNvSpPr txBox="1"/>
              <p:nvPr/>
            </p:nvSpPr>
            <p:spPr>
              <a:xfrm>
                <a:off x="4746802" y="2537286"/>
                <a:ext cx="25529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𝑬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𝜺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𝒄𝒐𝒔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E3E8E196-2DA1-49A7-BB65-445E7E0BA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6802" y="2537286"/>
                <a:ext cx="2552948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A296550-939C-4B4C-B08D-27A0DC7081BA}"/>
              </a:ext>
            </a:extLst>
          </p:cNvPr>
          <p:cNvCxnSpPr/>
          <p:nvPr/>
        </p:nvCxnSpPr>
        <p:spPr>
          <a:xfrm>
            <a:off x="4208371" y="5197151"/>
            <a:ext cx="3974841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5B65693-1307-4750-9C72-DB2218428FD0}"/>
              </a:ext>
            </a:extLst>
          </p:cNvPr>
          <p:cNvCxnSpPr>
            <a:cxnSpLocks/>
          </p:cNvCxnSpPr>
          <p:nvPr/>
        </p:nvCxnSpPr>
        <p:spPr>
          <a:xfrm flipV="1">
            <a:off x="6052457" y="3640105"/>
            <a:ext cx="0" cy="28861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B6564CC-798F-440C-972E-D0CAD68DCF6A}"/>
                  </a:ext>
                </a:extLst>
              </p:cNvPr>
              <p:cNvSpPr txBox="1"/>
              <p:nvPr/>
            </p:nvSpPr>
            <p:spPr>
              <a:xfrm>
                <a:off x="8048359" y="5212665"/>
                <a:ext cx="3216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B6564CC-798F-440C-972E-D0CAD68DC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8359" y="5212665"/>
                <a:ext cx="32165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DA2FBBF4-4341-4F61-802E-8EB5F623905A}"/>
                  </a:ext>
                </a:extLst>
              </p:cNvPr>
              <p:cNvSpPr txBox="1"/>
              <p:nvPr/>
            </p:nvSpPr>
            <p:spPr>
              <a:xfrm>
                <a:off x="5691718" y="3523056"/>
                <a:ext cx="30440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𝑬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DA2FBBF4-4341-4F61-802E-8EB5F6239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718" y="3523056"/>
                <a:ext cx="304408" cy="369332"/>
              </a:xfrm>
              <a:prstGeom prst="rect">
                <a:avLst/>
              </a:prstGeom>
              <a:blipFill>
                <a:blip r:embed="rId10"/>
                <a:stretch>
                  <a:fillRect r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98BF61F7-99AA-47B1-812C-8A9948E48C03}"/>
              </a:ext>
            </a:extLst>
          </p:cNvPr>
          <p:cNvGrpSpPr/>
          <p:nvPr/>
        </p:nvGrpSpPr>
        <p:grpSpPr>
          <a:xfrm>
            <a:off x="4556406" y="4279979"/>
            <a:ext cx="2957914" cy="1259633"/>
            <a:chOff x="4573555" y="4590661"/>
            <a:chExt cx="2957914" cy="1259633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50CF444-0075-45A1-A15F-CA3AA67EA72A}"/>
                </a:ext>
              </a:extLst>
            </p:cNvPr>
            <p:cNvSpPr/>
            <p:nvPr/>
          </p:nvSpPr>
          <p:spPr>
            <a:xfrm>
              <a:off x="6055567" y="4590661"/>
              <a:ext cx="737119" cy="1259633"/>
            </a:xfrm>
            <a:custGeom>
              <a:avLst/>
              <a:gdLst>
                <a:gd name="connsiteX0" fmla="*/ 0 w 737119"/>
                <a:gd name="connsiteY0" fmla="*/ 0 h 1259633"/>
                <a:gd name="connsiteX1" fmla="*/ 195943 w 737119"/>
                <a:gd name="connsiteY1" fmla="*/ 55984 h 1259633"/>
                <a:gd name="connsiteX2" fmla="*/ 317241 w 737119"/>
                <a:gd name="connsiteY2" fmla="*/ 317241 h 1259633"/>
                <a:gd name="connsiteX3" fmla="*/ 503853 w 737119"/>
                <a:gd name="connsiteY3" fmla="*/ 1073021 h 1259633"/>
                <a:gd name="connsiteX4" fmla="*/ 737119 w 737119"/>
                <a:gd name="connsiteY4" fmla="*/ 1259633 h 1259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119" h="1259633">
                  <a:moveTo>
                    <a:pt x="0" y="0"/>
                  </a:moveTo>
                  <a:cubicBezTo>
                    <a:pt x="71535" y="1555"/>
                    <a:pt x="143070" y="3111"/>
                    <a:pt x="195943" y="55984"/>
                  </a:cubicBezTo>
                  <a:cubicBezTo>
                    <a:pt x="248816" y="108857"/>
                    <a:pt x="265923" y="147735"/>
                    <a:pt x="317241" y="317241"/>
                  </a:cubicBezTo>
                  <a:cubicBezTo>
                    <a:pt x="368559" y="486747"/>
                    <a:pt x="433873" y="915956"/>
                    <a:pt x="503853" y="1073021"/>
                  </a:cubicBezTo>
                  <a:cubicBezTo>
                    <a:pt x="573833" y="1230086"/>
                    <a:pt x="655476" y="1244859"/>
                    <a:pt x="737119" y="1259633"/>
                  </a:cubicBezTo>
                </a:path>
              </a:pathLst>
            </a:cu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56618507-877D-4E49-B562-183E69F649A7}"/>
                </a:ext>
              </a:extLst>
            </p:cNvPr>
            <p:cNvSpPr/>
            <p:nvPr/>
          </p:nvSpPr>
          <p:spPr>
            <a:xfrm flipV="1">
              <a:off x="5312229" y="4590661"/>
              <a:ext cx="737119" cy="1259633"/>
            </a:xfrm>
            <a:custGeom>
              <a:avLst/>
              <a:gdLst>
                <a:gd name="connsiteX0" fmla="*/ 0 w 737119"/>
                <a:gd name="connsiteY0" fmla="*/ 0 h 1259633"/>
                <a:gd name="connsiteX1" fmla="*/ 195943 w 737119"/>
                <a:gd name="connsiteY1" fmla="*/ 55984 h 1259633"/>
                <a:gd name="connsiteX2" fmla="*/ 317241 w 737119"/>
                <a:gd name="connsiteY2" fmla="*/ 317241 h 1259633"/>
                <a:gd name="connsiteX3" fmla="*/ 503853 w 737119"/>
                <a:gd name="connsiteY3" fmla="*/ 1073021 h 1259633"/>
                <a:gd name="connsiteX4" fmla="*/ 737119 w 737119"/>
                <a:gd name="connsiteY4" fmla="*/ 1259633 h 1259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119" h="1259633">
                  <a:moveTo>
                    <a:pt x="0" y="0"/>
                  </a:moveTo>
                  <a:cubicBezTo>
                    <a:pt x="71535" y="1555"/>
                    <a:pt x="143070" y="3111"/>
                    <a:pt x="195943" y="55984"/>
                  </a:cubicBezTo>
                  <a:cubicBezTo>
                    <a:pt x="248816" y="108857"/>
                    <a:pt x="265923" y="147735"/>
                    <a:pt x="317241" y="317241"/>
                  </a:cubicBezTo>
                  <a:cubicBezTo>
                    <a:pt x="368559" y="486747"/>
                    <a:pt x="433873" y="915956"/>
                    <a:pt x="503853" y="1073021"/>
                  </a:cubicBezTo>
                  <a:cubicBezTo>
                    <a:pt x="573833" y="1230086"/>
                    <a:pt x="655476" y="1244859"/>
                    <a:pt x="737119" y="1259633"/>
                  </a:cubicBezTo>
                </a:path>
              </a:pathLst>
            </a:cu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551983A-071D-43A3-8402-992EDCF4354F}"/>
                </a:ext>
              </a:extLst>
            </p:cNvPr>
            <p:cNvSpPr/>
            <p:nvPr/>
          </p:nvSpPr>
          <p:spPr>
            <a:xfrm flipV="1">
              <a:off x="6794350" y="4590661"/>
              <a:ext cx="737119" cy="1259633"/>
            </a:xfrm>
            <a:custGeom>
              <a:avLst/>
              <a:gdLst>
                <a:gd name="connsiteX0" fmla="*/ 0 w 737119"/>
                <a:gd name="connsiteY0" fmla="*/ 0 h 1259633"/>
                <a:gd name="connsiteX1" fmla="*/ 195943 w 737119"/>
                <a:gd name="connsiteY1" fmla="*/ 55984 h 1259633"/>
                <a:gd name="connsiteX2" fmla="*/ 317241 w 737119"/>
                <a:gd name="connsiteY2" fmla="*/ 317241 h 1259633"/>
                <a:gd name="connsiteX3" fmla="*/ 503853 w 737119"/>
                <a:gd name="connsiteY3" fmla="*/ 1073021 h 1259633"/>
                <a:gd name="connsiteX4" fmla="*/ 737119 w 737119"/>
                <a:gd name="connsiteY4" fmla="*/ 1259633 h 1259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119" h="1259633">
                  <a:moveTo>
                    <a:pt x="0" y="0"/>
                  </a:moveTo>
                  <a:cubicBezTo>
                    <a:pt x="71535" y="1555"/>
                    <a:pt x="143070" y="3111"/>
                    <a:pt x="195943" y="55984"/>
                  </a:cubicBezTo>
                  <a:cubicBezTo>
                    <a:pt x="248816" y="108857"/>
                    <a:pt x="265923" y="147735"/>
                    <a:pt x="317241" y="317241"/>
                  </a:cubicBezTo>
                  <a:cubicBezTo>
                    <a:pt x="368559" y="486747"/>
                    <a:pt x="433873" y="915956"/>
                    <a:pt x="503853" y="1073021"/>
                  </a:cubicBezTo>
                  <a:cubicBezTo>
                    <a:pt x="573833" y="1230086"/>
                    <a:pt x="655476" y="1244859"/>
                    <a:pt x="737119" y="1259633"/>
                  </a:cubicBezTo>
                </a:path>
              </a:pathLst>
            </a:cu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4F9C8BD5-4F0E-4AA9-A713-91DC05715ED1}"/>
                </a:ext>
              </a:extLst>
            </p:cNvPr>
            <p:cNvSpPr/>
            <p:nvPr/>
          </p:nvSpPr>
          <p:spPr>
            <a:xfrm>
              <a:off x="4573555" y="4590661"/>
              <a:ext cx="737119" cy="1259633"/>
            </a:xfrm>
            <a:custGeom>
              <a:avLst/>
              <a:gdLst>
                <a:gd name="connsiteX0" fmla="*/ 0 w 737119"/>
                <a:gd name="connsiteY0" fmla="*/ 0 h 1259633"/>
                <a:gd name="connsiteX1" fmla="*/ 195943 w 737119"/>
                <a:gd name="connsiteY1" fmla="*/ 55984 h 1259633"/>
                <a:gd name="connsiteX2" fmla="*/ 317241 w 737119"/>
                <a:gd name="connsiteY2" fmla="*/ 317241 h 1259633"/>
                <a:gd name="connsiteX3" fmla="*/ 503853 w 737119"/>
                <a:gd name="connsiteY3" fmla="*/ 1073021 h 1259633"/>
                <a:gd name="connsiteX4" fmla="*/ 737119 w 737119"/>
                <a:gd name="connsiteY4" fmla="*/ 1259633 h 1259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119" h="1259633">
                  <a:moveTo>
                    <a:pt x="0" y="0"/>
                  </a:moveTo>
                  <a:cubicBezTo>
                    <a:pt x="71535" y="1555"/>
                    <a:pt x="143070" y="3111"/>
                    <a:pt x="195943" y="55984"/>
                  </a:cubicBezTo>
                  <a:cubicBezTo>
                    <a:pt x="248816" y="108857"/>
                    <a:pt x="265923" y="147735"/>
                    <a:pt x="317241" y="317241"/>
                  </a:cubicBezTo>
                  <a:cubicBezTo>
                    <a:pt x="368559" y="486747"/>
                    <a:pt x="433873" y="915956"/>
                    <a:pt x="503853" y="1073021"/>
                  </a:cubicBezTo>
                  <a:cubicBezTo>
                    <a:pt x="573833" y="1230086"/>
                    <a:pt x="655476" y="1244859"/>
                    <a:pt x="737119" y="1259633"/>
                  </a:cubicBezTo>
                </a:path>
              </a:pathLst>
            </a:cu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DCE5954E-B66E-44DD-985E-A9460D763742}"/>
              </a:ext>
            </a:extLst>
          </p:cNvPr>
          <p:cNvCxnSpPr>
            <a:cxnSpLocks/>
          </p:cNvCxnSpPr>
          <p:nvPr/>
        </p:nvCxnSpPr>
        <p:spPr>
          <a:xfrm>
            <a:off x="5321515" y="5187820"/>
            <a:ext cx="0" cy="370083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98410A35-4BA5-42AC-8768-6EF357E4E5FF}"/>
              </a:ext>
            </a:extLst>
          </p:cNvPr>
          <p:cNvCxnSpPr>
            <a:cxnSpLocks/>
          </p:cNvCxnSpPr>
          <p:nvPr/>
        </p:nvCxnSpPr>
        <p:spPr>
          <a:xfrm>
            <a:off x="6809705" y="5184672"/>
            <a:ext cx="0" cy="370083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FE4903D-6405-4B02-ADC2-EAC26F17571D}"/>
                  </a:ext>
                </a:extLst>
              </p:cNvPr>
              <p:cNvSpPr txBox="1"/>
              <p:nvPr/>
            </p:nvSpPr>
            <p:spPr>
              <a:xfrm>
                <a:off x="6652959" y="4580298"/>
                <a:ext cx="290584" cy="5688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FE4903D-6405-4B02-ADC2-EAC26F175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2959" y="4580298"/>
                <a:ext cx="290584" cy="56887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7B5FF718-AF86-4117-892F-97E2186F4F50}"/>
                  </a:ext>
                </a:extLst>
              </p:cNvPr>
              <p:cNvSpPr txBox="1"/>
              <p:nvPr/>
            </p:nvSpPr>
            <p:spPr>
              <a:xfrm>
                <a:off x="4944227" y="4618946"/>
                <a:ext cx="485281" cy="5688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7B5FF718-AF86-4117-892F-97E2186F4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4227" y="4618946"/>
                <a:ext cx="485281" cy="56887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8AEFDDBF-56C9-4912-9662-A8F44E2AC842}"/>
                  </a:ext>
                </a:extLst>
              </p:cNvPr>
              <p:cNvSpPr txBox="1"/>
              <p:nvPr/>
            </p:nvSpPr>
            <p:spPr>
              <a:xfrm>
                <a:off x="5186867" y="3983503"/>
                <a:ext cx="9153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𝜺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8AEFDDBF-56C9-4912-9662-A8F44E2AC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6867" y="3983503"/>
                <a:ext cx="915317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FE452A7D-CC19-4FF5-87CD-CA6C85706BA0}"/>
              </a:ext>
            </a:extLst>
          </p:cNvPr>
          <p:cNvCxnSpPr>
            <a:cxnSpLocks/>
          </p:cNvCxnSpPr>
          <p:nvPr/>
        </p:nvCxnSpPr>
        <p:spPr>
          <a:xfrm flipH="1">
            <a:off x="5304431" y="5533142"/>
            <a:ext cx="1488190" cy="1113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7975692-5924-4E3D-B3CB-C603E64C9918}"/>
                  </a:ext>
                </a:extLst>
              </p:cNvPr>
              <p:cNvSpPr txBox="1"/>
              <p:nvPr/>
            </p:nvSpPr>
            <p:spPr>
              <a:xfrm>
                <a:off x="5189774" y="5554520"/>
                <a:ext cx="9153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𝜺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7975692-5924-4E3D-B3CB-C603E64C9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9774" y="5554520"/>
                <a:ext cx="91531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TextBox 101">
            <a:extLst>
              <a:ext uri="{FF2B5EF4-FFF2-40B4-BE49-F238E27FC236}">
                <a16:creationId xmlns:a16="http://schemas.microsoft.com/office/drawing/2014/main" id="{BB820A15-7BD4-46A9-91DE-C16D56C5DFE0}"/>
              </a:ext>
            </a:extLst>
          </p:cNvPr>
          <p:cNvSpPr txBox="1"/>
          <p:nvPr/>
        </p:nvSpPr>
        <p:spPr>
          <a:xfrm>
            <a:off x="1440695" y="4282530"/>
            <a:ext cx="1699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 Structure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AE77EEC2-A307-41CD-B561-EBC363ACDDD6}"/>
              </a:ext>
            </a:extLst>
          </p:cNvPr>
          <p:cNvCxnSpPr>
            <a:cxnSpLocks/>
          </p:cNvCxnSpPr>
          <p:nvPr/>
        </p:nvCxnSpPr>
        <p:spPr>
          <a:xfrm>
            <a:off x="3093847" y="4510928"/>
            <a:ext cx="1212621" cy="148111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830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B6A2A-7C28-4370-989B-B8604EA07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9467" y="6643166"/>
            <a:ext cx="375910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4DEC3A8-C43A-4B13-8939-DE82CA02FCD0}"/>
                  </a:ext>
                </a:extLst>
              </p:cNvPr>
              <p:cNvSpPr txBox="1"/>
              <p:nvPr/>
            </p:nvSpPr>
            <p:spPr>
              <a:xfrm>
                <a:off x="1150441" y="2423526"/>
                <a:ext cx="56223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Bandwidth: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𝒎𝒂𝒙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𝒎𝒊𝒏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𝜺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𝜺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4DEC3A8-C43A-4B13-8939-DE82CA02F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441" y="2423526"/>
                <a:ext cx="5622340" cy="369332"/>
              </a:xfrm>
              <a:prstGeom prst="rect">
                <a:avLst/>
              </a:prstGeom>
              <a:blipFill>
                <a:blip r:embed="rId5"/>
                <a:stretch>
                  <a:fillRect l="-86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2DD4255-95C8-46DC-828F-B4D932EA8ACE}"/>
                  </a:ext>
                </a:extLst>
              </p:cNvPr>
              <p:cNvSpPr txBox="1"/>
              <p:nvPr/>
            </p:nvSpPr>
            <p:spPr>
              <a:xfrm>
                <a:off x="1150441" y="3374371"/>
                <a:ext cx="5098229" cy="5048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Group Velocity: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𝒈</m:t>
                        </m:r>
                      </m:sub>
                    </m:sSub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ℏ</m:t>
                        </m:r>
                      </m:den>
                    </m:f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𝒅𝑬</m:t>
                        </m:r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𝒌</m:t>
                            </m:r>
                          </m:e>
                        </m:d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𝒅𝒌</m:t>
                        </m:r>
                      </m:den>
                    </m:f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𝒕𝒂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ℏ</m:t>
                        </m:r>
                      </m:den>
                    </m:f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𝒔𝒊𝒏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∙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</m:d>
                  </m:oMath>
                </a14:m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2DD4255-95C8-46DC-828F-B4D932EA8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441" y="3374371"/>
                <a:ext cx="5098229" cy="504818"/>
              </a:xfrm>
              <a:prstGeom prst="rect">
                <a:avLst/>
              </a:prstGeom>
              <a:blipFill>
                <a:blip r:embed="rId6"/>
                <a:stretch>
                  <a:fillRect l="-957" b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1AE2F901-88EF-48BA-8369-A35948B15526}"/>
              </a:ext>
            </a:extLst>
          </p:cNvPr>
          <p:cNvSpPr txBox="1"/>
          <p:nvPr/>
        </p:nvSpPr>
        <p:spPr>
          <a:xfrm>
            <a:off x="3914959" y="177598"/>
            <a:ext cx="40851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III.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Monatomic 1D Chain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A301C17-2717-4E39-B2D9-38E793F734C6}"/>
                  </a:ext>
                </a:extLst>
              </p:cNvPr>
              <p:cNvSpPr txBox="1"/>
              <p:nvPr/>
            </p:nvSpPr>
            <p:spPr>
              <a:xfrm>
                <a:off x="4396537" y="1096997"/>
                <a:ext cx="25529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𝑬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𝜺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𝒄𝒐𝒔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A301C17-2717-4E39-B2D9-38E793F734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6537" y="1096997"/>
                <a:ext cx="255294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Arrow: Down 18">
            <a:extLst>
              <a:ext uri="{FF2B5EF4-FFF2-40B4-BE49-F238E27FC236}">
                <a16:creationId xmlns:a16="http://schemas.microsoft.com/office/drawing/2014/main" id="{9AD7E0AC-DF7F-4432-8B63-6BE9667553E0}"/>
              </a:ext>
            </a:extLst>
          </p:cNvPr>
          <p:cNvSpPr/>
          <p:nvPr/>
        </p:nvSpPr>
        <p:spPr>
          <a:xfrm>
            <a:off x="5435944" y="1639264"/>
            <a:ext cx="237067" cy="613110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5620BC4-7FD8-4B33-AE3F-2BBFBF923C85}"/>
                  </a:ext>
                </a:extLst>
              </p:cNvPr>
              <p:cNvSpPr txBox="1"/>
              <p:nvPr/>
            </p:nvSpPr>
            <p:spPr>
              <a:xfrm>
                <a:off x="1150441" y="4287177"/>
                <a:ext cx="5492955" cy="624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Effective Mass: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ℏ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𝒅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𝑬</m:t>
                                </m:r>
                                <m:d>
                                  <m:d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𝒌</m:t>
                                    </m:r>
                                  </m:e>
                                </m:d>
                              </m:num>
                              <m:den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𝒅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𝒌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ℏ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𝒕</m:t>
                        </m:r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𝒄𝒐𝒔</m:t>
                        </m:r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𝒌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∙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</m:d>
                      </m:den>
                    </m:f>
                  </m:oMath>
                </a14:m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5620BC4-7FD8-4B33-AE3F-2BBFBF923C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441" y="4287177"/>
                <a:ext cx="5492955" cy="624210"/>
              </a:xfrm>
              <a:prstGeom prst="rect">
                <a:avLst/>
              </a:prstGeom>
              <a:blipFill>
                <a:blip r:embed="rId8"/>
                <a:stretch>
                  <a:fillRect l="-9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ABF4A30-D1B9-47F0-BD12-18D46862ED34}"/>
                  </a:ext>
                </a:extLst>
              </p:cNvPr>
              <p:cNvSpPr txBox="1"/>
              <p:nvPr/>
            </p:nvSpPr>
            <p:spPr>
              <a:xfrm>
                <a:off x="6990380" y="3744816"/>
                <a:ext cx="4196824" cy="53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Bottom of band (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0):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ℏ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𝒕</m:t>
                        </m:r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ABF4A30-D1B9-47F0-BD12-18D46862E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0380" y="3744816"/>
                <a:ext cx="4196824" cy="533736"/>
              </a:xfrm>
              <a:prstGeom prst="rect">
                <a:avLst/>
              </a:prstGeom>
              <a:blipFill>
                <a:blip r:embed="rId9"/>
                <a:stretch>
                  <a:fillRect l="-1163" b="-56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29D872F-4A8E-4814-AAC7-CEC6F4EC4F43}"/>
                  </a:ext>
                </a:extLst>
              </p:cNvPr>
              <p:cNvSpPr txBox="1"/>
              <p:nvPr/>
            </p:nvSpPr>
            <p:spPr>
              <a:xfrm>
                <a:off x="6990380" y="4946859"/>
                <a:ext cx="3627459" cy="53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Top of band (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0):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ℏ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𝒕</m:t>
                        </m:r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29D872F-4A8E-4814-AAC7-CEC6F4EC4F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0380" y="4946859"/>
                <a:ext cx="3627459" cy="533736"/>
              </a:xfrm>
              <a:prstGeom prst="rect">
                <a:avLst/>
              </a:prstGeom>
              <a:blipFill>
                <a:blip r:embed="rId10"/>
                <a:stretch>
                  <a:fillRect l="-1513" b="-56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ight Brace 22">
            <a:extLst>
              <a:ext uri="{FF2B5EF4-FFF2-40B4-BE49-F238E27FC236}">
                <a16:creationId xmlns:a16="http://schemas.microsoft.com/office/drawing/2014/main" id="{7C565AB3-9E28-4DE5-9445-AAE0DDAA3F5A}"/>
              </a:ext>
            </a:extLst>
          </p:cNvPr>
          <p:cNvSpPr/>
          <p:nvPr/>
        </p:nvSpPr>
        <p:spPr>
          <a:xfrm rot="10800000">
            <a:off x="6796901" y="3903864"/>
            <a:ext cx="234445" cy="1476156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E8FF30-21B2-4A4E-9620-5B960EF2E7E8}"/>
              </a:ext>
            </a:extLst>
          </p:cNvPr>
          <p:cNvSpPr txBox="1"/>
          <p:nvPr/>
        </p:nvSpPr>
        <p:spPr>
          <a:xfrm>
            <a:off x="7586963" y="4287177"/>
            <a:ext cx="2556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(parabolic electron-like)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AAA8C2-D475-4062-AEB1-DB10FC928F61}"/>
              </a:ext>
            </a:extLst>
          </p:cNvPr>
          <p:cNvSpPr txBox="1"/>
          <p:nvPr/>
        </p:nvSpPr>
        <p:spPr>
          <a:xfrm>
            <a:off x="8273350" y="5465576"/>
            <a:ext cx="1183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(hole-like)</a:t>
            </a:r>
          </a:p>
        </p:txBody>
      </p:sp>
    </p:spTree>
    <p:extLst>
      <p:ext uri="{BB962C8B-B14F-4D97-AF65-F5344CB8AC3E}">
        <p14:creationId xmlns:p14="http://schemas.microsoft.com/office/powerpoint/2010/main" val="997012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EAFFAE-EB16-4700-B33E-B0A26623F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4073" y="6643166"/>
            <a:ext cx="387927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5713FD4-7D16-4F09-AA97-9445A413BE9B}"/>
              </a:ext>
            </a:extLst>
          </p:cNvPr>
          <p:cNvSpPr txBox="1"/>
          <p:nvPr/>
        </p:nvSpPr>
        <p:spPr>
          <a:xfrm>
            <a:off x="177283" y="2391035"/>
            <a:ext cx="702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Crystal Structure in reality: Bravais Lattice ⊗ Basis (Atomic Cluster)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577069F-6675-4158-8230-CE2099298580}"/>
              </a:ext>
            </a:extLst>
          </p:cNvPr>
          <p:cNvSpPr txBox="1"/>
          <p:nvPr/>
        </p:nvSpPr>
        <p:spPr>
          <a:xfrm>
            <a:off x="177282" y="4374263"/>
            <a:ext cx="118405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Non-Bravais Reality: Many of the most vital materials in spintronics and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valleytronics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—such as Graphene (Hexagonal), Silicon (Diamond), and MoS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—are NOT Bravais lattices</a:t>
            </a:r>
          </a:p>
          <a:p>
            <a:pPr algn="just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consist of multiple interpenetrating Bravais sublattices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F42FD2D-C04A-47B2-9C19-5365E3D58497}"/>
              </a:ext>
            </a:extLst>
          </p:cNvPr>
          <p:cNvSpPr txBox="1"/>
          <p:nvPr/>
        </p:nvSpPr>
        <p:spPr>
          <a:xfrm>
            <a:off x="177283" y="1117943"/>
            <a:ext cx="11840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Bravais Lattice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purely mathematical array of points where every single point has an identical geometric environment (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1D monatomic chain, Simple Cubic)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DFD85DA-099D-4F89-8237-FAFF34C1036D}"/>
              </a:ext>
            </a:extLst>
          </p:cNvPr>
          <p:cNvSpPr txBox="1"/>
          <p:nvPr/>
        </p:nvSpPr>
        <p:spPr>
          <a:xfrm>
            <a:off x="1964479" y="157353"/>
            <a:ext cx="86487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IV.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Crystals with a Basis: The Multi-Sublattice Problem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BA00D58-45AA-45D5-A63A-DD61F05A5D4E}"/>
              </a:ext>
            </a:extLst>
          </p:cNvPr>
          <p:cNvSpPr txBox="1"/>
          <p:nvPr/>
        </p:nvSpPr>
        <p:spPr>
          <a:xfrm>
            <a:off x="1066801" y="3066800"/>
            <a:ext cx="4400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Crystal Structure = Bravais Lattice + Basis</a:t>
            </a:r>
          </a:p>
        </p:txBody>
      </p:sp>
    </p:spTree>
    <p:extLst>
      <p:ext uri="{BB962C8B-B14F-4D97-AF65-F5344CB8AC3E}">
        <p14:creationId xmlns:p14="http://schemas.microsoft.com/office/powerpoint/2010/main" val="3871060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7911118B-E748-4BDF-982D-3D8806BD5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2532" y="6643166"/>
            <a:ext cx="392843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5DAB9D-EB39-409F-9CD7-AF0DD864B33E}"/>
              </a:ext>
            </a:extLst>
          </p:cNvPr>
          <p:cNvSpPr txBox="1"/>
          <p:nvPr/>
        </p:nvSpPr>
        <p:spPr>
          <a:xfrm>
            <a:off x="139958" y="3267185"/>
            <a:ext cx="11952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cannot use a single, global Fourier transform to diagonalize the Hamiltonian. If one forces them into a single Bloch sum, the matrix elements will lose their phase tracking, leading to mathematically incorrect band structures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C0E5AA-C249-4B03-866B-4621E4BF785B}"/>
              </a:ext>
            </a:extLst>
          </p:cNvPr>
          <p:cNvSpPr txBox="1"/>
          <p:nvPr/>
        </p:nvSpPr>
        <p:spPr>
          <a:xfrm>
            <a:off x="139959" y="623576"/>
            <a:ext cx="1195251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monatomic crystal, every atom is located precisely at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translation vector connects all atoms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Bloch Sum applies for such case; while, in a crystal with a basis, atoms are located at </a:t>
            </a:r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l-G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l-GR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distance between atom A and atom B inside the same unit cell is </a:t>
            </a:r>
            <a:r>
              <a:rPr lang="el-G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l-G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NOT a lattice translation vector. Under such case, Bloch Sum does not work any longer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280238-40EA-4E03-A931-53E5018AFC9D}"/>
              </a:ext>
            </a:extLst>
          </p:cNvPr>
          <p:cNvSpPr txBox="1"/>
          <p:nvPr/>
        </p:nvSpPr>
        <p:spPr>
          <a:xfrm>
            <a:off x="4065345" y="1967013"/>
            <a:ext cx="1907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Consequence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D0193621-3D9A-40B3-B185-215E283554A4}"/>
              </a:ext>
            </a:extLst>
          </p:cNvPr>
          <p:cNvSpPr/>
          <p:nvPr/>
        </p:nvSpPr>
        <p:spPr>
          <a:xfrm>
            <a:off x="5921568" y="1874666"/>
            <a:ext cx="237067" cy="678604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08A745-DCA6-4268-96BD-DD32B3189C21}"/>
              </a:ext>
            </a:extLst>
          </p:cNvPr>
          <p:cNvSpPr txBox="1"/>
          <p:nvPr/>
        </p:nvSpPr>
        <p:spPr>
          <a:xfrm>
            <a:off x="1964479" y="157353"/>
            <a:ext cx="86487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IV.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Crystals with a Basis: The Multi-Sublattice Problem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B0DCBA3-8274-4984-A563-35640591DA82}"/>
                  </a:ext>
                </a:extLst>
              </p:cNvPr>
              <p:cNvSpPr txBox="1"/>
              <p:nvPr/>
            </p:nvSpPr>
            <p:spPr>
              <a:xfrm>
                <a:off x="4399290" y="2553270"/>
                <a:ext cx="2882044" cy="4139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𝑻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𝒏</m:t>
                              </m:r>
                            </m:sub>
                          </m:sSub>
                        </m:sub>
                      </m:sSub>
                      <m:r>
                        <m:rPr>
                          <m:sty m:val="p"/>
                        </m:rPr>
                        <a:rPr lang="el-GR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𝒓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𝝉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sub>
                          </m:sSub>
                        </m:e>
                      </m:d>
                      <m:r>
                        <a:rPr lang="en-US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≠</m:t>
                      </m:r>
                      <m:r>
                        <m:rPr>
                          <m:sty m:val="p"/>
                        </m:rPr>
                        <a:rPr lang="el-GR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𝒓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𝝉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B0DCBA3-8274-4984-A563-35640591D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9290" y="2553270"/>
                <a:ext cx="2882044" cy="413959"/>
              </a:xfrm>
              <a:prstGeom prst="rect">
                <a:avLst/>
              </a:prstGeom>
              <a:blipFill>
                <a:blip r:embed="rId5"/>
                <a:stretch>
                  <a:fillRect b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5141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0AFBB4-5E3C-4FFA-9680-7421DF359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94067" y="6646520"/>
            <a:ext cx="401309" cy="219363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D23D4D-C567-489B-BE38-3FBA32EAB382}"/>
              </a:ext>
            </a:extLst>
          </p:cNvPr>
          <p:cNvSpPr txBox="1"/>
          <p:nvPr/>
        </p:nvSpPr>
        <p:spPr>
          <a:xfrm>
            <a:off x="179084" y="2993875"/>
            <a:ext cx="6602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independent Bloch sums for each sublattice separately: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E099335-7D9D-411A-8BA6-4EFA862CF618}"/>
                  </a:ext>
                </a:extLst>
              </p:cNvPr>
              <p:cNvSpPr txBox="1"/>
              <p:nvPr/>
            </p:nvSpPr>
            <p:spPr>
              <a:xfrm>
                <a:off x="6699249" y="2836580"/>
                <a:ext cx="4461932" cy="764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  <m:r>
                                <m:rPr>
                                  <m:sty m:val="p"/>
                                </m:rPr>
                                <a:rPr lang="el-G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ν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𝒌</m:t>
                              </m:r>
                            </m:e>
                          </m:d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𝑵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𝒊𝒌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𝜶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l-G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𝒓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𝒏</m:t>
                                      </m:r>
                                    </m:sub>
                                  </m:s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𝝉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𝝁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E099335-7D9D-411A-8BA6-4EFA862CF6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249" y="2836580"/>
                <a:ext cx="4461932" cy="7643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BCBAB5D-3F1B-4F12-A65A-421AF6A7EACB}"/>
              </a:ext>
            </a:extLst>
          </p:cNvPr>
          <p:cNvSpPr txBox="1"/>
          <p:nvPr/>
        </p:nvSpPr>
        <p:spPr>
          <a:xfrm>
            <a:off x="1964479" y="157353"/>
            <a:ext cx="86487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IV.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Crystals with a Basis: The Multi-Sublattice Problem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8A39F8C-838C-4C62-BE94-365BA236B06D}"/>
                  </a:ext>
                </a:extLst>
              </p:cNvPr>
              <p:cNvSpPr txBox="1"/>
              <p:nvPr/>
            </p:nvSpPr>
            <p:spPr>
              <a:xfrm>
                <a:off x="179085" y="1760150"/>
                <a:ext cx="11952513" cy="6688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Define the position of an atom as: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𝒓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𝝁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𝝉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unit cell vector,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𝝉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internal coordinate of sublattice </a:t>
                </a:r>
                <a:r>
                  <a:rPr lang="el-GR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μ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l-GR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μ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A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8A39F8C-838C-4C62-BE94-365BA236B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85" y="1760150"/>
                <a:ext cx="11952513" cy="668837"/>
              </a:xfrm>
              <a:prstGeom prst="rect">
                <a:avLst/>
              </a:prstGeom>
              <a:blipFill>
                <a:blip r:embed="rId6"/>
                <a:stretch>
                  <a:fillRect l="-408" t="-5505" r="-408" b="-146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925E56F-C010-46A2-8085-D40B72DED9D8}"/>
                  </a:ext>
                </a:extLst>
              </p:cNvPr>
              <p:cNvSpPr txBox="1"/>
              <p:nvPr/>
            </p:nvSpPr>
            <p:spPr>
              <a:xfrm>
                <a:off x="179083" y="4163989"/>
                <a:ext cx="11952513" cy="6913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Crucial Definition Note: The phase factor inside the sum uses the unit cell position: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NOT the exact atomic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𝝉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𝝁</m:t>
                        </m:r>
                      </m:sub>
                    </m:sSub>
                  </m:oMath>
                </a14:m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925E56F-C010-46A2-8085-D40B72DED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83" y="4163989"/>
                <a:ext cx="11952513" cy="691343"/>
              </a:xfrm>
              <a:prstGeom prst="rect">
                <a:avLst/>
              </a:prstGeom>
              <a:blipFill>
                <a:blip r:embed="rId7"/>
                <a:stretch>
                  <a:fillRect l="-408" t="-4425" r="-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07C4FEC0-86E5-4BA4-95AF-9CD1E30FC067}"/>
              </a:ext>
            </a:extLst>
          </p:cNvPr>
          <p:cNvSpPr txBox="1"/>
          <p:nvPr/>
        </p:nvSpPr>
        <p:spPr>
          <a:xfrm>
            <a:off x="2917378" y="5154884"/>
            <a:ext cx="5781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the standard convention for multi-sublattice TBM</a:t>
            </a:r>
            <a:endParaRPr lang="en-US" b="1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7C8859-4ED0-402D-B18A-01F9CFB18DBF}"/>
              </a:ext>
            </a:extLst>
          </p:cNvPr>
          <p:cNvSpPr txBox="1"/>
          <p:nvPr/>
        </p:nvSpPr>
        <p:spPr>
          <a:xfrm>
            <a:off x="179083" y="1118875"/>
            <a:ext cx="1090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3267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8CB7D4C3-6B63-4204-87ED-821B46CDA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8666" y="6643166"/>
            <a:ext cx="419957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7887F5-CDEA-4141-8554-FD70AA32DB73}"/>
              </a:ext>
            </a:extLst>
          </p:cNvPr>
          <p:cNvSpPr txBox="1"/>
          <p:nvPr/>
        </p:nvSpPr>
        <p:spPr>
          <a:xfrm>
            <a:off x="339173" y="909672"/>
            <a:ext cx="4503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Intra- </a:t>
            </a:r>
            <a:r>
              <a:rPr lang="fr-FR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Inter-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Sublattice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Matrix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Elements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3E979A9-0852-42F5-99F6-1E5808E83EC1}"/>
              </a:ext>
            </a:extLst>
          </p:cNvPr>
          <p:cNvSpPr txBox="1"/>
          <p:nvPr/>
        </p:nvSpPr>
        <p:spPr>
          <a:xfrm>
            <a:off x="339173" y="1729141"/>
            <a:ext cx="9373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generalized Hamiltonian matrix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now has a block structure index by sublattices (</a:t>
            </a:r>
            <a:r>
              <a:rPr lang="el-G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ν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9613B50-C5C9-4A14-8768-FE7EC7617A39}"/>
              </a:ext>
            </a:extLst>
          </p:cNvPr>
          <p:cNvSpPr txBox="1"/>
          <p:nvPr/>
        </p:nvSpPr>
        <p:spPr>
          <a:xfrm>
            <a:off x="339173" y="3541757"/>
            <a:ext cx="113024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Diagonal Elements (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l-GR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αα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Represent Intra-sublattice hopping (hopping within the same sublattice) and on-site energies</a:t>
            </a:r>
            <a:endParaRPr 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0E100B-9763-4CDF-A5A6-B5385A932078}"/>
              </a:ext>
            </a:extLst>
          </p:cNvPr>
          <p:cNvSpPr txBox="1"/>
          <p:nvPr/>
        </p:nvSpPr>
        <p:spPr>
          <a:xfrm>
            <a:off x="1964479" y="157353"/>
            <a:ext cx="86487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IV.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Crystals with a Basis: The Multi-Sublattice Problem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5365462-5358-4BBA-BBA0-AAAB3373BE79}"/>
                  </a:ext>
                </a:extLst>
              </p:cNvPr>
              <p:cNvSpPr txBox="1"/>
              <p:nvPr/>
            </p:nvSpPr>
            <p:spPr>
              <a:xfrm>
                <a:off x="4218515" y="2308131"/>
                <a:ext cx="2834218" cy="799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  <m:r>
                            <m:rPr>
                              <m:sty m:val="p"/>
                            </m:rPr>
                            <a:rPr lang="el-G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ν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𝒋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𝒊𝒌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sup>
                          </m:sSup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  <m:r>
                                <m:rPr>
                                  <m:sty m:val="p"/>
                                </m:rPr>
                                <a:rPr lang="el-G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ν</m:t>
                              </m:r>
                            </m:sub>
                          </m:sSub>
                          <m:d>
                            <m:dPr>
                              <m:ctrlPr>
                                <a:rPr lang="el-G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5365462-5358-4BBA-BBA0-AAAB3373B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8515" y="2308131"/>
                <a:ext cx="2834218" cy="7998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DFCE1ECE-769E-4DEE-891D-89F9F0C7C861}"/>
              </a:ext>
            </a:extLst>
          </p:cNvPr>
          <p:cNvSpPr txBox="1"/>
          <p:nvPr/>
        </p:nvSpPr>
        <p:spPr>
          <a:xfrm>
            <a:off x="339172" y="4846672"/>
            <a:ext cx="11090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Off-Diagonal Elements (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l-GR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αν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l-G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l-G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ν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Represent Inter-sublattice hopping (hopping from sublattice </a:t>
            </a:r>
            <a:r>
              <a:rPr lang="el-G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sublattice </a:t>
            </a:r>
            <a:r>
              <a:rPr lang="el-G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ν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001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8CB7D4C3-6B63-4204-87ED-821B46CDA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8666" y="6643166"/>
            <a:ext cx="419957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1802C4-DE29-443C-BA30-A4505E12EA46}"/>
              </a:ext>
            </a:extLst>
          </p:cNvPr>
          <p:cNvSpPr txBox="1"/>
          <p:nvPr/>
        </p:nvSpPr>
        <p:spPr>
          <a:xfrm>
            <a:off x="4231044" y="2396035"/>
            <a:ext cx="327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DF2044D-00B2-4C11-802B-8A33045AE4EF}"/>
                  </a:ext>
                </a:extLst>
              </p:cNvPr>
              <p:cNvSpPr txBox="1"/>
              <p:nvPr/>
            </p:nvSpPr>
            <p:spPr>
              <a:xfrm>
                <a:off x="297605" y="1291520"/>
                <a:ext cx="11804159" cy="669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Definition: Only consider hopping between atoms that are immediate geometric neighbors.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𝜶</m:t>
                        </m:r>
                        <m:r>
                          <m:rPr>
                            <m:sty m:val="p"/>
                          </m:rPr>
                          <a:rPr lang="el-G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ν</m:t>
                        </m:r>
                      </m:sub>
                    </m:sSub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𝒏𝒅</m:t>
                        </m:r>
                      </m:sup>
                    </m:sSup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𝒓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𝒅</m:t>
                        </m:r>
                      </m:sup>
                    </m:sSup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higher coordination shells are set to exactly zero</a:t>
                </a:r>
                <a:endPara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DF2044D-00B2-4C11-802B-8A33045AE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605" y="1291520"/>
                <a:ext cx="11804159" cy="669992"/>
              </a:xfrm>
              <a:prstGeom prst="rect">
                <a:avLst/>
              </a:prstGeom>
              <a:blipFill>
                <a:blip r:embed="rId5"/>
                <a:stretch>
                  <a:fillRect l="-465" t="-3636" r="-413" b="-1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6368D67A-DE14-410E-8E1F-1A29A8236C34}"/>
              </a:ext>
            </a:extLst>
          </p:cNvPr>
          <p:cNvSpPr txBox="1"/>
          <p:nvPr/>
        </p:nvSpPr>
        <p:spPr>
          <a:xfrm>
            <a:off x="1964479" y="157353"/>
            <a:ext cx="86487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IV.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Crystals with a Basis: The Multi-Sublattice Problem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C8B1FA3-64B5-4A7A-8F04-A83FBCC132DE}"/>
              </a:ext>
            </a:extLst>
          </p:cNvPr>
          <p:cNvGrpSpPr/>
          <p:nvPr/>
        </p:nvGrpSpPr>
        <p:grpSpPr>
          <a:xfrm>
            <a:off x="4126732" y="2028300"/>
            <a:ext cx="3430104" cy="1916768"/>
            <a:chOff x="1909061" y="3228888"/>
            <a:chExt cx="3430104" cy="1916768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7AF554B-FC8F-4B6E-ACA8-714A4D5F9248}"/>
                </a:ext>
              </a:extLst>
            </p:cNvPr>
            <p:cNvSpPr/>
            <p:nvPr/>
          </p:nvSpPr>
          <p:spPr>
            <a:xfrm>
              <a:off x="3055361" y="3635030"/>
              <a:ext cx="1144105" cy="662705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07DD963-6029-4591-9AB2-116E193B4281}"/>
                </a:ext>
              </a:extLst>
            </p:cNvPr>
            <p:cNvSpPr/>
            <p:nvPr/>
          </p:nvSpPr>
          <p:spPr>
            <a:xfrm>
              <a:off x="3253466" y="3919724"/>
              <a:ext cx="121298" cy="13656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1312D75-BB21-41AC-844E-736153E3A83D}"/>
                    </a:ext>
                  </a:extLst>
                </p:cNvPr>
                <p:cNvSpPr txBox="1"/>
                <p:nvPr/>
              </p:nvSpPr>
              <p:spPr>
                <a:xfrm>
                  <a:off x="3452754" y="4534493"/>
                  <a:ext cx="32657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1312D75-BB21-41AC-844E-736153E3A8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2754" y="4534493"/>
                  <a:ext cx="32657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Right Brace 32">
              <a:extLst>
                <a:ext uri="{FF2B5EF4-FFF2-40B4-BE49-F238E27FC236}">
                  <a16:creationId xmlns:a16="http://schemas.microsoft.com/office/drawing/2014/main" id="{FDE6A302-D171-4732-A04E-BACEB8DF2186}"/>
                </a:ext>
              </a:extLst>
            </p:cNvPr>
            <p:cNvSpPr/>
            <p:nvPr/>
          </p:nvSpPr>
          <p:spPr>
            <a:xfrm rot="5400000">
              <a:off x="3535319" y="3869988"/>
              <a:ext cx="169261" cy="1144104"/>
            </a:xfrm>
            <a:prstGeom prst="righ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2831FEC-10AC-4DAA-AFB0-1D138684E516}"/>
                </a:ext>
              </a:extLst>
            </p:cNvPr>
            <p:cNvSpPr/>
            <p:nvPr/>
          </p:nvSpPr>
          <p:spPr>
            <a:xfrm>
              <a:off x="3340886" y="3606042"/>
              <a:ext cx="532575" cy="298268"/>
            </a:xfrm>
            <a:custGeom>
              <a:avLst/>
              <a:gdLst>
                <a:gd name="connsiteX0" fmla="*/ 0 w 541175"/>
                <a:gd name="connsiteY0" fmla="*/ 288937 h 298268"/>
                <a:gd name="connsiteX1" fmla="*/ 149290 w 541175"/>
                <a:gd name="connsiteY1" fmla="*/ 55672 h 298268"/>
                <a:gd name="connsiteX2" fmla="*/ 363894 w 541175"/>
                <a:gd name="connsiteY2" fmla="*/ 18349 h 298268"/>
                <a:gd name="connsiteX3" fmla="*/ 541175 w 541175"/>
                <a:gd name="connsiteY3" fmla="*/ 298268 h 298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1175" h="298268">
                  <a:moveTo>
                    <a:pt x="0" y="288937"/>
                  </a:moveTo>
                  <a:cubicBezTo>
                    <a:pt x="44320" y="194853"/>
                    <a:pt x="88641" y="100770"/>
                    <a:pt x="149290" y="55672"/>
                  </a:cubicBezTo>
                  <a:cubicBezTo>
                    <a:pt x="209939" y="10574"/>
                    <a:pt x="298580" y="-22084"/>
                    <a:pt x="363894" y="18349"/>
                  </a:cubicBezTo>
                  <a:cubicBezTo>
                    <a:pt x="429208" y="58782"/>
                    <a:pt x="485191" y="178525"/>
                    <a:pt x="541175" y="298268"/>
                  </a:cubicBezTo>
                </a:path>
              </a:pathLst>
            </a:custGeom>
            <a:noFill/>
            <a:ln w="38100"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A651DCD-FAE7-40D7-B3BE-D948D6CA216F}"/>
                    </a:ext>
                  </a:extLst>
                </p:cNvPr>
                <p:cNvSpPr txBox="1"/>
                <p:nvPr/>
              </p:nvSpPr>
              <p:spPr>
                <a:xfrm>
                  <a:off x="3535195" y="3228888"/>
                  <a:ext cx="29676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𝒕</m:t>
                        </m:r>
                      </m:oMath>
                    </m:oMathPara>
                  </a14:m>
                  <a:endParaRPr lang="en-US" b="1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A651DCD-FAE7-40D7-B3BE-D948D6CA21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5195" y="3228888"/>
                  <a:ext cx="29676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DE1BB78D-0DD7-49D4-8B1A-70E48660CBE8}"/>
                </a:ext>
              </a:extLst>
            </p:cNvPr>
            <p:cNvSpPr/>
            <p:nvPr/>
          </p:nvSpPr>
          <p:spPr>
            <a:xfrm>
              <a:off x="3831963" y="3920052"/>
              <a:ext cx="121298" cy="136567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ight Brace 38">
              <a:extLst>
                <a:ext uri="{FF2B5EF4-FFF2-40B4-BE49-F238E27FC236}">
                  <a16:creationId xmlns:a16="http://schemas.microsoft.com/office/drawing/2014/main" id="{2557902A-2775-4472-8279-FE79CBD131F2}"/>
                </a:ext>
              </a:extLst>
            </p:cNvPr>
            <p:cNvSpPr/>
            <p:nvPr/>
          </p:nvSpPr>
          <p:spPr>
            <a:xfrm rot="5400000">
              <a:off x="2362644" y="4308210"/>
              <a:ext cx="183777" cy="583558"/>
            </a:xfrm>
            <a:prstGeom prst="righ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3C51A65-A6F1-46BB-8AB5-406FAF8F701D}"/>
                </a:ext>
              </a:extLst>
            </p:cNvPr>
            <p:cNvSpPr/>
            <p:nvPr/>
          </p:nvSpPr>
          <p:spPr>
            <a:xfrm>
              <a:off x="4195060" y="3631466"/>
              <a:ext cx="1144105" cy="662704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B5880A8-459E-4738-AC65-3253E26DE94F}"/>
                </a:ext>
              </a:extLst>
            </p:cNvPr>
            <p:cNvSpPr/>
            <p:nvPr/>
          </p:nvSpPr>
          <p:spPr>
            <a:xfrm>
              <a:off x="4393165" y="3925490"/>
              <a:ext cx="121298" cy="13656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3C6483F1-C6AB-4170-9999-1487E7A52FAD}"/>
                </a:ext>
              </a:extLst>
            </p:cNvPr>
            <p:cNvSpPr/>
            <p:nvPr/>
          </p:nvSpPr>
          <p:spPr>
            <a:xfrm>
              <a:off x="4971662" y="3925818"/>
              <a:ext cx="121298" cy="136567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25C748D-6DE9-4310-94B7-BD3932C37940}"/>
                </a:ext>
              </a:extLst>
            </p:cNvPr>
            <p:cNvSpPr/>
            <p:nvPr/>
          </p:nvSpPr>
          <p:spPr>
            <a:xfrm>
              <a:off x="1909061" y="3638942"/>
              <a:ext cx="1144105" cy="662704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F36B715-D746-44CA-9D8E-FB6EFDF07A08}"/>
                </a:ext>
              </a:extLst>
            </p:cNvPr>
            <p:cNvSpPr/>
            <p:nvPr/>
          </p:nvSpPr>
          <p:spPr>
            <a:xfrm>
              <a:off x="2107166" y="3923635"/>
              <a:ext cx="121298" cy="13656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A9FAC073-6DD4-4441-8FBE-39B5BC414B1E}"/>
                </a:ext>
              </a:extLst>
            </p:cNvPr>
            <p:cNvSpPr/>
            <p:nvPr/>
          </p:nvSpPr>
          <p:spPr>
            <a:xfrm>
              <a:off x="2685663" y="3923963"/>
              <a:ext cx="121298" cy="136567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B1D999A-FC69-47D1-BE79-8835BEA06983}"/>
                </a:ext>
              </a:extLst>
            </p:cNvPr>
            <p:cNvCxnSpPr>
              <a:cxnSpLocks/>
            </p:cNvCxnSpPr>
            <p:nvPr/>
          </p:nvCxnSpPr>
          <p:spPr>
            <a:xfrm>
              <a:off x="2156934" y="4060202"/>
              <a:ext cx="0" cy="420969"/>
            </a:xfrm>
            <a:prstGeom prst="line">
              <a:avLst/>
            </a:prstGeom>
            <a:ln w="254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0521817-7899-4129-B475-5E9DE0642BCF}"/>
                </a:ext>
              </a:extLst>
            </p:cNvPr>
            <p:cNvCxnSpPr/>
            <p:nvPr/>
          </p:nvCxnSpPr>
          <p:spPr>
            <a:xfrm>
              <a:off x="2738537" y="4050870"/>
              <a:ext cx="0" cy="420969"/>
            </a:xfrm>
            <a:prstGeom prst="line">
              <a:avLst/>
            </a:prstGeom>
            <a:ln w="254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0D69665F-3C17-409B-A802-6BE7E9A5B0DB}"/>
                    </a:ext>
                  </a:extLst>
                </p:cNvPr>
                <p:cNvSpPr txBox="1"/>
                <p:nvPr/>
              </p:nvSpPr>
              <p:spPr>
                <a:xfrm>
                  <a:off x="2301651" y="4776324"/>
                  <a:ext cx="32657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oMath>
                    </m:oMathPara>
                  </a14:m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0D69665F-3C17-409B-A802-6BE7E9A5B0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1651" y="4776324"/>
                  <a:ext cx="326570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C8378F8-BB56-4473-898D-A25DBFBF1386}"/>
                  </a:ext>
                </a:extLst>
              </p:cNvPr>
              <p:cNvSpPr txBox="1"/>
              <p:nvPr/>
            </p:nvSpPr>
            <p:spPr>
              <a:xfrm>
                <a:off x="969340" y="4560368"/>
                <a:ext cx="4018893" cy="808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e>
                      </m:d>
                      <m:r>
                        <a:rPr lang="en-US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𝒊𝒊</m:t>
                                  </m:r>
                                </m:e>
                              </m:d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𝜺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𝒋</m:t>
                                  </m:r>
                                </m:e>
                              </m:d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𝒆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𝒊𝒌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∙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𝒃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𝜶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ν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𝒉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𝒄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C8378F8-BB56-4473-898D-A25DBFBF13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340" y="4560368"/>
                <a:ext cx="4018893" cy="80823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51">
                <a:extLst>
                  <a:ext uri="{FF2B5EF4-FFF2-40B4-BE49-F238E27FC236}">
                    <a16:creationId xmlns:a16="http://schemas.microsoft.com/office/drawing/2014/main" id="{2A63073A-E3FA-4268-80A2-881E668765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9290600"/>
                  </p:ext>
                </p:extLst>
              </p:nvPr>
            </p:nvGraphicFramePr>
            <p:xfrm>
              <a:off x="7883098" y="4315372"/>
              <a:ext cx="695400" cy="6060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5400">
                      <a:extLst>
                        <a:ext uri="{9D8B030D-6E8A-4147-A177-3AD203B41FA5}">
                          <a16:colId xmlns:a16="http://schemas.microsoft.com/office/drawing/2014/main" val="107577891"/>
                        </a:ext>
                      </a:extLst>
                    </a:gridCol>
                  </a:tblGrid>
                  <a:tr h="6060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𝜺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𝑨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010076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51">
                <a:extLst>
                  <a:ext uri="{FF2B5EF4-FFF2-40B4-BE49-F238E27FC236}">
                    <a16:creationId xmlns:a16="http://schemas.microsoft.com/office/drawing/2014/main" id="{2A63073A-E3FA-4268-80A2-881E668765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9290600"/>
                  </p:ext>
                </p:extLst>
              </p:nvPr>
            </p:nvGraphicFramePr>
            <p:xfrm>
              <a:off x="7883098" y="4315372"/>
              <a:ext cx="695400" cy="6060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5400">
                      <a:extLst>
                        <a:ext uri="{9D8B030D-6E8A-4147-A177-3AD203B41FA5}">
                          <a16:colId xmlns:a16="http://schemas.microsoft.com/office/drawing/2014/main" val="107577891"/>
                        </a:ext>
                      </a:extLst>
                    </a:gridCol>
                  </a:tblGrid>
                  <a:tr h="6060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100764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3" name="Table 51">
                <a:extLst>
                  <a:ext uri="{FF2B5EF4-FFF2-40B4-BE49-F238E27FC236}">
                    <a16:creationId xmlns:a16="http://schemas.microsoft.com/office/drawing/2014/main" id="{C02627DE-AB87-4E4D-8FD0-DA8C50C8DB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7328060"/>
                  </p:ext>
                </p:extLst>
              </p:nvPr>
            </p:nvGraphicFramePr>
            <p:xfrm>
              <a:off x="8662477" y="4315372"/>
              <a:ext cx="905268" cy="6060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5268">
                      <a:extLst>
                        <a:ext uri="{9D8B030D-6E8A-4147-A177-3AD203B41FA5}">
                          <a16:colId xmlns:a16="http://schemas.microsoft.com/office/drawing/2014/main" val="107577891"/>
                        </a:ext>
                      </a:extLst>
                    </a:gridCol>
                  </a:tblGrid>
                  <a:tr h="6060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𝒊𝒌</m:t>
                                    </m:r>
                                    <m:r>
                                      <a:rPr lang="en-US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∙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𝒃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𝒕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010076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3" name="Table 51">
                <a:extLst>
                  <a:ext uri="{FF2B5EF4-FFF2-40B4-BE49-F238E27FC236}">
                    <a16:creationId xmlns:a16="http://schemas.microsoft.com/office/drawing/2014/main" id="{C02627DE-AB87-4E4D-8FD0-DA8C50C8DB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7328060"/>
                  </p:ext>
                </p:extLst>
              </p:nvPr>
            </p:nvGraphicFramePr>
            <p:xfrm>
              <a:off x="8662477" y="4315372"/>
              <a:ext cx="905268" cy="6060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5268">
                      <a:extLst>
                        <a:ext uri="{9D8B030D-6E8A-4147-A177-3AD203B41FA5}">
                          <a16:colId xmlns:a16="http://schemas.microsoft.com/office/drawing/2014/main" val="107577891"/>
                        </a:ext>
                      </a:extLst>
                    </a:gridCol>
                  </a:tblGrid>
                  <a:tr h="6060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100764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4" name="Table 51">
                <a:extLst>
                  <a:ext uri="{FF2B5EF4-FFF2-40B4-BE49-F238E27FC236}">
                    <a16:creationId xmlns:a16="http://schemas.microsoft.com/office/drawing/2014/main" id="{DBFDAEF7-FC88-4D59-9353-7F64DE8153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6410936"/>
                  </p:ext>
                </p:extLst>
              </p:nvPr>
            </p:nvGraphicFramePr>
            <p:xfrm>
              <a:off x="7760798" y="4922123"/>
              <a:ext cx="905268" cy="6060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5268">
                      <a:extLst>
                        <a:ext uri="{9D8B030D-6E8A-4147-A177-3AD203B41FA5}">
                          <a16:colId xmlns:a16="http://schemas.microsoft.com/office/drawing/2014/main" val="107577891"/>
                        </a:ext>
                      </a:extLst>
                    </a:gridCol>
                  </a:tblGrid>
                  <a:tr h="6060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𝒊𝒌</m:t>
                                    </m:r>
                                    <m:r>
                                      <a:rPr lang="en-US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∙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𝒃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𝒕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010076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4" name="Table 51">
                <a:extLst>
                  <a:ext uri="{FF2B5EF4-FFF2-40B4-BE49-F238E27FC236}">
                    <a16:creationId xmlns:a16="http://schemas.microsoft.com/office/drawing/2014/main" id="{DBFDAEF7-FC88-4D59-9353-7F64DE8153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6410936"/>
                  </p:ext>
                </p:extLst>
              </p:nvPr>
            </p:nvGraphicFramePr>
            <p:xfrm>
              <a:off x="7760798" y="4922123"/>
              <a:ext cx="905268" cy="6060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5268">
                      <a:extLst>
                        <a:ext uri="{9D8B030D-6E8A-4147-A177-3AD203B41FA5}">
                          <a16:colId xmlns:a16="http://schemas.microsoft.com/office/drawing/2014/main" val="107577891"/>
                        </a:ext>
                      </a:extLst>
                    </a:gridCol>
                  </a:tblGrid>
                  <a:tr h="6060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100764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5" name="Table 51">
                <a:extLst>
                  <a:ext uri="{FF2B5EF4-FFF2-40B4-BE49-F238E27FC236}">
                    <a16:creationId xmlns:a16="http://schemas.microsoft.com/office/drawing/2014/main" id="{91BD8193-D9F0-4FF3-AB64-552B4ACFE0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8529100"/>
                  </p:ext>
                </p:extLst>
              </p:nvPr>
            </p:nvGraphicFramePr>
            <p:xfrm>
              <a:off x="8778034" y="4922123"/>
              <a:ext cx="695400" cy="6060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5400">
                      <a:extLst>
                        <a:ext uri="{9D8B030D-6E8A-4147-A177-3AD203B41FA5}">
                          <a16:colId xmlns:a16="http://schemas.microsoft.com/office/drawing/2014/main" val="107577891"/>
                        </a:ext>
                      </a:extLst>
                    </a:gridCol>
                  </a:tblGrid>
                  <a:tr h="6060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𝜺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𝑩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010076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5" name="Table 51">
                <a:extLst>
                  <a:ext uri="{FF2B5EF4-FFF2-40B4-BE49-F238E27FC236}">
                    <a16:creationId xmlns:a16="http://schemas.microsoft.com/office/drawing/2014/main" id="{91BD8193-D9F0-4FF3-AB64-552B4ACFE0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8529100"/>
                  </p:ext>
                </p:extLst>
              </p:nvPr>
            </p:nvGraphicFramePr>
            <p:xfrm>
              <a:off x="8778034" y="4922123"/>
              <a:ext cx="695400" cy="6060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5400">
                      <a:extLst>
                        <a:ext uri="{9D8B030D-6E8A-4147-A177-3AD203B41FA5}">
                          <a16:colId xmlns:a16="http://schemas.microsoft.com/office/drawing/2014/main" val="107577891"/>
                        </a:ext>
                      </a:extLst>
                    </a:gridCol>
                  </a:tblGrid>
                  <a:tr h="6060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3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10076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1D165349-6574-4CAA-A360-4B3F2293F9E6}"/>
              </a:ext>
            </a:extLst>
          </p:cNvPr>
          <p:cNvSpPr txBox="1"/>
          <p:nvPr/>
        </p:nvSpPr>
        <p:spPr>
          <a:xfrm>
            <a:off x="4804844" y="2408399"/>
            <a:ext cx="327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0341F99-044D-49FA-B0D9-5CD183DDDDDC}"/>
              </a:ext>
            </a:extLst>
          </p:cNvPr>
          <p:cNvCxnSpPr>
            <a:cxnSpLocks/>
          </p:cNvCxnSpPr>
          <p:nvPr/>
        </p:nvCxnSpPr>
        <p:spPr>
          <a:xfrm>
            <a:off x="7760798" y="4408105"/>
            <a:ext cx="0" cy="998013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FECE5EA-1634-4CE2-AFE6-7F88F0CEB80B}"/>
              </a:ext>
            </a:extLst>
          </p:cNvPr>
          <p:cNvCxnSpPr>
            <a:cxnSpLocks/>
          </p:cNvCxnSpPr>
          <p:nvPr/>
        </p:nvCxnSpPr>
        <p:spPr>
          <a:xfrm>
            <a:off x="9506627" y="4406309"/>
            <a:ext cx="0" cy="998013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74AA6AB-232D-4C4B-9B31-651F230C703A}"/>
              </a:ext>
            </a:extLst>
          </p:cNvPr>
          <p:cNvSpPr txBox="1"/>
          <p:nvPr/>
        </p:nvSpPr>
        <p:spPr>
          <a:xfrm>
            <a:off x="8040461" y="3946867"/>
            <a:ext cx="327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2B3944B-F033-4178-AC26-7FDA8B6AE406}"/>
              </a:ext>
            </a:extLst>
          </p:cNvPr>
          <p:cNvSpPr txBox="1"/>
          <p:nvPr/>
        </p:nvSpPr>
        <p:spPr>
          <a:xfrm>
            <a:off x="8922176" y="3959231"/>
            <a:ext cx="327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5997A7F-4058-4E2C-A693-4AABA56901DD}"/>
              </a:ext>
            </a:extLst>
          </p:cNvPr>
          <p:cNvSpPr txBox="1"/>
          <p:nvPr/>
        </p:nvSpPr>
        <p:spPr>
          <a:xfrm>
            <a:off x="7310631" y="4457718"/>
            <a:ext cx="327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5F01E07-8745-4F2A-9393-E58804EC7237}"/>
              </a:ext>
            </a:extLst>
          </p:cNvPr>
          <p:cNvSpPr txBox="1"/>
          <p:nvPr/>
        </p:nvSpPr>
        <p:spPr>
          <a:xfrm>
            <a:off x="7313310" y="5044528"/>
            <a:ext cx="327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D961CF7-25FC-428F-8840-48824AAABA13}"/>
              </a:ext>
            </a:extLst>
          </p:cNvPr>
          <p:cNvCxnSpPr/>
          <p:nvPr/>
        </p:nvCxnSpPr>
        <p:spPr>
          <a:xfrm>
            <a:off x="5144841" y="4930728"/>
            <a:ext cx="179092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02C57550-563F-45F1-9B2E-0935BE0F04B8}"/>
              </a:ext>
            </a:extLst>
          </p:cNvPr>
          <p:cNvSpPr txBox="1"/>
          <p:nvPr/>
        </p:nvSpPr>
        <p:spPr>
          <a:xfrm>
            <a:off x="5265568" y="4490996"/>
            <a:ext cx="1521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F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orm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962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8CB7D4C3-6B63-4204-87ED-821B46CDA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8666" y="6643166"/>
            <a:ext cx="419957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DF2044D-00B2-4C11-802B-8A33045AE4EF}"/>
                  </a:ext>
                </a:extLst>
              </p:cNvPr>
              <p:cNvSpPr txBox="1"/>
              <p:nvPr/>
            </p:nvSpPr>
            <p:spPr>
              <a:xfrm>
                <a:off x="4299405" y="3040600"/>
                <a:ext cx="3874226" cy="910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±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e>
                      </m:d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𝑨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𝑩</m:t>
                              </m:r>
                            </m:sub>
                          </m:sSub>
                        </m:num>
                        <m:den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±</m:t>
                      </m:r>
                      <m:rad>
                        <m:radPr>
                          <m:degHide m:val="on"/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𝜺</m:t>
                                          </m:r>
                                        </m:e>
                                        <m:sub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𝑨</m:t>
                                          </m:r>
                                        </m:sub>
                                      </m:sSub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𝜺</m:t>
                                          </m:r>
                                        </m:e>
                                        <m:sub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𝑩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𝒕</m:t>
                              </m:r>
                            </m:e>
                            <m:sup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DF2044D-00B2-4C11-802B-8A33045AE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405" y="3040600"/>
                <a:ext cx="3874226" cy="9106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6368D67A-DE14-410E-8E1F-1A29A8236C34}"/>
              </a:ext>
            </a:extLst>
          </p:cNvPr>
          <p:cNvSpPr txBox="1"/>
          <p:nvPr/>
        </p:nvSpPr>
        <p:spPr>
          <a:xfrm>
            <a:off x="1964479" y="157353"/>
            <a:ext cx="86487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IV.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Crystals with a Basis: The Multi-Sublattice Problem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51">
                <a:extLst>
                  <a:ext uri="{FF2B5EF4-FFF2-40B4-BE49-F238E27FC236}">
                    <a16:creationId xmlns:a16="http://schemas.microsoft.com/office/drawing/2014/main" id="{2A63073A-E3FA-4268-80A2-881E668765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4256589"/>
                  </p:ext>
                </p:extLst>
              </p:nvPr>
            </p:nvGraphicFramePr>
            <p:xfrm>
              <a:off x="5457139" y="1341148"/>
              <a:ext cx="695400" cy="6060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5400">
                      <a:extLst>
                        <a:ext uri="{9D8B030D-6E8A-4147-A177-3AD203B41FA5}">
                          <a16:colId xmlns:a16="http://schemas.microsoft.com/office/drawing/2014/main" val="107577891"/>
                        </a:ext>
                      </a:extLst>
                    </a:gridCol>
                  </a:tblGrid>
                  <a:tr h="606025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𝜺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𝑨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010076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51">
                <a:extLst>
                  <a:ext uri="{FF2B5EF4-FFF2-40B4-BE49-F238E27FC236}">
                    <a16:creationId xmlns:a16="http://schemas.microsoft.com/office/drawing/2014/main" id="{2A63073A-E3FA-4268-80A2-881E668765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4256589"/>
                  </p:ext>
                </p:extLst>
              </p:nvPr>
            </p:nvGraphicFramePr>
            <p:xfrm>
              <a:off x="5457139" y="1341148"/>
              <a:ext cx="695400" cy="6060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5400">
                      <a:extLst>
                        <a:ext uri="{9D8B030D-6E8A-4147-A177-3AD203B41FA5}">
                          <a16:colId xmlns:a16="http://schemas.microsoft.com/office/drawing/2014/main" val="107577891"/>
                        </a:ext>
                      </a:extLst>
                    </a:gridCol>
                  </a:tblGrid>
                  <a:tr h="6060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100764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3" name="Table 51">
                <a:extLst>
                  <a:ext uri="{FF2B5EF4-FFF2-40B4-BE49-F238E27FC236}">
                    <a16:creationId xmlns:a16="http://schemas.microsoft.com/office/drawing/2014/main" id="{C02627DE-AB87-4E4D-8FD0-DA8C50C8DB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1983611"/>
                  </p:ext>
                </p:extLst>
              </p:nvPr>
            </p:nvGraphicFramePr>
            <p:xfrm>
              <a:off x="6236518" y="1341148"/>
              <a:ext cx="905268" cy="6060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5268">
                      <a:extLst>
                        <a:ext uri="{9D8B030D-6E8A-4147-A177-3AD203B41FA5}">
                          <a16:colId xmlns:a16="http://schemas.microsoft.com/office/drawing/2014/main" val="107577891"/>
                        </a:ext>
                      </a:extLst>
                    </a:gridCol>
                  </a:tblGrid>
                  <a:tr h="6060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𝒊𝒌</m:t>
                                    </m:r>
                                    <m:r>
                                      <a:rPr lang="en-US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∙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𝒃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𝒕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010076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3" name="Table 51">
                <a:extLst>
                  <a:ext uri="{FF2B5EF4-FFF2-40B4-BE49-F238E27FC236}">
                    <a16:creationId xmlns:a16="http://schemas.microsoft.com/office/drawing/2014/main" id="{C02627DE-AB87-4E4D-8FD0-DA8C50C8DB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1983611"/>
                  </p:ext>
                </p:extLst>
              </p:nvPr>
            </p:nvGraphicFramePr>
            <p:xfrm>
              <a:off x="6236518" y="1341148"/>
              <a:ext cx="905268" cy="6060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5268">
                      <a:extLst>
                        <a:ext uri="{9D8B030D-6E8A-4147-A177-3AD203B41FA5}">
                          <a16:colId xmlns:a16="http://schemas.microsoft.com/office/drawing/2014/main" val="107577891"/>
                        </a:ext>
                      </a:extLst>
                    </a:gridCol>
                  </a:tblGrid>
                  <a:tr h="6060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100764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4" name="Table 51">
                <a:extLst>
                  <a:ext uri="{FF2B5EF4-FFF2-40B4-BE49-F238E27FC236}">
                    <a16:creationId xmlns:a16="http://schemas.microsoft.com/office/drawing/2014/main" id="{DBFDAEF7-FC88-4D59-9353-7F64DE8153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3329692"/>
                  </p:ext>
                </p:extLst>
              </p:nvPr>
            </p:nvGraphicFramePr>
            <p:xfrm>
              <a:off x="5334839" y="1947899"/>
              <a:ext cx="905268" cy="6060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5268">
                      <a:extLst>
                        <a:ext uri="{9D8B030D-6E8A-4147-A177-3AD203B41FA5}">
                          <a16:colId xmlns:a16="http://schemas.microsoft.com/office/drawing/2014/main" val="107577891"/>
                        </a:ext>
                      </a:extLst>
                    </a:gridCol>
                  </a:tblGrid>
                  <a:tr h="6060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𝒊𝒌</m:t>
                                    </m:r>
                                    <m:r>
                                      <a:rPr lang="en-US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∙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𝒃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𝒕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010076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4" name="Table 51">
                <a:extLst>
                  <a:ext uri="{FF2B5EF4-FFF2-40B4-BE49-F238E27FC236}">
                    <a16:creationId xmlns:a16="http://schemas.microsoft.com/office/drawing/2014/main" id="{DBFDAEF7-FC88-4D59-9353-7F64DE8153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3329692"/>
                  </p:ext>
                </p:extLst>
              </p:nvPr>
            </p:nvGraphicFramePr>
            <p:xfrm>
              <a:off x="5334839" y="1947899"/>
              <a:ext cx="905268" cy="6060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5268">
                      <a:extLst>
                        <a:ext uri="{9D8B030D-6E8A-4147-A177-3AD203B41FA5}">
                          <a16:colId xmlns:a16="http://schemas.microsoft.com/office/drawing/2014/main" val="107577891"/>
                        </a:ext>
                      </a:extLst>
                    </a:gridCol>
                  </a:tblGrid>
                  <a:tr h="6060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100764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5" name="Table 51">
                <a:extLst>
                  <a:ext uri="{FF2B5EF4-FFF2-40B4-BE49-F238E27FC236}">
                    <a16:creationId xmlns:a16="http://schemas.microsoft.com/office/drawing/2014/main" id="{91BD8193-D9F0-4FF3-AB64-552B4ACFE0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538110"/>
                  </p:ext>
                </p:extLst>
              </p:nvPr>
            </p:nvGraphicFramePr>
            <p:xfrm>
              <a:off x="6352075" y="1947899"/>
              <a:ext cx="695400" cy="6060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5400">
                      <a:extLst>
                        <a:ext uri="{9D8B030D-6E8A-4147-A177-3AD203B41FA5}">
                          <a16:colId xmlns:a16="http://schemas.microsoft.com/office/drawing/2014/main" val="107577891"/>
                        </a:ext>
                      </a:extLst>
                    </a:gridCol>
                  </a:tblGrid>
                  <a:tr h="606025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𝜺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𝑩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010076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5" name="Table 51">
                <a:extLst>
                  <a:ext uri="{FF2B5EF4-FFF2-40B4-BE49-F238E27FC236}">
                    <a16:creationId xmlns:a16="http://schemas.microsoft.com/office/drawing/2014/main" id="{91BD8193-D9F0-4FF3-AB64-552B4ACFE0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538110"/>
                  </p:ext>
                </p:extLst>
              </p:nvPr>
            </p:nvGraphicFramePr>
            <p:xfrm>
              <a:off x="6352075" y="1947899"/>
              <a:ext cx="695400" cy="6060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5400">
                      <a:extLst>
                        <a:ext uri="{9D8B030D-6E8A-4147-A177-3AD203B41FA5}">
                          <a16:colId xmlns:a16="http://schemas.microsoft.com/office/drawing/2014/main" val="107577891"/>
                        </a:ext>
                      </a:extLst>
                    </a:gridCol>
                  </a:tblGrid>
                  <a:tr h="6060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1007645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0341F99-044D-49FA-B0D9-5CD183DDDDDC}"/>
              </a:ext>
            </a:extLst>
          </p:cNvPr>
          <p:cNvCxnSpPr>
            <a:cxnSpLocks/>
          </p:cNvCxnSpPr>
          <p:nvPr/>
        </p:nvCxnSpPr>
        <p:spPr>
          <a:xfrm>
            <a:off x="5334839" y="1433881"/>
            <a:ext cx="0" cy="998013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FECE5EA-1634-4CE2-AFE6-7F88F0CEB80B}"/>
              </a:ext>
            </a:extLst>
          </p:cNvPr>
          <p:cNvCxnSpPr>
            <a:cxnSpLocks/>
          </p:cNvCxnSpPr>
          <p:nvPr/>
        </p:nvCxnSpPr>
        <p:spPr>
          <a:xfrm>
            <a:off x="7080668" y="1432085"/>
            <a:ext cx="0" cy="998013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95F01E07-8745-4F2A-9393-E58804EC7237}"/>
              </a:ext>
            </a:extLst>
          </p:cNvPr>
          <p:cNvSpPr txBox="1"/>
          <p:nvPr/>
        </p:nvSpPr>
        <p:spPr>
          <a:xfrm>
            <a:off x="4885821" y="1746425"/>
            <a:ext cx="465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2492984-8EF4-4A9E-BE8C-517EDFE725BD}"/>
              </a:ext>
            </a:extLst>
          </p:cNvPr>
          <p:cNvSpPr txBox="1"/>
          <p:nvPr/>
        </p:nvSpPr>
        <p:spPr>
          <a:xfrm>
            <a:off x="7112877" y="1737599"/>
            <a:ext cx="51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0CA8560-FD04-4D7B-99FD-8CB9902F7680}"/>
                  </a:ext>
                </a:extLst>
              </p:cNvPr>
              <p:cNvSpPr txBox="1"/>
              <p:nvPr/>
            </p:nvSpPr>
            <p:spPr>
              <a:xfrm>
                <a:off x="3976885" y="4716719"/>
                <a:ext cx="4877866" cy="656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Band Gap: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</m:sub>
                        </m:sSub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𝒌</m:t>
                            </m:r>
                          </m:e>
                        </m:d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</m:sub>
                        </m:sSub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𝒌</m:t>
                            </m:r>
                          </m:e>
                        </m:d>
                      </m:e>
                    </m:d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𝟐</m:t>
                    </m:r>
                    <m:rad>
                      <m:radPr>
                        <m:degHide m:val="on"/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b="1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𝜺</m:t>
                                        </m:r>
                                      </m:e>
                                      <m:sub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𝑨</m:t>
                                        </m:r>
                                      </m:sub>
                                    </m:sSub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1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𝜺</m:t>
                                        </m:r>
                                      </m:e>
                                      <m:sub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𝑩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𝒕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endPara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0CA8560-FD04-4D7B-99FD-8CB9902F7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885" y="4716719"/>
                <a:ext cx="4877866" cy="656013"/>
              </a:xfrm>
              <a:prstGeom prst="rect">
                <a:avLst/>
              </a:prstGeom>
              <a:blipFill>
                <a:blip r:embed="rId10"/>
                <a:stretch>
                  <a:fillRect l="-999" b="-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2362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1981200" y="4903102"/>
            <a:ext cx="7647280" cy="11651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That's all for this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ession</a:t>
            </a:r>
          </a:p>
          <a:p>
            <a:endParaRPr lang="en-US" sz="20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 and great participation</a:t>
            </a:r>
          </a:p>
        </p:txBody>
      </p:sp>
      <p:sp>
        <p:nvSpPr>
          <p:cNvPr id="6" name="Rectangle 5"/>
          <p:cNvSpPr/>
          <p:nvPr/>
        </p:nvSpPr>
        <p:spPr>
          <a:xfrm rot="10800000">
            <a:off x="-1" y="6647009"/>
            <a:ext cx="12191999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97" b="11314"/>
          <a:stretch/>
        </p:blipFill>
        <p:spPr>
          <a:xfrm>
            <a:off x="1473200" y="0"/>
            <a:ext cx="9262533" cy="4768850"/>
          </a:xfrm>
        </p:spPr>
      </p:pic>
      <p:pic>
        <p:nvPicPr>
          <p:cNvPr id="8" name="Picture 7" descr="Shield-navy(rgb for online)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1333" y="6199957"/>
            <a:ext cx="356139" cy="44452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B7A8B-B62A-42E2-9B1F-59950FA36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6332" y="6643166"/>
            <a:ext cx="465667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726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3138</TotalTime>
  <Words>1732</Words>
  <Application>Microsoft Office PowerPoint</Application>
  <PresentationFormat>Widescreen</PresentationFormat>
  <Paragraphs>213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Times New Roman</vt:lpstr>
      <vt:lpstr>Office Theme</vt:lpstr>
      <vt:lpstr>Atomic-Level Materials Simulation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Kenan Song</dc:creator>
  <cp:lastModifiedBy>Kenan Song</cp:lastModifiedBy>
  <cp:revision>339</cp:revision>
  <dcterms:created xsi:type="dcterms:W3CDTF">2026-01-31T01:24:38Z</dcterms:created>
  <dcterms:modified xsi:type="dcterms:W3CDTF">2026-07-07T19:52:03Z</dcterms:modified>
</cp:coreProperties>
</file>