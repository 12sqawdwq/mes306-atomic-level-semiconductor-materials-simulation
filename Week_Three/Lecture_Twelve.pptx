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87" r:id="rId2"/>
    <p:sldId id="297" r:id="rId3"/>
    <p:sldId id="282" r:id="rId4"/>
    <p:sldId id="296" r:id="rId5"/>
    <p:sldId id="338" r:id="rId6"/>
    <p:sldId id="310" r:id="rId7"/>
    <p:sldId id="339" r:id="rId8"/>
    <p:sldId id="340" r:id="rId9"/>
    <p:sldId id="341" r:id="rId10"/>
    <p:sldId id="342" r:id="rId11"/>
    <p:sldId id="295" r:id="rId12"/>
    <p:sldId id="311" r:id="rId13"/>
    <p:sldId id="317" r:id="rId14"/>
    <p:sldId id="315" r:id="rId15"/>
    <p:sldId id="314" r:id="rId16"/>
    <p:sldId id="294" r:id="rId17"/>
    <p:sldId id="293" r:id="rId18"/>
    <p:sldId id="288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nan Song" initials="KS" lastIdx="1" clrIdx="0">
    <p:extLst>
      <p:ext uri="{19B8F6BF-5375-455C-9EA6-DF929625EA0E}">
        <p15:presenceInfo xmlns:p15="http://schemas.microsoft.com/office/powerpoint/2012/main" userId="S-1-5-21-1612857076-1602373485-3872515628-2187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3B92"/>
    <a:srgbClr val="17DCF1"/>
    <a:srgbClr val="2AC0DE"/>
    <a:srgbClr val="5AA4AE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68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689EB-B573-45B5-8193-6506A546A233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6C2B68-83DF-49A6-B67F-93C713339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06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English Title:</a:t>
            </a:r>
            <a:r>
              <a:rPr lang="en-US" baseline="0" dirty="0"/>
              <a:t> Uppercase, Calibri size 60, XJTLU Navy</a:t>
            </a:r>
          </a:p>
          <a:p>
            <a:r>
              <a:rPr lang="en-US" baseline="0" dirty="0"/>
              <a:t>English Subtitle: Uppercase, Calibri size 36, XJTLU Navy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175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58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1751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632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24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707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5834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843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376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2331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964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865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8600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102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Images should be RGB </a:t>
            </a:r>
            <a:r>
              <a:rPr lang="en-US" baseline="0" dirty="0" err="1"/>
              <a:t>colour</a:t>
            </a:r>
            <a:r>
              <a:rPr lang="en-US" baseline="0" dirty="0"/>
              <a:t> setting</a:t>
            </a:r>
            <a:endParaRPr lang="en-GB" dirty="0"/>
          </a:p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096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B7692-00CC-4D85-9834-54FA546E0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F3BF9-70F2-45B9-A1D0-4963FD061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77331-7A7B-42A4-8956-4C3988580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956DF-857D-4461-96F1-6776F2F5B81A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8333B-41CE-4DBB-8024-E64BC8645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DBD60-F226-4CCE-B568-37C63D52F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21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30DEE-6A0A-4E5E-BD87-C360D90C5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38C41-B259-4216-A4AE-A34A5F2F0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8CC75-9F97-437C-8F04-2AB43226D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FDE24-EE6B-4EF8-8991-8B8343E53DA5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CC0F1-7F09-4639-AAC3-CBF2D0C15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4FA7F-6A27-46B3-B0AB-8D36E075A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92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3E709-D79E-4876-976F-555CD9BA7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3D221-9F5E-416A-965C-16C7E4E96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AD0CA-E413-4683-8359-C18C00A07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00866-C47B-4495-84B2-8E7F96E5ED1E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F851E-5772-4A09-A7D2-CAD517CB1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1CF18-E81B-4A0A-8AE9-2F923CCB2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18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D339D-1AE7-4F74-A256-CD864A868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60A28-5C7C-4DEB-82A1-EA2D1412BD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6205B-E420-4090-BE4C-CB3DE793B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9074B-1019-4C5B-AE52-6E54FBE37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9162-9FAA-4B81-BEAA-152A7E130A59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0AFB0-DB18-44EF-BF9A-172202984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A5C97-5BDD-491E-82EC-271512112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5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C6061-E0A4-4393-AF11-3C0D33484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66B1-5D25-436B-96BF-63B37C90C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CBD42F-949D-41FC-90EA-B9DFFC4FFE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110839-8A42-43A4-8417-E904FFC1B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E8F3B7-A7D7-4C4A-88DE-01C6743CB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71CA0C-A291-4177-B7CA-D56BB28CA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0AA3F-E19F-4C95-A255-595B77933C71}" type="datetime1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ECE47C-4F84-4805-A722-D45FF454B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C8387-7D60-41D8-B1D7-139D268FE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967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AD6E6-19B9-404C-BEF3-C4046C57F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062F18-B541-43FB-B4FE-D708EC248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C51F-E268-4F35-A5AE-85DF94254B1F}" type="datetime1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44C150-377C-48C4-B3A2-A62D81767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3399CE-19B6-4E67-B4FD-CF9D2CD57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40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DC0FFC-959C-4911-9426-696686E48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48AEF-B9EC-465C-A3A8-E3FD06F0D5F4}" type="datetime1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83F369-89EC-460C-94C3-421DC2C0A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A08C1-6B26-4254-824E-92D02CC5F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746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A0620-7C37-4AE7-B35A-B3CCFCD4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E0477-81FB-4676-B603-792BF971C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61B079-52FE-4184-A30D-642CAC7CC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377D5-71CD-4409-998F-EC76B53F6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D042-DCBA-430F-B26F-F760C65A05B9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9643E-6933-42EC-9551-BB686E0F4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9EA81A-586C-4E23-B657-06A96CC49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83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3ECD3-7EE6-4019-8615-7EF8EBCB5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1992BD-1AD0-42F6-8302-BCEB72EFC1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5D11A7-A33F-4F56-9FBA-0D641F887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76D814-0949-4667-9117-2B4510DBF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EA0A4-2F41-4943-887A-A8FF9AA79713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77BCAC-8594-4E8C-ACF3-DA2BDA5F1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C2B3E-4229-457F-BB19-EE896CB51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039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AE555-085D-470D-881D-459E91C65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8C7BDB-1490-403F-B3A1-0B70FE1E4A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2A618-3458-4895-B9ED-98EB886D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C14C1-87D3-45D2-A1E2-C7B8C47C5AAC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8D71D-4EEF-4333-8536-4BBD3CB56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C000D-8BC4-4EEF-B74F-67FE82D2F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930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01B6A8-9551-4681-ABF5-D1963B41B6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CB4652-08A6-45D3-B4FB-CD7C24E8E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F9ABF-6A2D-44D0-91AD-83C82B1C0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2149B-A775-469F-A1A5-94C33EAFD592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82D59-74B6-43D5-8B47-D3312C182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485ED-9279-4CF5-B7BF-D2271F55B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370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D87A8F-22C0-48C0-BE22-24EDEB965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06A83-6023-42A2-8B75-C26EED93C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0EF81-77D8-4AC0-B5AB-7E680285EB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4AB26-75B2-4388-B3AB-EA05CB8D99ED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B84D1-A4B4-457A-B215-6194F092E3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C8477-C608-42E5-94FD-5D17EC1FA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27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.emf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2.emf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8.png"/><Relationship Id="rId3" Type="http://schemas.openxmlformats.org/officeDocument/2006/relationships/image" Target="../media/image1.emf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5" Type="http://schemas.openxmlformats.org/officeDocument/2006/relationships/image" Target="../media/image5.png"/><Relationship Id="rId10" Type="http://schemas.openxmlformats.org/officeDocument/2006/relationships/image" Target="../media/image9.png"/><Relationship Id="rId19" Type="http://schemas.openxmlformats.org/officeDocument/2006/relationships/image" Target="../media/image19.png"/><Relationship Id="rId4" Type="http://schemas.openxmlformats.org/officeDocument/2006/relationships/image" Target="../media/image2.emf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3.png"/><Relationship Id="rId3" Type="http://schemas.openxmlformats.org/officeDocument/2006/relationships/image" Target="../media/image1.emf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5" Type="http://schemas.openxmlformats.org/officeDocument/2006/relationships/image" Target="../media/image20.png"/><Relationship Id="rId10" Type="http://schemas.openxmlformats.org/officeDocument/2006/relationships/image" Target="../media/image9.png"/><Relationship Id="rId4" Type="http://schemas.openxmlformats.org/officeDocument/2006/relationships/image" Target="../media/image2.emf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6.png"/><Relationship Id="rId2" Type="http://schemas.openxmlformats.org/officeDocument/2006/relationships/image" Target="../media/image1.emf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.png"/><Relationship Id="rId15" Type="http://schemas.openxmlformats.org/officeDocument/2006/relationships/image" Target="../media/image24.png"/><Relationship Id="rId10" Type="http://schemas.openxmlformats.org/officeDocument/2006/relationships/image" Target="../media/image9.png"/><Relationship Id="rId19" Type="http://schemas.openxmlformats.org/officeDocument/2006/relationships/image" Target="../media/image2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1.png"/><Relationship Id="rId3" Type="http://schemas.openxmlformats.org/officeDocument/2006/relationships/image" Target="../media/image1.emf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5" Type="http://schemas.openxmlformats.org/officeDocument/2006/relationships/image" Target="../media/image30.png"/><Relationship Id="rId10" Type="http://schemas.openxmlformats.org/officeDocument/2006/relationships/image" Target="../media/image9.png"/><Relationship Id="rId4" Type="http://schemas.openxmlformats.org/officeDocument/2006/relationships/image" Target="../media/image2.emf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36.png"/><Relationship Id="rId3" Type="http://schemas.openxmlformats.org/officeDocument/2006/relationships/image" Target="../media/image1.emf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5" Type="http://schemas.openxmlformats.org/officeDocument/2006/relationships/image" Target="../media/image33.png"/><Relationship Id="rId10" Type="http://schemas.openxmlformats.org/officeDocument/2006/relationships/image" Target="../media/image9.png"/><Relationship Id="rId4" Type="http://schemas.openxmlformats.org/officeDocument/2006/relationships/image" Target="../media/image2.emf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40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39.png"/><Relationship Id="rId2" Type="http://schemas.openxmlformats.org/officeDocument/2006/relationships/image" Target="../media/image1.emf"/><Relationship Id="rId16" Type="http://schemas.openxmlformats.org/officeDocument/2006/relationships/image" Target="../media/image38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.png"/><Relationship Id="rId15" Type="http://schemas.openxmlformats.org/officeDocument/2006/relationships/image" Target="../media/image37.png"/><Relationship Id="rId10" Type="http://schemas.openxmlformats.org/officeDocument/2006/relationships/image" Target="../media/image9.png"/><Relationship Id="rId19" Type="http://schemas.openxmlformats.org/officeDocument/2006/relationships/image" Target="../media/image41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44.png"/><Relationship Id="rId3" Type="http://schemas.openxmlformats.org/officeDocument/2006/relationships/image" Target="../media/image1.emf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5" Type="http://schemas.openxmlformats.org/officeDocument/2006/relationships/image" Target="../media/image36.png"/><Relationship Id="rId10" Type="http://schemas.openxmlformats.org/officeDocument/2006/relationships/image" Target="../media/image9.png"/><Relationship Id="rId4" Type="http://schemas.openxmlformats.org/officeDocument/2006/relationships/image" Target="../media/image2.emf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1.emf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2.emf"/><Relationship Id="rId9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2.emf"/><Relationship Id="rId7" Type="http://schemas.openxmlformats.org/officeDocument/2006/relationships/image" Target="../media/image57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3" Type="http://schemas.openxmlformats.org/officeDocument/2006/relationships/image" Target="../media/image2.emf"/><Relationship Id="rId7" Type="http://schemas.openxmlformats.org/officeDocument/2006/relationships/image" Target="../media/image360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2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1.emf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59.png"/><Relationship Id="rId4" Type="http://schemas.openxmlformats.org/officeDocument/2006/relationships/image" Target="../media/image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12348" y="0"/>
            <a:ext cx="1881342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1845734" y="539271"/>
            <a:ext cx="9381066" cy="2576972"/>
          </a:xfrm>
        </p:spPr>
        <p:txBody>
          <a:bodyPr>
            <a:noAutofit/>
          </a:bodyPr>
          <a:lstStyle/>
          <a:p>
            <a:r>
              <a:rPr lang="en-US" b="1" cap="all" dirty="0">
                <a:solidFill>
                  <a:srgbClr val="000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Atomic-Level Materials Simulation</a:t>
            </a:r>
            <a:endParaRPr lang="en-US" b="1" cap="all" spc="300" dirty="0">
              <a:solidFill>
                <a:srgbClr val="00004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931788"/>
            <a:ext cx="3356173" cy="717897"/>
          </a:xfrm>
          <a:prstGeom prst="rect">
            <a:avLst/>
          </a:prstGeom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5CBD63E4-A19B-48E4-92A6-80AB9D355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43407" y="4313247"/>
            <a:ext cx="3429000" cy="1655762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Kenan Song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Chips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Kenan.Song@xjtlu.edu.cn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Office: C5007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63B04092-2132-437A-A663-8A0C6DF466AF}"/>
              </a:ext>
            </a:extLst>
          </p:cNvPr>
          <p:cNvSpPr txBox="1">
            <a:spLocks/>
          </p:cNvSpPr>
          <p:nvPr/>
        </p:nvSpPr>
        <p:spPr>
          <a:xfrm>
            <a:off x="4491576" y="3379839"/>
            <a:ext cx="3492492" cy="42660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Code: MES306TC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411CA1-062B-44DF-A595-5CC38317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12600" y="6643166"/>
            <a:ext cx="279400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730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0333" y="8463"/>
            <a:ext cx="11184465" cy="81624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for Structure Building and Band Structure</a:t>
            </a:r>
          </a:p>
        </p:txBody>
      </p:sp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432D16-D1E6-45CC-AC39-11CF73BF1D81}"/>
              </a:ext>
            </a:extLst>
          </p:cNvPr>
          <p:cNvSpPr txBox="1"/>
          <p:nvPr/>
        </p:nvSpPr>
        <p:spPr>
          <a:xfrm>
            <a:off x="1794933" y="1523756"/>
            <a:ext cx="8075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I. T</a:t>
            </a:r>
            <a:r>
              <a:rPr lang="en-US" altLang="zh-C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ight Binding Hamiltonian for Pristine Graphene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63633B-269F-45B5-905D-584EE122F55F}"/>
              </a:ext>
            </a:extLst>
          </p:cNvPr>
          <p:cNvSpPr txBox="1"/>
          <p:nvPr/>
        </p:nvSpPr>
        <p:spPr>
          <a:xfrm>
            <a:off x="3003949" y="3048851"/>
            <a:ext cx="51985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for TBM of Graphene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6F5EC494-AB40-42C8-9402-C6E9855A5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87200" y="6643166"/>
            <a:ext cx="301424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A3D65B-CFC0-4067-A493-DCE8FF6B95D8}"/>
              </a:ext>
            </a:extLst>
          </p:cNvPr>
          <p:cNvSpPr txBox="1"/>
          <p:nvPr/>
        </p:nvSpPr>
        <p:spPr>
          <a:xfrm>
            <a:off x="59267" y="4471805"/>
            <a:ext cx="12081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Tuning band structure of Graphene from Conductor into a Semiconductor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05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9853340-B29D-4E0D-9366-BA708209F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95666" y="6643166"/>
            <a:ext cx="292957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31DC2CB-97F4-4164-8723-FC155AFB807C}"/>
                  </a:ext>
                </a:extLst>
              </p:cNvPr>
              <p:cNvSpPr txBox="1"/>
              <p:nvPr/>
            </p:nvSpPr>
            <p:spPr>
              <a:xfrm>
                <a:off x="6756131" y="1631657"/>
                <a:ext cx="2701136" cy="383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𝒂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𝟒𝟔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Å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31DC2CB-97F4-4164-8723-FC155AFB8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131" y="1631657"/>
                <a:ext cx="2701136" cy="383118"/>
              </a:xfrm>
              <a:prstGeom prst="rect">
                <a:avLst/>
              </a:prstGeom>
              <a:blipFill>
                <a:blip r:embed="rId5"/>
                <a:stretch>
                  <a:fillRect r="-903"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0BCAC9B4-8418-4C82-BB0B-596D77007C85}"/>
              </a:ext>
            </a:extLst>
          </p:cNvPr>
          <p:cNvGrpSpPr/>
          <p:nvPr/>
        </p:nvGrpSpPr>
        <p:grpSpPr>
          <a:xfrm>
            <a:off x="307885" y="1292095"/>
            <a:ext cx="8220192" cy="5113741"/>
            <a:chOff x="307911" y="1321041"/>
            <a:chExt cx="8220192" cy="5113741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FACA59A3-7128-4617-B840-E7C70C0AE075}"/>
                </a:ext>
              </a:extLst>
            </p:cNvPr>
            <p:cNvGrpSpPr/>
            <p:nvPr/>
          </p:nvGrpSpPr>
          <p:grpSpPr>
            <a:xfrm>
              <a:off x="307911" y="1321041"/>
              <a:ext cx="8220192" cy="5113741"/>
              <a:chOff x="1259633" y="1398796"/>
              <a:chExt cx="8220192" cy="5113741"/>
            </a:xfrm>
          </p:grpSpPr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C8F3482C-D6DD-4DD7-B9D9-C6B3A79E6E1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561" t="5969"/>
              <a:stretch/>
            </p:blipFill>
            <p:spPr>
              <a:xfrm rot="1819438">
                <a:off x="1436911" y="1600506"/>
                <a:ext cx="6318800" cy="3708453"/>
              </a:xfrm>
              <a:prstGeom prst="rect">
                <a:avLst/>
              </a:prstGeom>
            </p:spPr>
          </p:pic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1654F516-E406-4B81-BD8F-23BF4925CD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9633" y="3888542"/>
                <a:ext cx="7965673" cy="12367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B5DFC82C-CE21-4A9C-8898-0A5E3FDD93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81074" y="1567887"/>
                <a:ext cx="0" cy="494465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7CA3EAA-CAAB-4512-B0F5-1261F3450527}"/>
                  </a:ext>
                </a:extLst>
              </p:cNvPr>
              <p:cNvSpPr txBox="1"/>
              <p:nvPr/>
            </p:nvSpPr>
            <p:spPr>
              <a:xfrm>
                <a:off x="3975294" y="1398796"/>
                <a:ext cx="254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0708DB3-879E-4AB2-8D1C-1DCE7B9FF14E}"/>
                  </a:ext>
                </a:extLst>
              </p:cNvPr>
              <p:cNvSpPr txBox="1"/>
              <p:nvPr/>
            </p:nvSpPr>
            <p:spPr>
              <a:xfrm>
                <a:off x="9225306" y="3860373"/>
                <a:ext cx="254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008CEDFE-5FCF-4512-8593-E6B445C9D1AE}"/>
                      </a:ext>
                    </a:extLst>
                  </p:cNvPr>
                  <p:cNvSpPr txBox="1"/>
                  <p:nvPr/>
                </p:nvSpPr>
                <p:spPr>
                  <a:xfrm>
                    <a:off x="5223157" y="3886026"/>
                    <a:ext cx="38117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008CEDFE-5FCF-4512-8593-E6B445C9D1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3157" y="3886026"/>
                    <a:ext cx="381171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645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5744923B-F2FF-4E4F-B6EB-6E8996A77942}"/>
                      </a:ext>
                    </a:extLst>
                  </p:cNvPr>
                  <p:cNvSpPr txBox="1"/>
                  <p:nvPr/>
                </p:nvSpPr>
                <p:spPr>
                  <a:xfrm>
                    <a:off x="3338992" y="2856977"/>
                    <a:ext cx="38117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5744923B-F2FF-4E4F-B6EB-6E8996A779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8992" y="2856977"/>
                    <a:ext cx="381171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6452" b="-163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8E279EA-24E9-45CC-9E00-4DA782A8390B}"/>
                  </a:ext>
                </a:extLst>
              </p:cNvPr>
              <p:cNvSpPr txBox="1"/>
              <p:nvPr/>
            </p:nvSpPr>
            <p:spPr>
              <a:xfrm>
                <a:off x="3975294" y="3966639"/>
                <a:ext cx="254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967F8305-E3E8-4357-9942-37A5904E292F}"/>
                    </a:ext>
                  </a:extLst>
                </p:cNvPr>
                <p:cNvSpPr txBox="1"/>
                <p:nvPr/>
              </p:nvSpPr>
              <p:spPr>
                <a:xfrm>
                  <a:off x="3456074" y="3448865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967F8305-E3E8-4357-9942-37A5904E29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6074" y="3448865"/>
                  <a:ext cx="381171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645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1622E18B-A0F5-440F-858C-2B73060BE99A}"/>
                    </a:ext>
                  </a:extLst>
                </p:cNvPr>
                <p:cNvSpPr txBox="1"/>
                <p:nvPr/>
              </p:nvSpPr>
              <p:spPr>
                <a:xfrm>
                  <a:off x="2792430" y="2869014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1622E18B-A0F5-440F-858C-2B73060BE9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2430" y="2869014"/>
                  <a:ext cx="381171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4762"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7DEBC853-A63F-48BF-83B7-DB4A2C2AF665}"/>
                    </a:ext>
                  </a:extLst>
                </p:cNvPr>
                <p:cNvSpPr txBox="1"/>
                <p:nvPr/>
              </p:nvSpPr>
              <p:spPr>
                <a:xfrm>
                  <a:off x="3706692" y="4322240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7DEBC853-A63F-48BF-83B7-DB4A2C2AF6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6692" y="4322240"/>
                  <a:ext cx="381171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476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ADECAD37-EBEF-4519-95E0-EA36C031BD51}"/>
                    </a:ext>
                  </a:extLst>
                </p:cNvPr>
                <p:cNvSpPr txBox="1"/>
                <p:nvPr/>
              </p:nvSpPr>
              <p:spPr>
                <a:xfrm>
                  <a:off x="4290747" y="3290042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ADECAD37-EBEF-4519-95E0-EA36C031BD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0747" y="3290042"/>
                  <a:ext cx="381171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64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247113FA-F3EF-4DAB-9898-DBA327617164}"/>
                    </a:ext>
                  </a:extLst>
                </p:cNvPr>
                <p:cNvSpPr txBox="1"/>
                <p:nvPr/>
              </p:nvSpPr>
              <p:spPr>
                <a:xfrm>
                  <a:off x="2240683" y="3481490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247113FA-F3EF-4DAB-9898-DBA3276171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0683" y="3481490"/>
                  <a:ext cx="381171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645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A3EFE042-C8DA-405B-8FB0-DC6A9AC63832}"/>
                    </a:ext>
                  </a:extLst>
                </p:cNvPr>
                <p:cNvSpPr txBox="1"/>
                <p:nvPr/>
              </p:nvSpPr>
              <p:spPr>
                <a:xfrm>
                  <a:off x="2848979" y="2457689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A3EFE042-C8DA-405B-8FB0-DC6A9AC638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8979" y="2457689"/>
                  <a:ext cx="381171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476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0E19DD4-FB45-4D5C-A022-9ECEE5C04FF6}"/>
              </a:ext>
            </a:extLst>
          </p:cNvPr>
          <p:cNvSpPr txBox="1"/>
          <p:nvPr/>
        </p:nvSpPr>
        <p:spPr>
          <a:xfrm>
            <a:off x="66471" y="739482"/>
            <a:ext cx="24061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G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raphene</a:t>
            </a:r>
            <a:endParaRPr lang="en-US" b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45A776E-E316-44D9-8722-6645E3EDCA73}"/>
                  </a:ext>
                </a:extLst>
              </p:cNvPr>
              <p:cNvSpPr txBox="1"/>
              <p:nvPr/>
            </p:nvSpPr>
            <p:spPr>
              <a:xfrm>
                <a:off x="6756131" y="2492554"/>
                <a:ext cx="3564735" cy="870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</m:mr>
                          <m:m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×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𝒄𝒐𝒔</m:t>
                              </m:r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𝟏𝟐𝟎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×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𝒔𝒊𝒏</m:t>
                              </m:r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𝟏𝟐𝟎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45A776E-E316-44D9-8722-6645E3EDC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131" y="2492554"/>
                <a:ext cx="3564735" cy="87023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2B37BC8-CED2-44A7-BD8B-02258720D8E7}"/>
                  </a:ext>
                </a:extLst>
              </p:cNvPr>
              <p:cNvSpPr txBox="1"/>
              <p:nvPr/>
            </p:nvSpPr>
            <p:spPr>
              <a:xfrm>
                <a:off x="6756131" y="4223842"/>
                <a:ext cx="2837098" cy="1163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2B37BC8-CED2-44A7-BD8B-02258720D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131" y="4223842"/>
                <a:ext cx="2837098" cy="116346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920241A6-9E0E-4584-AD9D-7B15FB4E14E9}"/>
              </a:ext>
            </a:extLst>
          </p:cNvPr>
          <p:cNvSpPr txBox="1"/>
          <p:nvPr/>
        </p:nvSpPr>
        <p:spPr>
          <a:xfrm>
            <a:off x="2058325" y="93606"/>
            <a:ext cx="8075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I. T</a:t>
            </a:r>
            <a:r>
              <a:rPr lang="en-US" altLang="zh-C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ight Binding Hamiltonian for Pristine Graphene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678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FC216DF-96C1-4BDE-A499-0F0FD6EAB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78732" y="6643166"/>
            <a:ext cx="313267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4C6E919-FAE7-4D5E-9A03-5613228D06C6}"/>
              </a:ext>
            </a:extLst>
          </p:cNvPr>
          <p:cNvGrpSpPr/>
          <p:nvPr/>
        </p:nvGrpSpPr>
        <p:grpSpPr>
          <a:xfrm>
            <a:off x="307885" y="1292095"/>
            <a:ext cx="8220192" cy="5113741"/>
            <a:chOff x="307911" y="1321041"/>
            <a:chExt cx="8220192" cy="511374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4750DF1-7E70-46E9-855F-8575AEA05B34}"/>
                </a:ext>
              </a:extLst>
            </p:cNvPr>
            <p:cNvGrpSpPr/>
            <p:nvPr/>
          </p:nvGrpSpPr>
          <p:grpSpPr>
            <a:xfrm>
              <a:off x="307911" y="1321041"/>
              <a:ext cx="8220192" cy="5113741"/>
              <a:chOff x="1259633" y="1398796"/>
              <a:chExt cx="8220192" cy="5113741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3F8A422E-8AFA-4EB0-946D-159678271C5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561" t="5969"/>
              <a:stretch/>
            </p:blipFill>
            <p:spPr>
              <a:xfrm rot="1819438">
                <a:off x="1436911" y="1600506"/>
                <a:ext cx="6318800" cy="3708453"/>
              </a:xfrm>
              <a:prstGeom prst="rect">
                <a:avLst/>
              </a:prstGeom>
            </p:spPr>
          </p:pic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14EFCF50-8E16-4ACC-81B5-66A3A519EF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9633" y="3888542"/>
                <a:ext cx="7965673" cy="12367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F7C8BAE1-8ED2-46F5-AC1E-DE31F8751F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81074" y="1567887"/>
                <a:ext cx="0" cy="494465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C7D872A-0A63-4BC9-861D-FC3BF76F842E}"/>
                  </a:ext>
                </a:extLst>
              </p:cNvPr>
              <p:cNvSpPr txBox="1"/>
              <p:nvPr/>
            </p:nvSpPr>
            <p:spPr>
              <a:xfrm>
                <a:off x="3975294" y="1398796"/>
                <a:ext cx="254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FBF58F-E30E-4C11-878A-554CF0C87187}"/>
                  </a:ext>
                </a:extLst>
              </p:cNvPr>
              <p:cNvSpPr txBox="1"/>
              <p:nvPr/>
            </p:nvSpPr>
            <p:spPr>
              <a:xfrm>
                <a:off x="9225306" y="3860373"/>
                <a:ext cx="254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99F6185F-B337-481B-A523-9F58980D0742}"/>
                      </a:ext>
                    </a:extLst>
                  </p:cNvPr>
                  <p:cNvSpPr txBox="1"/>
                  <p:nvPr/>
                </p:nvSpPr>
                <p:spPr>
                  <a:xfrm>
                    <a:off x="5223157" y="3886026"/>
                    <a:ext cx="38117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008CEDFE-5FCF-4512-8593-E6B445C9D1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3157" y="3886026"/>
                    <a:ext cx="381171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645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C9C33B89-C7D8-4276-9579-503310715CA2}"/>
                      </a:ext>
                    </a:extLst>
                  </p:cNvPr>
                  <p:cNvSpPr txBox="1"/>
                  <p:nvPr/>
                </p:nvSpPr>
                <p:spPr>
                  <a:xfrm>
                    <a:off x="3338992" y="2856977"/>
                    <a:ext cx="38117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5744923B-F2FF-4E4F-B6EB-6E8996A779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8992" y="2856977"/>
                    <a:ext cx="381171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6452" b="-163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93679C8-8A0C-443E-ACD0-92BF5EF14CDC}"/>
                  </a:ext>
                </a:extLst>
              </p:cNvPr>
              <p:cNvSpPr txBox="1"/>
              <p:nvPr/>
            </p:nvSpPr>
            <p:spPr>
              <a:xfrm>
                <a:off x="3975294" y="3966639"/>
                <a:ext cx="254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9076ADA-FA47-47E0-9C5E-5BC6C2DCF486}"/>
                    </a:ext>
                  </a:extLst>
                </p:cNvPr>
                <p:cNvSpPr txBox="1"/>
                <p:nvPr/>
              </p:nvSpPr>
              <p:spPr>
                <a:xfrm>
                  <a:off x="3456074" y="3448865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967F8305-E3E8-4357-9942-37A5904E29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6074" y="3448865"/>
                  <a:ext cx="381171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645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F514A9A-7FB7-41E5-A381-FFAEF6FE09F4}"/>
                    </a:ext>
                  </a:extLst>
                </p:cNvPr>
                <p:cNvSpPr txBox="1"/>
                <p:nvPr/>
              </p:nvSpPr>
              <p:spPr>
                <a:xfrm>
                  <a:off x="2792430" y="2869014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1622E18B-A0F5-440F-858C-2B73060BE9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2430" y="2869014"/>
                  <a:ext cx="381171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4762"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6009CAD-5E68-4BFA-9C7E-F261334702EF}"/>
                    </a:ext>
                  </a:extLst>
                </p:cNvPr>
                <p:cNvSpPr txBox="1"/>
                <p:nvPr/>
              </p:nvSpPr>
              <p:spPr>
                <a:xfrm>
                  <a:off x="3706692" y="4322240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7DEBC853-A63F-48BF-83B7-DB4A2C2AF6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6692" y="4322240"/>
                  <a:ext cx="381171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476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182087E-BF38-403D-AEDA-81B77CA114EC}"/>
                    </a:ext>
                  </a:extLst>
                </p:cNvPr>
                <p:cNvSpPr txBox="1"/>
                <p:nvPr/>
              </p:nvSpPr>
              <p:spPr>
                <a:xfrm>
                  <a:off x="4290747" y="3290042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ADECAD37-EBEF-4519-95E0-EA36C031BD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0747" y="3290042"/>
                  <a:ext cx="381171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64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BB5A4CC-CA19-4397-A4EE-2A3DE0961E25}"/>
                    </a:ext>
                  </a:extLst>
                </p:cNvPr>
                <p:cNvSpPr txBox="1"/>
                <p:nvPr/>
              </p:nvSpPr>
              <p:spPr>
                <a:xfrm>
                  <a:off x="2240683" y="3481490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247113FA-F3EF-4DAB-9898-DBA3276171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0683" y="3481490"/>
                  <a:ext cx="381171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645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C5D4307-98C3-46DD-B48F-AC8E8A1A60BC}"/>
                    </a:ext>
                  </a:extLst>
                </p:cNvPr>
                <p:cNvSpPr txBox="1"/>
                <p:nvPr/>
              </p:nvSpPr>
              <p:spPr>
                <a:xfrm>
                  <a:off x="2848979" y="2457689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A3EFE042-C8DA-405B-8FB0-DC6A9AC638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8979" y="2457689"/>
                  <a:ext cx="381171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476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9DE34CA-918C-486B-8EED-5BBE31CBA2F3}"/>
              </a:ext>
            </a:extLst>
          </p:cNvPr>
          <p:cNvSpPr txBox="1"/>
          <p:nvPr/>
        </p:nvSpPr>
        <p:spPr>
          <a:xfrm>
            <a:off x="574541" y="756413"/>
            <a:ext cx="2967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Onsite Energy for Graphene</a:t>
            </a:r>
            <a:endParaRPr lang="en-US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80DB01-8716-499D-996A-0516E4960E41}"/>
              </a:ext>
            </a:extLst>
          </p:cNvPr>
          <p:cNvSpPr txBox="1"/>
          <p:nvPr/>
        </p:nvSpPr>
        <p:spPr>
          <a:xfrm>
            <a:off x="2058325" y="93606"/>
            <a:ext cx="8075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I. T</a:t>
            </a:r>
            <a:r>
              <a:rPr lang="en-US" altLang="zh-C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ight Binding Hamiltonian for Pristine Graphene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60CF4AA-1056-46F9-AFEA-3B596C4591D7}"/>
                  </a:ext>
                </a:extLst>
              </p:cNvPr>
              <p:cNvSpPr txBox="1"/>
              <p:nvPr/>
            </p:nvSpPr>
            <p:spPr>
              <a:xfrm>
                <a:off x="6233221" y="1768437"/>
                <a:ext cx="364336" cy="383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60CF4AA-1056-46F9-AFEA-3B596C459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221" y="1768437"/>
                <a:ext cx="364336" cy="383118"/>
              </a:xfrm>
              <a:prstGeom prst="rect">
                <a:avLst/>
              </a:prstGeom>
              <a:blipFill>
                <a:blip r:embed="rId15"/>
                <a:stretch>
                  <a:fillRect r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9504D77-8D4C-4832-865C-B8AB11D023DE}"/>
                  </a:ext>
                </a:extLst>
              </p:cNvPr>
              <p:cNvSpPr txBox="1"/>
              <p:nvPr/>
            </p:nvSpPr>
            <p:spPr>
              <a:xfrm>
                <a:off x="6341070" y="2318558"/>
                <a:ext cx="364336" cy="383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𝑩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9504D77-8D4C-4832-865C-B8AB11D02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070" y="2318558"/>
                <a:ext cx="364336" cy="383118"/>
              </a:xfrm>
              <a:prstGeom prst="rect">
                <a:avLst/>
              </a:prstGeom>
              <a:blipFill>
                <a:blip r:embed="rId16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B6F99FF-B504-43C6-90FD-A78DD5FFB4CF}"/>
              </a:ext>
            </a:extLst>
          </p:cNvPr>
          <p:cNvSpPr/>
          <p:nvPr/>
        </p:nvSpPr>
        <p:spPr>
          <a:xfrm>
            <a:off x="3513667" y="2709333"/>
            <a:ext cx="1947333" cy="406866"/>
          </a:xfrm>
          <a:custGeom>
            <a:avLst/>
            <a:gdLst>
              <a:gd name="connsiteX0" fmla="*/ 0 w 1947333"/>
              <a:gd name="connsiteY0" fmla="*/ 406400 h 406866"/>
              <a:gd name="connsiteX1" fmla="*/ 211666 w 1947333"/>
              <a:gd name="connsiteY1" fmla="*/ 220134 h 406866"/>
              <a:gd name="connsiteX2" fmla="*/ 482600 w 1947333"/>
              <a:gd name="connsiteY2" fmla="*/ 406400 h 406866"/>
              <a:gd name="connsiteX3" fmla="*/ 931333 w 1947333"/>
              <a:gd name="connsiteY3" fmla="*/ 152400 h 406866"/>
              <a:gd name="connsiteX4" fmla="*/ 1456266 w 1947333"/>
              <a:gd name="connsiteY4" fmla="*/ 296334 h 406866"/>
              <a:gd name="connsiteX5" fmla="*/ 1947333 w 1947333"/>
              <a:gd name="connsiteY5" fmla="*/ 0 h 406866"/>
              <a:gd name="connsiteX6" fmla="*/ 1947333 w 1947333"/>
              <a:gd name="connsiteY6" fmla="*/ 0 h 406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47333" h="406866">
                <a:moveTo>
                  <a:pt x="0" y="406400"/>
                </a:moveTo>
                <a:cubicBezTo>
                  <a:pt x="65616" y="313267"/>
                  <a:pt x="131233" y="220134"/>
                  <a:pt x="211666" y="220134"/>
                </a:cubicBezTo>
                <a:cubicBezTo>
                  <a:pt x="292099" y="220134"/>
                  <a:pt x="362656" y="417689"/>
                  <a:pt x="482600" y="406400"/>
                </a:cubicBezTo>
                <a:cubicBezTo>
                  <a:pt x="602544" y="395111"/>
                  <a:pt x="769055" y="170744"/>
                  <a:pt x="931333" y="152400"/>
                </a:cubicBezTo>
                <a:cubicBezTo>
                  <a:pt x="1093611" y="134056"/>
                  <a:pt x="1286933" y="321734"/>
                  <a:pt x="1456266" y="296334"/>
                </a:cubicBezTo>
                <a:cubicBezTo>
                  <a:pt x="1625599" y="270934"/>
                  <a:pt x="1947333" y="0"/>
                  <a:pt x="1947333" y="0"/>
                </a:cubicBezTo>
                <a:lnTo>
                  <a:pt x="1947333" y="0"/>
                </a:lnTo>
              </a:path>
            </a:pathLst>
          </a:custGeom>
          <a:noFill/>
          <a:ln w="254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F7437CE-B889-4018-859C-5DC0BA63EA54}"/>
              </a:ext>
            </a:extLst>
          </p:cNvPr>
          <p:cNvCxnSpPr>
            <a:cxnSpLocks/>
          </p:cNvCxnSpPr>
          <p:nvPr/>
        </p:nvCxnSpPr>
        <p:spPr>
          <a:xfrm flipV="1">
            <a:off x="5487582" y="2049406"/>
            <a:ext cx="763983" cy="645843"/>
          </a:xfrm>
          <a:prstGeom prst="straightConnector1">
            <a:avLst/>
          </a:prstGeom>
          <a:ln w="254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FD8872-9EE4-4C1B-A20E-58485A255BA5}"/>
              </a:ext>
            </a:extLst>
          </p:cNvPr>
          <p:cNvSpPr/>
          <p:nvPr/>
        </p:nvSpPr>
        <p:spPr>
          <a:xfrm>
            <a:off x="4065726" y="2967278"/>
            <a:ext cx="1912775" cy="780408"/>
          </a:xfrm>
          <a:custGeom>
            <a:avLst/>
            <a:gdLst>
              <a:gd name="connsiteX0" fmla="*/ 0 w 1912775"/>
              <a:gd name="connsiteY0" fmla="*/ 662473 h 780408"/>
              <a:gd name="connsiteX1" fmla="*/ 569167 w 1912775"/>
              <a:gd name="connsiteY1" fmla="*/ 746449 h 780408"/>
              <a:gd name="connsiteX2" fmla="*/ 765110 w 1912775"/>
              <a:gd name="connsiteY2" fmla="*/ 167951 h 780408"/>
              <a:gd name="connsiteX3" fmla="*/ 1502228 w 1912775"/>
              <a:gd name="connsiteY3" fmla="*/ 214604 h 780408"/>
              <a:gd name="connsiteX4" fmla="*/ 1912775 w 1912775"/>
              <a:gd name="connsiteY4" fmla="*/ 0 h 780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2775" h="780408">
                <a:moveTo>
                  <a:pt x="0" y="662473"/>
                </a:moveTo>
                <a:cubicBezTo>
                  <a:pt x="220824" y="745671"/>
                  <a:pt x="441649" y="828869"/>
                  <a:pt x="569167" y="746449"/>
                </a:cubicBezTo>
                <a:cubicBezTo>
                  <a:pt x="696685" y="664029"/>
                  <a:pt x="609600" y="256592"/>
                  <a:pt x="765110" y="167951"/>
                </a:cubicBezTo>
                <a:cubicBezTo>
                  <a:pt x="920620" y="79310"/>
                  <a:pt x="1310951" y="242596"/>
                  <a:pt x="1502228" y="214604"/>
                </a:cubicBezTo>
                <a:cubicBezTo>
                  <a:pt x="1693505" y="186612"/>
                  <a:pt x="1803140" y="93306"/>
                  <a:pt x="1912775" y="0"/>
                </a:cubicBezTo>
              </a:path>
            </a:pathLst>
          </a:custGeom>
          <a:noFill/>
          <a:ln w="254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2AB6B9E-C581-4989-A383-E7A6C65A4436}"/>
              </a:ext>
            </a:extLst>
          </p:cNvPr>
          <p:cNvCxnSpPr>
            <a:cxnSpLocks/>
          </p:cNvCxnSpPr>
          <p:nvPr/>
        </p:nvCxnSpPr>
        <p:spPr>
          <a:xfrm flipV="1">
            <a:off x="6041288" y="2613409"/>
            <a:ext cx="334825" cy="318617"/>
          </a:xfrm>
          <a:prstGeom prst="straightConnector1">
            <a:avLst/>
          </a:prstGeom>
          <a:ln w="254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7" name="Table 37">
                <a:extLst>
                  <a:ext uri="{FF2B5EF4-FFF2-40B4-BE49-F238E27FC236}">
                    <a16:creationId xmlns:a16="http://schemas.microsoft.com/office/drawing/2014/main" id="{4FDF992E-A1D3-458D-87DA-D1FCCBF9AC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4558154"/>
                  </p:ext>
                </p:extLst>
              </p:nvPr>
            </p:nvGraphicFramePr>
            <p:xfrm>
              <a:off x="9039141" y="2358493"/>
              <a:ext cx="560927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0927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𝜺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𝑨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7" name="Table 37">
                <a:extLst>
                  <a:ext uri="{FF2B5EF4-FFF2-40B4-BE49-F238E27FC236}">
                    <a16:creationId xmlns:a16="http://schemas.microsoft.com/office/drawing/2014/main" id="{4FDF992E-A1D3-458D-87DA-D1FCCBF9AC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4558154"/>
                  </p:ext>
                </p:extLst>
              </p:nvPr>
            </p:nvGraphicFramePr>
            <p:xfrm>
              <a:off x="9039141" y="2358493"/>
              <a:ext cx="560927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0927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7"/>
                          <a:stretch>
                            <a:fillRect l="-1075" t="-1064" r="-4301" b="-102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8" name="Table 37">
                <a:extLst>
                  <a:ext uri="{FF2B5EF4-FFF2-40B4-BE49-F238E27FC236}">
                    <a16:creationId xmlns:a16="http://schemas.microsoft.com/office/drawing/2014/main" id="{605E3E6F-E016-4029-B729-9AF5B9C0A2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8936279"/>
                  </p:ext>
                </p:extLst>
              </p:nvPr>
            </p:nvGraphicFramePr>
            <p:xfrm>
              <a:off x="9591071" y="2358493"/>
              <a:ext cx="560927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0927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𝜺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𝑩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8" name="Table 37">
                <a:extLst>
                  <a:ext uri="{FF2B5EF4-FFF2-40B4-BE49-F238E27FC236}">
                    <a16:creationId xmlns:a16="http://schemas.microsoft.com/office/drawing/2014/main" id="{605E3E6F-E016-4029-B729-9AF5B9C0A2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8936279"/>
                  </p:ext>
                </p:extLst>
              </p:nvPr>
            </p:nvGraphicFramePr>
            <p:xfrm>
              <a:off x="9591071" y="2358493"/>
              <a:ext cx="560927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0927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"/>
                          <a:stretch>
                            <a:fillRect l="-1075" t="-105319" r="-4301" b="-2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375D8AA-6744-4CB4-8BFC-BC0305051EC0}"/>
              </a:ext>
            </a:extLst>
          </p:cNvPr>
          <p:cNvCxnSpPr>
            <a:cxnSpLocks/>
          </p:cNvCxnSpPr>
          <p:nvPr/>
        </p:nvCxnSpPr>
        <p:spPr>
          <a:xfrm>
            <a:off x="9039141" y="2358493"/>
            <a:ext cx="0" cy="9186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2167814-8C29-49CE-A04B-93E7559CCA7D}"/>
              </a:ext>
            </a:extLst>
          </p:cNvPr>
          <p:cNvCxnSpPr>
            <a:cxnSpLocks/>
          </p:cNvCxnSpPr>
          <p:nvPr/>
        </p:nvCxnSpPr>
        <p:spPr>
          <a:xfrm>
            <a:off x="10077954" y="2358493"/>
            <a:ext cx="0" cy="9186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4324554-3398-413A-A7DB-1EA3DE962508}"/>
                  </a:ext>
                </a:extLst>
              </p:cNvPr>
              <p:cNvSpPr txBox="1"/>
              <p:nvPr/>
            </p:nvSpPr>
            <p:spPr>
              <a:xfrm>
                <a:off x="7934440" y="2638948"/>
                <a:ext cx="10957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𝒐𝒏𝒔𝒊𝒕𝒆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4324554-3398-413A-A7DB-1EA3DE962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4440" y="2638948"/>
                <a:ext cx="1095719" cy="369332"/>
              </a:xfrm>
              <a:prstGeom prst="rect">
                <a:avLst/>
              </a:prstGeom>
              <a:blipFill>
                <a:blip r:embed="rId19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459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FC216DF-96C1-4BDE-A499-0F0FD6EAB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78732" y="6643166"/>
            <a:ext cx="313267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4C6E919-FAE7-4D5E-9A03-5613228D06C6}"/>
              </a:ext>
            </a:extLst>
          </p:cNvPr>
          <p:cNvGrpSpPr/>
          <p:nvPr/>
        </p:nvGrpSpPr>
        <p:grpSpPr>
          <a:xfrm>
            <a:off x="307885" y="1292095"/>
            <a:ext cx="8220192" cy="5113741"/>
            <a:chOff x="307911" y="1321041"/>
            <a:chExt cx="8220192" cy="511374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4750DF1-7E70-46E9-855F-8575AEA05B34}"/>
                </a:ext>
              </a:extLst>
            </p:cNvPr>
            <p:cNvGrpSpPr/>
            <p:nvPr/>
          </p:nvGrpSpPr>
          <p:grpSpPr>
            <a:xfrm>
              <a:off x="307911" y="1321041"/>
              <a:ext cx="8220192" cy="5113741"/>
              <a:chOff x="1259633" y="1398796"/>
              <a:chExt cx="8220192" cy="5113741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3F8A422E-8AFA-4EB0-946D-159678271C5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561" t="5969"/>
              <a:stretch/>
            </p:blipFill>
            <p:spPr>
              <a:xfrm rot="1819438">
                <a:off x="1436911" y="1600506"/>
                <a:ext cx="6318800" cy="3708453"/>
              </a:xfrm>
              <a:prstGeom prst="rect">
                <a:avLst/>
              </a:prstGeom>
            </p:spPr>
          </p:pic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14EFCF50-8E16-4ACC-81B5-66A3A519EF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9633" y="3888542"/>
                <a:ext cx="7965673" cy="12367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F7C8BAE1-8ED2-46F5-AC1E-DE31F8751F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81074" y="1567887"/>
                <a:ext cx="0" cy="494465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C7D872A-0A63-4BC9-861D-FC3BF76F842E}"/>
                  </a:ext>
                </a:extLst>
              </p:cNvPr>
              <p:cNvSpPr txBox="1"/>
              <p:nvPr/>
            </p:nvSpPr>
            <p:spPr>
              <a:xfrm>
                <a:off x="3975294" y="1398796"/>
                <a:ext cx="254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FBF58F-E30E-4C11-878A-554CF0C87187}"/>
                  </a:ext>
                </a:extLst>
              </p:cNvPr>
              <p:cNvSpPr txBox="1"/>
              <p:nvPr/>
            </p:nvSpPr>
            <p:spPr>
              <a:xfrm>
                <a:off x="9225306" y="3860373"/>
                <a:ext cx="254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99F6185F-B337-481B-A523-9F58980D0742}"/>
                      </a:ext>
                    </a:extLst>
                  </p:cNvPr>
                  <p:cNvSpPr txBox="1"/>
                  <p:nvPr/>
                </p:nvSpPr>
                <p:spPr>
                  <a:xfrm>
                    <a:off x="5223157" y="3886026"/>
                    <a:ext cx="38117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008CEDFE-5FCF-4512-8593-E6B445C9D1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3157" y="3886026"/>
                    <a:ext cx="381171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645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C9C33B89-C7D8-4276-9579-503310715CA2}"/>
                      </a:ext>
                    </a:extLst>
                  </p:cNvPr>
                  <p:cNvSpPr txBox="1"/>
                  <p:nvPr/>
                </p:nvSpPr>
                <p:spPr>
                  <a:xfrm>
                    <a:off x="3338992" y="2856977"/>
                    <a:ext cx="38117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5744923B-F2FF-4E4F-B6EB-6E8996A779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8992" y="2856977"/>
                    <a:ext cx="381171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6452" b="-163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93679C8-8A0C-443E-ACD0-92BF5EF14CDC}"/>
                  </a:ext>
                </a:extLst>
              </p:cNvPr>
              <p:cNvSpPr txBox="1"/>
              <p:nvPr/>
            </p:nvSpPr>
            <p:spPr>
              <a:xfrm>
                <a:off x="3975294" y="3966639"/>
                <a:ext cx="254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9076ADA-FA47-47E0-9C5E-5BC6C2DCF486}"/>
                    </a:ext>
                  </a:extLst>
                </p:cNvPr>
                <p:cNvSpPr txBox="1"/>
                <p:nvPr/>
              </p:nvSpPr>
              <p:spPr>
                <a:xfrm>
                  <a:off x="3456074" y="3448865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967F8305-E3E8-4357-9942-37A5904E29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6074" y="3448865"/>
                  <a:ext cx="381171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645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F514A9A-7FB7-41E5-A381-FFAEF6FE09F4}"/>
                    </a:ext>
                  </a:extLst>
                </p:cNvPr>
                <p:cNvSpPr txBox="1"/>
                <p:nvPr/>
              </p:nvSpPr>
              <p:spPr>
                <a:xfrm>
                  <a:off x="2792430" y="2869014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1622E18B-A0F5-440F-858C-2B73060BE9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2430" y="2869014"/>
                  <a:ext cx="381171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4762"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6009CAD-5E68-4BFA-9C7E-F261334702EF}"/>
                    </a:ext>
                  </a:extLst>
                </p:cNvPr>
                <p:cNvSpPr txBox="1"/>
                <p:nvPr/>
              </p:nvSpPr>
              <p:spPr>
                <a:xfrm>
                  <a:off x="3706692" y="4322240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7DEBC853-A63F-48BF-83B7-DB4A2C2AF6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6692" y="4322240"/>
                  <a:ext cx="381171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476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182087E-BF38-403D-AEDA-81B77CA114EC}"/>
                    </a:ext>
                  </a:extLst>
                </p:cNvPr>
                <p:cNvSpPr txBox="1"/>
                <p:nvPr/>
              </p:nvSpPr>
              <p:spPr>
                <a:xfrm>
                  <a:off x="4290747" y="3290042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ADECAD37-EBEF-4519-95E0-EA36C031BD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0747" y="3290042"/>
                  <a:ext cx="381171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64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BB5A4CC-CA19-4397-A4EE-2A3DE0961E25}"/>
                    </a:ext>
                  </a:extLst>
                </p:cNvPr>
                <p:cNvSpPr txBox="1"/>
                <p:nvPr/>
              </p:nvSpPr>
              <p:spPr>
                <a:xfrm>
                  <a:off x="2240683" y="3481490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247113FA-F3EF-4DAB-9898-DBA3276171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0683" y="3481490"/>
                  <a:ext cx="381171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645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C5D4307-98C3-46DD-B48F-AC8E8A1A60BC}"/>
                    </a:ext>
                  </a:extLst>
                </p:cNvPr>
                <p:cNvSpPr txBox="1"/>
                <p:nvPr/>
              </p:nvSpPr>
              <p:spPr>
                <a:xfrm>
                  <a:off x="2848979" y="2457689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A3EFE042-C8DA-405B-8FB0-DC6A9AC638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8979" y="2457689"/>
                  <a:ext cx="381171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476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9DE34CA-918C-486B-8EED-5BBE31CBA2F3}"/>
              </a:ext>
            </a:extLst>
          </p:cNvPr>
          <p:cNvSpPr txBox="1"/>
          <p:nvPr/>
        </p:nvSpPr>
        <p:spPr>
          <a:xfrm>
            <a:off x="574541" y="756413"/>
            <a:ext cx="4566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Hopping term for Graphene</a:t>
            </a:r>
            <a:endParaRPr lang="en-US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80DB01-8716-499D-996A-0516E4960E41}"/>
              </a:ext>
            </a:extLst>
          </p:cNvPr>
          <p:cNvSpPr txBox="1"/>
          <p:nvPr/>
        </p:nvSpPr>
        <p:spPr>
          <a:xfrm>
            <a:off x="2058325" y="93606"/>
            <a:ext cx="8075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I. T</a:t>
            </a:r>
            <a:r>
              <a:rPr lang="en-US" altLang="zh-C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ight Binding Hamiltonian for Pristine Graphene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60CF4AA-1056-46F9-AFEA-3B596C4591D7}"/>
                  </a:ext>
                </a:extLst>
              </p:cNvPr>
              <p:cNvSpPr txBox="1"/>
              <p:nvPr/>
            </p:nvSpPr>
            <p:spPr>
              <a:xfrm>
                <a:off x="8907001" y="4506369"/>
                <a:ext cx="1655056" cy="392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𝒊𝒌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60CF4AA-1056-46F9-AFEA-3B596C459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7001" y="4506369"/>
                <a:ext cx="1655056" cy="39299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C40FB716-1543-4112-A446-287E157E1308}"/>
              </a:ext>
            </a:extLst>
          </p:cNvPr>
          <p:cNvGrpSpPr/>
          <p:nvPr/>
        </p:nvGrpSpPr>
        <p:grpSpPr>
          <a:xfrm>
            <a:off x="6325529" y="1373433"/>
            <a:ext cx="1913136" cy="1617646"/>
            <a:chOff x="8089641" y="1025769"/>
            <a:chExt cx="1913136" cy="161764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BF7423D-2ADD-4F8C-8FC2-7BB030604E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08" t="1014"/>
            <a:stretch/>
          </p:blipFill>
          <p:spPr>
            <a:xfrm>
              <a:off x="8089641" y="1040351"/>
              <a:ext cx="1913136" cy="160306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4560CA6-F080-490B-8EA1-00CE9CC5C755}"/>
                </a:ext>
              </a:extLst>
            </p:cNvPr>
            <p:cNvSpPr/>
            <p:nvPr/>
          </p:nvSpPr>
          <p:spPr>
            <a:xfrm>
              <a:off x="8089641" y="1912776"/>
              <a:ext cx="74645" cy="2519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0AE92E4-6F82-4772-92A3-FA0A4E580722}"/>
                </a:ext>
              </a:extLst>
            </p:cNvPr>
            <p:cNvSpPr/>
            <p:nvPr/>
          </p:nvSpPr>
          <p:spPr>
            <a:xfrm>
              <a:off x="8092746" y="1216085"/>
              <a:ext cx="74645" cy="2519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1A999B3-3DA1-4225-8D9C-DCCAA25C5925}"/>
                </a:ext>
              </a:extLst>
            </p:cNvPr>
            <p:cNvSpPr/>
            <p:nvPr/>
          </p:nvSpPr>
          <p:spPr>
            <a:xfrm>
              <a:off x="8270034" y="1038802"/>
              <a:ext cx="475730" cy="1461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3AF53C1-28C1-4842-A45B-D15C3FCD0413}"/>
                </a:ext>
              </a:extLst>
            </p:cNvPr>
            <p:cNvSpPr/>
            <p:nvPr/>
          </p:nvSpPr>
          <p:spPr>
            <a:xfrm>
              <a:off x="9526344" y="1025769"/>
              <a:ext cx="475730" cy="1461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AA0FD1A5-4CC3-45C2-A920-F6C0B65CCAA2}"/>
              </a:ext>
            </a:extLst>
          </p:cNvPr>
          <p:cNvSpPr/>
          <p:nvPr/>
        </p:nvSpPr>
        <p:spPr>
          <a:xfrm>
            <a:off x="3513667" y="2709333"/>
            <a:ext cx="1947333" cy="406866"/>
          </a:xfrm>
          <a:custGeom>
            <a:avLst/>
            <a:gdLst>
              <a:gd name="connsiteX0" fmla="*/ 0 w 1947333"/>
              <a:gd name="connsiteY0" fmla="*/ 406400 h 406866"/>
              <a:gd name="connsiteX1" fmla="*/ 211666 w 1947333"/>
              <a:gd name="connsiteY1" fmla="*/ 220134 h 406866"/>
              <a:gd name="connsiteX2" fmla="*/ 482600 w 1947333"/>
              <a:gd name="connsiteY2" fmla="*/ 406400 h 406866"/>
              <a:gd name="connsiteX3" fmla="*/ 931333 w 1947333"/>
              <a:gd name="connsiteY3" fmla="*/ 152400 h 406866"/>
              <a:gd name="connsiteX4" fmla="*/ 1456266 w 1947333"/>
              <a:gd name="connsiteY4" fmla="*/ 296334 h 406866"/>
              <a:gd name="connsiteX5" fmla="*/ 1947333 w 1947333"/>
              <a:gd name="connsiteY5" fmla="*/ 0 h 406866"/>
              <a:gd name="connsiteX6" fmla="*/ 1947333 w 1947333"/>
              <a:gd name="connsiteY6" fmla="*/ 0 h 406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47333" h="406866">
                <a:moveTo>
                  <a:pt x="0" y="406400"/>
                </a:moveTo>
                <a:cubicBezTo>
                  <a:pt x="65616" y="313267"/>
                  <a:pt x="131233" y="220134"/>
                  <a:pt x="211666" y="220134"/>
                </a:cubicBezTo>
                <a:cubicBezTo>
                  <a:pt x="292099" y="220134"/>
                  <a:pt x="362656" y="417689"/>
                  <a:pt x="482600" y="406400"/>
                </a:cubicBezTo>
                <a:cubicBezTo>
                  <a:pt x="602544" y="395111"/>
                  <a:pt x="769055" y="170744"/>
                  <a:pt x="931333" y="152400"/>
                </a:cubicBezTo>
                <a:cubicBezTo>
                  <a:pt x="1093611" y="134056"/>
                  <a:pt x="1286933" y="321734"/>
                  <a:pt x="1456266" y="296334"/>
                </a:cubicBezTo>
                <a:cubicBezTo>
                  <a:pt x="1625599" y="270934"/>
                  <a:pt x="1947333" y="0"/>
                  <a:pt x="1947333" y="0"/>
                </a:cubicBezTo>
                <a:lnTo>
                  <a:pt x="1947333" y="0"/>
                </a:lnTo>
              </a:path>
            </a:pathLst>
          </a:custGeom>
          <a:noFill/>
          <a:ln w="254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3DD3237-C821-453D-ABD6-B916579021CC}"/>
              </a:ext>
            </a:extLst>
          </p:cNvPr>
          <p:cNvCxnSpPr>
            <a:cxnSpLocks/>
          </p:cNvCxnSpPr>
          <p:nvPr/>
        </p:nvCxnSpPr>
        <p:spPr>
          <a:xfrm flipV="1">
            <a:off x="5487582" y="2049406"/>
            <a:ext cx="763983" cy="645843"/>
          </a:xfrm>
          <a:prstGeom prst="straightConnector1">
            <a:avLst/>
          </a:prstGeom>
          <a:ln w="254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F1667F7-3A25-4A0A-BC18-AD6E677A07EF}"/>
              </a:ext>
            </a:extLst>
          </p:cNvPr>
          <p:cNvSpPr txBox="1"/>
          <p:nvPr/>
        </p:nvSpPr>
        <p:spPr>
          <a:xfrm>
            <a:off x="8225332" y="3121829"/>
            <a:ext cx="37874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irst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1100" b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765193D-E932-4D8B-B3C7-6A7E0A082F13}"/>
              </a:ext>
            </a:extLst>
          </p:cNvPr>
          <p:cNvSpPr txBox="1"/>
          <p:nvPr/>
        </p:nvSpPr>
        <p:spPr>
          <a:xfrm>
            <a:off x="7360919" y="4530030"/>
            <a:ext cx="1343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Pair</a:t>
            </a:r>
            <a:endParaRPr lang="en-US" b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609EC0C-5A8E-4B4F-9176-80C3CDEEA5DB}"/>
                  </a:ext>
                </a:extLst>
              </p:cNvPr>
              <p:cNvSpPr txBox="1"/>
              <p:nvPr/>
            </p:nvSpPr>
            <p:spPr>
              <a:xfrm>
                <a:off x="8905229" y="5098475"/>
                <a:ext cx="1655056" cy="387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𝒊𝒌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𝟓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609EC0C-5A8E-4B4F-9176-80C3CDEEA5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5229" y="5098475"/>
                <a:ext cx="1655056" cy="38792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06DD906F-22B8-4D3B-B304-0FDCF2AEC6FF}"/>
              </a:ext>
            </a:extLst>
          </p:cNvPr>
          <p:cNvSpPr txBox="1"/>
          <p:nvPr/>
        </p:nvSpPr>
        <p:spPr>
          <a:xfrm>
            <a:off x="7359147" y="5122136"/>
            <a:ext cx="1343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Pair</a:t>
            </a:r>
            <a:endParaRPr lang="en-US" b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8CE4901-344A-4A05-B280-AAC3FB63826C}"/>
                  </a:ext>
                </a:extLst>
              </p:cNvPr>
              <p:cNvSpPr txBox="1"/>
              <p:nvPr/>
            </p:nvSpPr>
            <p:spPr>
              <a:xfrm>
                <a:off x="8905229" y="5677721"/>
                <a:ext cx="1655056" cy="387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𝒊𝒌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𝟔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8CE4901-344A-4A05-B280-AAC3FB638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5229" y="5677721"/>
                <a:ext cx="1655056" cy="38792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B9388194-0B9E-4925-99EE-77F51AA61DC5}"/>
              </a:ext>
            </a:extLst>
          </p:cNvPr>
          <p:cNvSpPr txBox="1"/>
          <p:nvPr/>
        </p:nvSpPr>
        <p:spPr>
          <a:xfrm>
            <a:off x="7359147" y="5701382"/>
            <a:ext cx="1343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Pair</a:t>
            </a:r>
            <a:endParaRPr lang="en-US" b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760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00A0960-457D-43DB-A948-CB10161603F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5257F49-8016-44C6-B361-FBFAF42C9BC3}"/>
              </a:ext>
            </a:extLst>
          </p:cNvPr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20F3C7-2FC3-4AF9-991A-7FA79CD80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B6BD37A9-D919-45A4-91FA-3AA973CA5B82}"/>
              </a:ext>
            </a:extLst>
          </p:cNvPr>
          <p:cNvSpPr txBox="1">
            <a:spLocks/>
          </p:cNvSpPr>
          <p:nvPr/>
        </p:nvSpPr>
        <p:spPr>
          <a:xfrm>
            <a:off x="11751732" y="6643166"/>
            <a:ext cx="443643" cy="214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6D19281-74A4-4F26-81B5-E76C820616CB}"/>
              </a:ext>
            </a:extLst>
          </p:cNvPr>
          <p:cNvGrpSpPr/>
          <p:nvPr/>
        </p:nvGrpSpPr>
        <p:grpSpPr>
          <a:xfrm>
            <a:off x="307885" y="1292095"/>
            <a:ext cx="8220192" cy="5113741"/>
            <a:chOff x="307911" y="1321041"/>
            <a:chExt cx="8220192" cy="511374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9165FD6-F9B6-4D2D-A351-D7B252E71881}"/>
                </a:ext>
              </a:extLst>
            </p:cNvPr>
            <p:cNvGrpSpPr/>
            <p:nvPr/>
          </p:nvGrpSpPr>
          <p:grpSpPr>
            <a:xfrm>
              <a:off x="307911" y="1321041"/>
              <a:ext cx="8220192" cy="5113741"/>
              <a:chOff x="1259633" y="1398796"/>
              <a:chExt cx="8220192" cy="5113741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223E0CB8-8AA6-4881-8C21-2C0281A8FE5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561" t="5969"/>
              <a:stretch/>
            </p:blipFill>
            <p:spPr>
              <a:xfrm rot="1819438">
                <a:off x="1436911" y="1600506"/>
                <a:ext cx="6318800" cy="3708453"/>
              </a:xfrm>
              <a:prstGeom prst="rect">
                <a:avLst/>
              </a:prstGeom>
            </p:spPr>
          </p:pic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741E49BB-F418-42B5-B1D2-7A7E3A422D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9633" y="3888542"/>
                <a:ext cx="7965673" cy="12367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109B92FB-F974-47A1-BB2E-2CA59FD7E6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81074" y="1567887"/>
                <a:ext cx="0" cy="494465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FF84652-BFA7-41E5-BA88-EEFA35BB2025}"/>
                  </a:ext>
                </a:extLst>
              </p:cNvPr>
              <p:cNvSpPr txBox="1"/>
              <p:nvPr/>
            </p:nvSpPr>
            <p:spPr>
              <a:xfrm>
                <a:off x="3975294" y="1398796"/>
                <a:ext cx="254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D9D1EDE-F0CF-4C89-AFD9-19B18E813D20}"/>
                  </a:ext>
                </a:extLst>
              </p:cNvPr>
              <p:cNvSpPr txBox="1"/>
              <p:nvPr/>
            </p:nvSpPr>
            <p:spPr>
              <a:xfrm>
                <a:off x="9225306" y="3860373"/>
                <a:ext cx="254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578420C7-F3B6-40F6-A393-1238E24D3957}"/>
                      </a:ext>
                    </a:extLst>
                  </p:cNvPr>
                  <p:cNvSpPr txBox="1"/>
                  <p:nvPr/>
                </p:nvSpPr>
                <p:spPr>
                  <a:xfrm>
                    <a:off x="5223157" y="3886026"/>
                    <a:ext cx="38117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008CEDFE-5FCF-4512-8593-E6B445C9D1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3157" y="3886026"/>
                    <a:ext cx="381171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645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240A37C6-1A55-4EE1-A1DD-83A345F32B56}"/>
                      </a:ext>
                    </a:extLst>
                  </p:cNvPr>
                  <p:cNvSpPr txBox="1"/>
                  <p:nvPr/>
                </p:nvSpPr>
                <p:spPr>
                  <a:xfrm>
                    <a:off x="3338992" y="2856977"/>
                    <a:ext cx="38117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5744923B-F2FF-4E4F-B6EB-6E8996A779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8992" y="2856977"/>
                    <a:ext cx="381171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6452" b="-163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DBE5410-4A2C-42DA-95E9-AD64004AC721}"/>
                  </a:ext>
                </a:extLst>
              </p:cNvPr>
              <p:cNvSpPr txBox="1"/>
              <p:nvPr/>
            </p:nvSpPr>
            <p:spPr>
              <a:xfrm>
                <a:off x="3975294" y="3966639"/>
                <a:ext cx="254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E4F4671-6A6E-460C-8937-2A377F4830E2}"/>
                    </a:ext>
                  </a:extLst>
                </p:cNvPr>
                <p:cNvSpPr txBox="1"/>
                <p:nvPr/>
              </p:nvSpPr>
              <p:spPr>
                <a:xfrm>
                  <a:off x="3456074" y="3448865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967F8305-E3E8-4357-9942-37A5904E29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6074" y="3448865"/>
                  <a:ext cx="381171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645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E5A4E9C-D623-40AC-8E8E-CDCD77098522}"/>
                    </a:ext>
                  </a:extLst>
                </p:cNvPr>
                <p:cNvSpPr txBox="1"/>
                <p:nvPr/>
              </p:nvSpPr>
              <p:spPr>
                <a:xfrm>
                  <a:off x="2792430" y="2869014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1622E18B-A0F5-440F-858C-2B73060BE9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2430" y="2869014"/>
                  <a:ext cx="381171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4762"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138EFA5-03E1-4848-A648-21E6DBF75A3E}"/>
                    </a:ext>
                  </a:extLst>
                </p:cNvPr>
                <p:cNvSpPr txBox="1"/>
                <p:nvPr/>
              </p:nvSpPr>
              <p:spPr>
                <a:xfrm>
                  <a:off x="3706692" y="4322240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7DEBC853-A63F-48BF-83B7-DB4A2C2AF6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6692" y="4322240"/>
                  <a:ext cx="381171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476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6DA34A8-9D70-4D70-8734-DB7A61DC1252}"/>
                    </a:ext>
                  </a:extLst>
                </p:cNvPr>
                <p:cNvSpPr txBox="1"/>
                <p:nvPr/>
              </p:nvSpPr>
              <p:spPr>
                <a:xfrm>
                  <a:off x="4290747" y="3290042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ADECAD37-EBEF-4519-95E0-EA36C031BD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0747" y="3290042"/>
                  <a:ext cx="381171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64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7819753-0B11-43C0-8BCE-961B49D74B42}"/>
                    </a:ext>
                  </a:extLst>
                </p:cNvPr>
                <p:cNvSpPr txBox="1"/>
                <p:nvPr/>
              </p:nvSpPr>
              <p:spPr>
                <a:xfrm>
                  <a:off x="2240683" y="3481490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247113FA-F3EF-4DAB-9898-DBA3276171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0683" y="3481490"/>
                  <a:ext cx="381171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645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F8AF410-D97A-4DA0-B30B-E5D8AB17E0DD}"/>
                    </a:ext>
                  </a:extLst>
                </p:cNvPr>
                <p:cNvSpPr txBox="1"/>
                <p:nvPr/>
              </p:nvSpPr>
              <p:spPr>
                <a:xfrm>
                  <a:off x="2848979" y="2457689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A3EFE042-C8DA-405B-8FB0-DC6A9AC638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8979" y="2457689"/>
                  <a:ext cx="381171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476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21C20F8-15AC-4F8B-A277-99DB0037FB1E}"/>
                  </a:ext>
                </a:extLst>
              </p:cNvPr>
              <p:cNvSpPr txBox="1"/>
              <p:nvPr/>
            </p:nvSpPr>
            <p:spPr>
              <a:xfrm>
                <a:off x="7697077" y="1229667"/>
                <a:ext cx="32001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21C20F8-15AC-4F8B-A277-99DB0037F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7077" y="1229667"/>
                <a:ext cx="3200177" cy="369332"/>
              </a:xfrm>
              <a:prstGeom prst="rect">
                <a:avLst/>
              </a:prstGeom>
              <a:blipFill>
                <a:blip r:embed="rId1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AC251D9-F3CA-426A-8206-A8666FBFA04B}"/>
                  </a:ext>
                </a:extLst>
              </p:cNvPr>
              <p:cNvSpPr txBox="1"/>
              <p:nvPr/>
            </p:nvSpPr>
            <p:spPr>
              <a:xfrm>
                <a:off x="7697076" y="1808649"/>
                <a:ext cx="30611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𝟔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AC251D9-F3CA-426A-8206-A8666FBFA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7076" y="1808649"/>
                <a:ext cx="3061119" cy="369332"/>
              </a:xfrm>
              <a:prstGeom prst="rect">
                <a:avLst/>
              </a:prstGeom>
              <a:blipFill>
                <a:blip r:embed="rId1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944BE63-0973-4D62-83B3-9A8671BABB7C}"/>
                  </a:ext>
                </a:extLst>
              </p:cNvPr>
              <p:cNvSpPr txBox="1"/>
              <p:nvPr/>
            </p:nvSpPr>
            <p:spPr>
              <a:xfrm>
                <a:off x="7243960" y="4957448"/>
                <a:ext cx="1655056" cy="392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𝒊𝒌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944BE63-0973-4D62-83B3-9A8671BAB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960" y="4957448"/>
                <a:ext cx="1655056" cy="39299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14E1723B-D9AC-425E-A7E2-DB588F049BD3}"/>
              </a:ext>
            </a:extLst>
          </p:cNvPr>
          <p:cNvSpPr txBox="1"/>
          <p:nvPr/>
        </p:nvSpPr>
        <p:spPr>
          <a:xfrm>
            <a:off x="5697878" y="4981109"/>
            <a:ext cx="1343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Pair</a:t>
            </a:r>
            <a:endParaRPr lang="en-US" b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B6D77B8-EA44-492D-BD9E-E3E0010073E4}"/>
                  </a:ext>
                </a:extLst>
              </p:cNvPr>
              <p:cNvSpPr txBox="1"/>
              <p:nvPr/>
            </p:nvSpPr>
            <p:spPr>
              <a:xfrm>
                <a:off x="7252980" y="5540697"/>
                <a:ext cx="3746066" cy="387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𝒊𝒌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𝟓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𝒊𝒌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B6D77B8-EA44-492D-BD9E-E3E001007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980" y="5540697"/>
                <a:ext cx="3746066" cy="38792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6444C8DE-447C-4219-93F2-CF552696D32C}"/>
              </a:ext>
            </a:extLst>
          </p:cNvPr>
          <p:cNvSpPr txBox="1"/>
          <p:nvPr/>
        </p:nvSpPr>
        <p:spPr>
          <a:xfrm>
            <a:off x="5696106" y="5573215"/>
            <a:ext cx="1343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Pair</a:t>
            </a:r>
            <a:endParaRPr lang="en-US" b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524B094-BE71-46EE-A09B-88A5D9779D95}"/>
                  </a:ext>
                </a:extLst>
              </p:cNvPr>
              <p:cNvSpPr txBox="1"/>
              <p:nvPr/>
            </p:nvSpPr>
            <p:spPr>
              <a:xfrm>
                <a:off x="7242186" y="6128800"/>
                <a:ext cx="3749275" cy="387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𝒊𝒌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𝟔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𝒊𝒌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524B094-BE71-46EE-A09B-88A5D9779D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186" y="6128800"/>
                <a:ext cx="3749275" cy="38792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188494CE-0C78-4D52-9A68-4770F09E6070}"/>
              </a:ext>
            </a:extLst>
          </p:cNvPr>
          <p:cNvSpPr txBox="1"/>
          <p:nvPr/>
        </p:nvSpPr>
        <p:spPr>
          <a:xfrm>
            <a:off x="5696106" y="6152461"/>
            <a:ext cx="1343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Pair</a:t>
            </a:r>
            <a:endParaRPr lang="en-US" b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0C53D1-3AB8-43D7-A4E3-F7A56DB637CC}"/>
              </a:ext>
            </a:extLst>
          </p:cNvPr>
          <p:cNvSpPr txBox="1"/>
          <p:nvPr/>
        </p:nvSpPr>
        <p:spPr>
          <a:xfrm>
            <a:off x="2058325" y="93606"/>
            <a:ext cx="8075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I. T</a:t>
            </a:r>
            <a:r>
              <a:rPr lang="en-US" altLang="zh-C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ight Binding Hamiltonian for Pristine Graphene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300A91-6EB6-4BD6-BC5A-DC18CE6E6EC3}"/>
                  </a:ext>
                </a:extLst>
              </p:cNvPr>
              <p:cNvSpPr txBox="1"/>
              <p:nvPr/>
            </p:nvSpPr>
            <p:spPr>
              <a:xfrm>
                <a:off x="5401895" y="2041764"/>
                <a:ext cx="19315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𝑹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300A91-6EB6-4BD6-BC5A-DC18CE6E6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895" y="2041764"/>
                <a:ext cx="1931500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7378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FC216DF-96C1-4BDE-A499-0F0FD6EAB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78732" y="6643166"/>
            <a:ext cx="313267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4C6E919-FAE7-4D5E-9A03-5613228D06C6}"/>
              </a:ext>
            </a:extLst>
          </p:cNvPr>
          <p:cNvGrpSpPr/>
          <p:nvPr/>
        </p:nvGrpSpPr>
        <p:grpSpPr>
          <a:xfrm>
            <a:off x="307885" y="1292095"/>
            <a:ext cx="8220192" cy="5113741"/>
            <a:chOff x="307911" y="1321041"/>
            <a:chExt cx="8220192" cy="511374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4750DF1-7E70-46E9-855F-8575AEA05B34}"/>
                </a:ext>
              </a:extLst>
            </p:cNvPr>
            <p:cNvGrpSpPr/>
            <p:nvPr/>
          </p:nvGrpSpPr>
          <p:grpSpPr>
            <a:xfrm>
              <a:off x="307911" y="1321041"/>
              <a:ext cx="8220192" cy="5113741"/>
              <a:chOff x="1259633" y="1398796"/>
              <a:chExt cx="8220192" cy="5113741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3F8A422E-8AFA-4EB0-946D-159678271C5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561" t="5969"/>
              <a:stretch/>
            </p:blipFill>
            <p:spPr>
              <a:xfrm rot="1819438">
                <a:off x="1436911" y="1600506"/>
                <a:ext cx="6318800" cy="3708453"/>
              </a:xfrm>
              <a:prstGeom prst="rect">
                <a:avLst/>
              </a:prstGeom>
            </p:spPr>
          </p:pic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14EFCF50-8E16-4ACC-81B5-66A3A519EF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9633" y="3888542"/>
                <a:ext cx="7965673" cy="12367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F7C8BAE1-8ED2-46F5-AC1E-DE31F8751F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81074" y="1567887"/>
                <a:ext cx="0" cy="494465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C7D872A-0A63-4BC9-861D-FC3BF76F842E}"/>
                  </a:ext>
                </a:extLst>
              </p:cNvPr>
              <p:cNvSpPr txBox="1"/>
              <p:nvPr/>
            </p:nvSpPr>
            <p:spPr>
              <a:xfrm>
                <a:off x="3975294" y="1398796"/>
                <a:ext cx="254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FBF58F-E30E-4C11-878A-554CF0C87187}"/>
                  </a:ext>
                </a:extLst>
              </p:cNvPr>
              <p:cNvSpPr txBox="1"/>
              <p:nvPr/>
            </p:nvSpPr>
            <p:spPr>
              <a:xfrm>
                <a:off x="9225306" y="3860373"/>
                <a:ext cx="254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99F6185F-B337-481B-A523-9F58980D0742}"/>
                      </a:ext>
                    </a:extLst>
                  </p:cNvPr>
                  <p:cNvSpPr txBox="1"/>
                  <p:nvPr/>
                </p:nvSpPr>
                <p:spPr>
                  <a:xfrm>
                    <a:off x="5223157" y="3886026"/>
                    <a:ext cx="38117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008CEDFE-5FCF-4512-8593-E6B445C9D1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3157" y="3886026"/>
                    <a:ext cx="381171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645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C9C33B89-C7D8-4276-9579-503310715CA2}"/>
                      </a:ext>
                    </a:extLst>
                  </p:cNvPr>
                  <p:cNvSpPr txBox="1"/>
                  <p:nvPr/>
                </p:nvSpPr>
                <p:spPr>
                  <a:xfrm>
                    <a:off x="3338992" y="2856977"/>
                    <a:ext cx="38117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5744923B-F2FF-4E4F-B6EB-6E8996A779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8992" y="2856977"/>
                    <a:ext cx="381171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6452" b="-163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93679C8-8A0C-443E-ACD0-92BF5EF14CDC}"/>
                  </a:ext>
                </a:extLst>
              </p:cNvPr>
              <p:cNvSpPr txBox="1"/>
              <p:nvPr/>
            </p:nvSpPr>
            <p:spPr>
              <a:xfrm>
                <a:off x="3975294" y="3966639"/>
                <a:ext cx="254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9076ADA-FA47-47E0-9C5E-5BC6C2DCF486}"/>
                    </a:ext>
                  </a:extLst>
                </p:cNvPr>
                <p:cNvSpPr txBox="1"/>
                <p:nvPr/>
              </p:nvSpPr>
              <p:spPr>
                <a:xfrm>
                  <a:off x="3456074" y="3448865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967F8305-E3E8-4357-9942-37A5904E29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6074" y="3448865"/>
                  <a:ext cx="381171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645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F514A9A-7FB7-41E5-A381-FFAEF6FE09F4}"/>
                    </a:ext>
                  </a:extLst>
                </p:cNvPr>
                <p:cNvSpPr txBox="1"/>
                <p:nvPr/>
              </p:nvSpPr>
              <p:spPr>
                <a:xfrm>
                  <a:off x="2792430" y="2869014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1622E18B-A0F5-440F-858C-2B73060BE9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2430" y="2869014"/>
                  <a:ext cx="381171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4762"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6009CAD-5E68-4BFA-9C7E-F261334702EF}"/>
                    </a:ext>
                  </a:extLst>
                </p:cNvPr>
                <p:cNvSpPr txBox="1"/>
                <p:nvPr/>
              </p:nvSpPr>
              <p:spPr>
                <a:xfrm>
                  <a:off x="3706692" y="4322240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7DEBC853-A63F-48BF-83B7-DB4A2C2AF6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6692" y="4322240"/>
                  <a:ext cx="381171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476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182087E-BF38-403D-AEDA-81B77CA114EC}"/>
                    </a:ext>
                  </a:extLst>
                </p:cNvPr>
                <p:cNvSpPr txBox="1"/>
                <p:nvPr/>
              </p:nvSpPr>
              <p:spPr>
                <a:xfrm>
                  <a:off x="4290747" y="3290042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ADECAD37-EBEF-4519-95E0-EA36C031BD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0747" y="3290042"/>
                  <a:ext cx="381171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64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BB5A4CC-CA19-4397-A4EE-2A3DE0961E25}"/>
                    </a:ext>
                  </a:extLst>
                </p:cNvPr>
                <p:cNvSpPr txBox="1"/>
                <p:nvPr/>
              </p:nvSpPr>
              <p:spPr>
                <a:xfrm>
                  <a:off x="2240683" y="3481490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247113FA-F3EF-4DAB-9898-DBA3276171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0683" y="3481490"/>
                  <a:ext cx="381171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645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C5D4307-98C3-46DD-B48F-AC8E8A1A60BC}"/>
                    </a:ext>
                  </a:extLst>
                </p:cNvPr>
                <p:cNvSpPr txBox="1"/>
                <p:nvPr/>
              </p:nvSpPr>
              <p:spPr>
                <a:xfrm>
                  <a:off x="2848979" y="2457689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A3EFE042-C8DA-405B-8FB0-DC6A9AC638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8979" y="2457689"/>
                  <a:ext cx="381171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476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9DE34CA-918C-486B-8EED-5BBE31CBA2F3}"/>
              </a:ext>
            </a:extLst>
          </p:cNvPr>
          <p:cNvSpPr txBox="1"/>
          <p:nvPr/>
        </p:nvSpPr>
        <p:spPr>
          <a:xfrm>
            <a:off x="574541" y="756413"/>
            <a:ext cx="4566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Hopping term for Graphene</a:t>
            </a:r>
            <a:endParaRPr lang="en-US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80DB01-8716-499D-996A-0516E4960E41}"/>
              </a:ext>
            </a:extLst>
          </p:cNvPr>
          <p:cNvSpPr txBox="1"/>
          <p:nvPr/>
        </p:nvSpPr>
        <p:spPr>
          <a:xfrm>
            <a:off x="2058325" y="93606"/>
            <a:ext cx="8075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I. T</a:t>
            </a:r>
            <a:r>
              <a:rPr lang="en-US" altLang="zh-C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ight Binding Hamiltonian for Pristine Graphene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7" name="Table 37">
                <a:extLst>
                  <a:ext uri="{FF2B5EF4-FFF2-40B4-BE49-F238E27FC236}">
                    <a16:creationId xmlns:a16="http://schemas.microsoft.com/office/drawing/2014/main" id="{4FDF992E-A1D3-458D-87DA-D1FCCBF9AC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8479439"/>
                  </p:ext>
                </p:extLst>
              </p:nvPr>
            </p:nvGraphicFramePr>
            <p:xfrm>
              <a:off x="5130776" y="5386560"/>
              <a:ext cx="560927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0927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7" name="Table 37">
                <a:extLst>
                  <a:ext uri="{FF2B5EF4-FFF2-40B4-BE49-F238E27FC236}">
                    <a16:creationId xmlns:a16="http://schemas.microsoft.com/office/drawing/2014/main" id="{4FDF992E-A1D3-458D-87DA-D1FCCBF9AC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8479439"/>
                  </p:ext>
                </p:extLst>
              </p:nvPr>
            </p:nvGraphicFramePr>
            <p:xfrm>
              <a:off x="5130776" y="5386560"/>
              <a:ext cx="560927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0927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5"/>
                          <a:stretch>
                            <a:fillRect l="-1075" t="-1064" r="-4301" b="-102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8" name="Table 37">
                <a:extLst>
                  <a:ext uri="{FF2B5EF4-FFF2-40B4-BE49-F238E27FC236}">
                    <a16:creationId xmlns:a16="http://schemas.microsoft.com/office/drawing/2014/main" id="{605E3E6F-E016-4029-B729-9AF5B9C0A2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5994602"/>
                  </p:ext>
                </p:extLst>
              </p:nvPr>
            </p:nvGraphicFramePr>
            <p:xfrm>
              <a:off x="5728996" y="5378051"/>
              <a:ext cx="5958231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58231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𝒕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×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𝒊𝒌</m:t>
                                        </m:r>
                                        <m:r>
                                          <a:rPr lang="en-US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∙</m:t>
                                        </m:r>
                                        <m:r>
                                          <a:rPr lang="en-US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𝑹</m:t>
                                        </m:r>
                                        <m:d>
                                          <m:dPr>
                                            <m:ctrlPr>
                                              <a:rPr lang="en-US" b="1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sup>
                                    </m:sSup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</m:t>
                                    </m:r>
                                    <m:r>
                                      <a:rPr lang="en-US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𝒊𝒌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∙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𝑹</m:t>
                                        </m:r>
                                        <m:d>
                                          <m:dPr>
                                            <m:ctrlPr>
                                              <a:rPr lang="en-US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𝒂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sup>
                                    </m:sSup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</m:t>
                                    </m:r>
                                    <m:r>
                                      <a:rPr lang="en-US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𝒊𝒌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∙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𝑹</m:t>
                                        </m:r>
                                        <m:d>
                                          <m:dPr>
                                            <m:ctrlPr>
                                              <a:rPr lang="en-US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+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𝒂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8" name="Table 37">
                <a:extLst>
                  <a:ext uri="{FF2B5EF4-FFF2-40B4-BE49-F238E27FC236}">
                    <a16:creationId xmlns:a16="http://schemas.microsoft.com/office/drawing/2014/main" id="{605E3E6F-E016-4029-B729-9AF5B9C0A2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5994602"/>
                  </p:ext>
                </p:extLst>
              </p:nvPr>
            </p:nvGraphicFramePr>
            <p:xfrm>
              <a:off x="5728996" y="5378051"/>
              <a:ext cx="5958231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58231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02" t="-1064" r="-409" b="-10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02" t="-102151" r="-409" b="-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375D8AA-6744-4CB4-8BFC-BC0305051EC0}"/>
              </a:ext>
            </a:extLst>
          </p:cNvPr>
          <p:cNvCxnSpPr>
            <a:cxnSpLocks/>
          </p:cNvCxnSpPr>
          <p:nvPr/>
        </p:nvCxnSpPr>
        <p:spPr>
          <a:xfrm>
            <a:off x="5077823" y="5386560"/>
            <a:ext cx="0" cy="9186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2167814-8C29-49CE-A04B-93E7559CCA7D}"/>
              </a:ext>
            </a:extLst>
          </p:cNvPr>
          <p:cNvCxnSpPr>
            <a:cxnSpLocks/>
          </p:cNvCxnSpPr>
          <p:nvPr/>
        </p:nvCxnSpPr>
        <p:spPr>
          <a:xfrm>
            <a:off x="11830521" y="5367503"/>
            <a:ext cx="0" cy="9186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4324554-3398-413A-A7DB-1EA3DE962508}"/>
                  </a:ext>
                </a:extLst>
              </p:cNvPr>
              <p:cNvSpPr txBox="1"/>
              <p:nvPr/>
            </p:nvSpPr>
            <p:spPr>
              <a:xfrm>
                <a:off x="3739085" y="5590038"/>
                <a:ext cx="1267091" cy="4714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𝒉𝒐𝒑𝒑𝒊𝒏𝒈</m:t>
                          </m:r>
                        </m:sub>
                        <m:sup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sup>
                      </m:sSubSup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4324554-3398-413A-A7DB-1EA3DE962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9085" y="5590038"/>
                <a:ext cx="1267091" cy="471411"/>
              </a:xfrm>
              <a:prstGeom prst="rect">
                <a:avLst/>
              </a:prstGeom>
              <a:blipFill>
                <a:blip r:embed="rId17"/>
                <a:stretch>
                  <a:fillRect b="-10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C40FB716-1543-4112-A446-287E157E1308}"/>
              </a:ext>
            </a:extLst>
          </p:cNvPr>
          <p:cNvGrpSpPr/>
          <p:nvPr/>
        </p:nvGrpSpPr>
        <p:grpSpPr>
          <a:xfrm>
            <a:off x="6325529" y="1373433"/>
            <a:ext cx="1913136" cy="1617646"/>
            <a:chOff x="8089641" y="1025769"/>
            <a:chExt cx="1913136" cy="161764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BF7423D-2ADD-4F8C-8FC2-7BB030604E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08" t="1014"/>
            <a:stretch/>
          </p:blipFill>
          <p:spPr>
            <a:xfrm>
              <a:off x="8089641" y="1040351"/>
              <a:ext cx="1913136" cy="160306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4560CA6-F080-490B-8EA1-00CE9CC5C755}"/>
                </a:ext>
              </a:extLst>
            </p:cNvPr>
            <p:cNvSpPr/>
            <p:nvPr/>
          </p:nvSpPr>
          <p:spPr>
            <a:xfrm>
              <a:off x="8089641" y="1912776"/>
              <a:ext cx="74645" cy="2519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0AE92E4-6F82-4772-92A3-FA0A4E580722}"/>
                </a:ext>
              </a:extLst>
            </p:cNvPr>
            <p:cNvSpPr/>
            <p:nvPr/>
          </p:nvSpPr>
          <p:spPr>
            <a:xfrm>
              <a:off x="8092746" y="1216085"/>
              <a:ext cx="74645" cy="2519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1A999B3-3DA1-4225-8D9C-DCCAA25C5925}"/>
                </a:ext>
              </a:extLst>
            </p:cNvPr>
            <p:cNvSpPr/>
            <p:nvPr/>
          </p:nvSpPr>
          <p:spPr>
            <a:xfrm>
              <a:off x="8270034" y="1038802"/>
              <a:ext cx="475730" cy="1461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3AF53C1-28C1-4842-A45B-D15C3FCD0413}"/>
                </a:ext>
              </a:extLst>
            </p:cNvPr>
            <p:cNvSpPr/>
            <p:nvPr/>
          </p:nvSpPr>
          <p:spPr>
            <a:xfrm>
              <a:off x="9526344" y="1025769"/>
              <a:ext cx="475730" cy="1461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AA0FD1A5-4CC3-45C2-A920-F6C0B65CCAA2}"/>
              </a:ext>
            </a:extLst>
          </p:cNvPr>
          <p:cNvSpPr/>
          <p:nvPr/>
        </p:nvSpPr>
        <p:spPr>
          <a:xfrm>
            <a:off x="3513667" y="2709333"/>
            <a:ext cx="1947333" cy="406866"/>
          </a:xfrm>
          <a:custGeom>
            <a:avLst/>
            <a:gdLst>
              <a:gd name="connsiteX0" fmla="*/ 0 w 1947333"/>
              <a:gd name="connsiteY0" fmla="*/ 406400 h 406866"/>
              <a:gd name="connsiteX1" fmla="*/ 211666 w 1947333"/>
              <a:gd name="connsiteY1" fmla="*/ 220134 h 406866"/>
              <a:gd name="connsiteX2" fmla="*/ 482600 w 1947333"/>
              <a:gd name="connsiteY2" fmla="*/ 406400 h 406866"/>
              <a:gd name="connsiteX3" fmla="*/ 931333 w 1947333"/>
              <a:gd name="connsiteY3" fmla="*/ 152400 h 406866"/>
              <a:gd name="connsiteX4" fmla="*/ 1456266 w 1947333"/>
              <a:gd name="connsiteY4" fmla="*/ 296334 h 406866"/>
              <a:gd name="connsiteX5" fmla="*/ 1947333 w 1947333"/>
              <a:gd name="connsiteY5" fmla="*/ 0 h 406866"/>
              <a:gd name="connsiteX6" fmla="*/ 1947333 w 1947333"/>
              <a:gd name="connsiteY6" fmla="*/ 0 h 406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47333" h="406866">
                <a:moveTo>
                  <a:pt x="0" y="406400"/>
                </a:moveTo>
                <a:cubicBezTo>
                  <a:pt x="65616" y="313267"/>
                  <a:pt x="131233" y="220134"/>
                  <a:pt x="211666" y="220134"/>
                </a:cubicBezTo>
                <a:cubicBezTo>
                  <a:pt x="292099" y="220134"/>
                  <a:pt x="362656" y="417689"/>
                  <a:pt x="482600" y="406400"/>
                </a:cubicBezTo>
                <a:cubicBezTo>
                  <a:pt x="602544" y="395111"/>
                  <a:pt x="769055" y="170744"/>
                  <a:pt x="931333" y="152400"/>
                </a:cubicBezTo>
                <a:cubicBezTo>
                  <a:pt x="1093611" y="134056"/>
                  <a:pt x="1286933" y="321734"/>
                  <a:pt x="1456266" y="296334"/>
                </a:cubicBezTo>
                <a:cubicBezTo>
                  <a:pt x="1625599" y="270934"/>
                  <a:pt x="1947333" y="0"/>
                  <a:pt x="1947333" y="0"/>
                </a:cubicBezTo>
                <a:lnTo>
                  <a:pt x="1947333" y="0"/>
                </a:lnTo>
              </a:path>
            </a:pathLst>
          </a:custGeom>
          <a:noFill/>
          <a:ln w="254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3DD3237-C821-453D-ABD6-B916579021CC}"/>
              </a:ext>
            </a:extLst>
          </p:cNvPr>
          <p:cNvCxnSpPr>
            <a:cxnSpLocks/>
          </p:cNvCxnSpPr>
          <p:nvPr/>
        </p:nvCxnSpPr>
        <p:spPr>
          <a:xfrm flipV="1">
            <a:off x="5487582" y="2049406"/>
            <a:ext cx="763983" cy="645843"/>
          </a:xfrm>
          <a:prstGeom prst="straightConnector1">
            <a:avLst/>
          </a:prstGeom>
          <a:ln w="254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F1667F7-3A25-4A0A-BC18-AD6E677A07EF}"/>
              </a:ext>
            </a:extLst>
          </p:cNvPr>
          <p:cNvSpPr txBox="1"/>
          <p:nvPr/>
        </p:nvSpPr>
        <p:spPr>
          <a:xfrm>
            <a:off x="8225332" y="3067020"/>
            <a:ext cx="37874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irst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1100" b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408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FC216DF-96C1-4BDE-A499-0F0FD6EAB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78732" y="6643166"/>
            <a:ext cx="313267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4C6E919-FAE7-4D5E-9A03-5613228D06C6}"/>
              </a:ext>
            </a:extLst>
          </p:cNvPr>
          <p:cNvGrpSpPr/>
          <p:nvPr/>
        </p:nvGrpSpPr>
        <p:grpSpPr>
          <a:xfrm>
            <a:off x="307885" y="1292095"/>
            <a:ext cx="8220192" cy="5113741"/>
            <a:chOff x="307911" y="1321041"/>
            <a:chExt cx="8220192" cy="511374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4750DF1-7E70-46E9-855F-8575AEA05B34}"/>
                </a:ext>
              </a:extLst>
            </p:cNvPr>
            <p:cNvGrpSpPr/>
            <p:nvPr/>
          </p:nvGrpSpPr>
          <p:grpSpPr>
            <a:xfrm>
              <a:off x="307911" y="1321041"/>
              <a:ext cx="8220192" cy="5113741"/>
              <a:chOff x="1259633" y="1398796"/>
              <a:chExt cx="8220192" cy="5113741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3F8A422E-8AFA-4EB0-946D-159678271C5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561" t="5969"/>
              <a:stretch/>
            </p:blipFill>
            <p:spPr>
              <a:xfrm rot="1819438">
                <a:off x="1436911" y="1600506"/>
                <a:ext cx="6318800" cy="3708453"/>
              </a:xfrm>
              <a:prstGeom prst="rect">
                <a:avLst/>
              </a:prstGeom>
            </p:spPr>
          </p:pic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14EFCF50-8E16-4ACC-81B5-66A3A519EF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9633" y="3888542"/>
                <a:ext cx="7965673" cy="12367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F7C8BAE1-8ED2-46F5-AC1E-DE31F8751F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81074" y="1567887"/>
                <a:ext cx="0" cy="494465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C7D872A-0A63-4BC9-861D-FC3BF76F842E}"/>
                  </a:ext>
                </a:extLst>
              </p:cNvPr>
              <p:cNvSpPr txBox="1"/>
              <p:nvPr/>
            </p:nvSpPr>
            <p:spPr>
              <a:xfrm>
                <a:off x="3975294" y="1398796"/>
                <a:ext cx="254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FBF58F-E30E-4C11-878A-554CF0C87187}"/>
                  </a:ext>
                </a:extLst>
              </p:cNvPr>
              <p:cNvSpPr txBox="1"/>
              <p:nvPr/>
            </p:nvSpPr>
            <p:spPr>
              <a:xfrm>
                <a:off x="9225306" y="3860373"/>
                <a:ext cx="254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99F6185F-B337-481B-A523-9F58980D0742}"/>
                      </a:ext>
                    </a:extLst>
                  </p:cNvPr>
                  <p:cNvSpPr txBox="1"/>
                  <p:nvPr/>
                </p:nvSpPr>
                <p:spPr>
                  <a:xfrm>
                    <a:off x="5223157" y="3886026"/>
                    <a:ext cx="38117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008CEDFE-5FCF-4512-8593-E6B445C9D1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3157" y="3886026"/>
                    <a:ext cx="381171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645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C9C33B89-C7D8-4276-9579-503310715CA2}"/>
                      </a:ext>
                    </a:extLst>
                  </p:cNvPr>
                  <p:cNvSpPr txBox="1"/>
                  <p:nvPr/>
                </p:nvSpPr>
                <p:spPr>
                  <a:xfrm>
                    <a:off x="3338992" y="2856977"/>
                    <a:ext cx="38117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5744923B-F2FF-4E4F-B6EB-6E8996A779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8992" y="2856977"/>
                    <a:ext cx="381171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6452" b="-163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93679C8-8A0C-443E-ACD0-92BF5EF14CDC}"/>
                  </a:ext>
                </a:extLst>
              </p:cNvPr>
              <p:cNvSpPr txBox="1"/>
              <p:nvPr/>
            </p:nvSpPr>
            <p:spPr>
              <a:xfrm>
                <a:off x="3975294" y="3966639"/>
                <a:ext cx="254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9076ADA-FA47-47E0-9C5E-5BC6C2DCF486}"/>
                    </a:ext>
                  </a:extLst>
                </p:cNvPr>
                <p:cNvSpPr txBox="1"/>
                <p:nvPr/>
              </p:nvSpPr>
              <p:spPr>
                <a:xfrm>
                  <a:off x="3456074" y="3448865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967F8305-E3E8-4357-9942-37A5904E29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6074" y="3448865"/>
                  <a:ext cx="381171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645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F514A9A-7FB7-41E5-A381-FFAEF6FE09F4}"/>
                    </a:ext>
                  </a:extLst>
                </p:cNvPr>
                <p:cNvSpPr txBox="1"/>
                <p:nvPr/>
              </p:nvSpPr>
              <p:spPr>
                <a:xfrm>
                  <a:off x="2792430" y="2869014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1622E18B-A0F5-440F-858C-2B73060BE9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2430" y="2869014"/>
                  <a:ext cx="381171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4762"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6009CAD-5E68-4BFA-9C7E-F261334702EF}"/>
                    </a:ext>
                  </a:extLst>
                </p:cNvPr>
                <p:cNvSpPr txBox="1"/>
                <p:nvPr/>
              </p:nvSpPr>
              <p:spPr>
                <a:xfrm>
                  <a:off x="3706692" y="4322240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7DEBC853-A63F-48BF-83B7-DB4A2C2AF6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6692" y="4322240"/>
                  <a:ext cx="381171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476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182087E-BF38-403D-AEDA-81B77CA114EC}"/>
                    </a:ext>
                  </a:extLst>
                </p:cNvPr>
                <p:cNvSpPr txBox="1"/>
                <p:nvPr/>
              </p:nvSpPr>
              <p:spPr>
                <a:xfrm>
                  <a:off x="4290747" y="3290042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ADECAD37-EBEF-4519-95E0-EA36C031BD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0747" y="3290042"/>
                  <a:ext cx="381171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64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BB5A4CC-CA19-4397-A4EE-2A3DE0961E25}"/>
                    </a:ext>
                  </a:extLst>
                </p:cNvPr>
                <p:cNvSpPr txBox="1"/>
                <p:nvPr/>
              </p:nvSpPr>
              <p:spPr>
                <a:xfrm>
                  <a:off x="2240683" y="3481490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247113FA-F3EF-4DAB-9898-DBA3276171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0683" y="3481490"/>
                  <a:ext cx="381171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645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C5D4307-98C3-46DD-B48F-AC8E8A1A60BC}"/>
                    </a:ext>
                  </a:extLst>
                </p:cNvPr>
                <p:cNvSpPr txBox="1"/>
                <p:nvPr/>
              </p:nvSpPr>
              <p:spPr>
                <a:xfrm>
                  <a:off x="2848979" y="2457689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A3EFE042-C8DA-405B-8FB0-DC6A9AC638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8979" y="2457689"/>
                  <a:ext cx="381171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476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9DE34CA-918C-486B-8EED-5BBE31CBA2F3}"/>
              </a:ext>
            </a:extLst>
          </p:cNvPr>
          <p:cNvSpPr txBox="1"/>
          <p:nvPr/>
        </p:nvSpPr>
        <p:spPr>
          <a:xfrm>
            <a:off x="574541" y="756413"/>
            <a:ext cx="4566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Hopping term for Graphene</a:t>
            </a:r>
            <a:endParaRPr lang="en-US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80DB01-8716-499D-996A-0516E4960E41}"/>
              </a:ext>
            </a:extLst>
          </p:cNvPr>
          <p:cNvSpPr txBox="1"/>
          <p:nvPr/>
        </p:nvSpPr>
        <p:spPr>
          <a:xfrm>
            <a:off x="2058325" y="93606"/>
            <a:ext cx="8075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I. T</a:t>
            </a:r>
            <a:r>
              <a:rPr lang="en-US" altLang="zh-C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ight Binding Hamiltonian for Pristine Graphene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60CF4AA-1056-46F9-AFEA-3B596C4591D7}"/>
                  </a:ext>
                </a:extLst>
              </p:cNvPr>
              <p:cNvSpPr txBox="1"/>
              <p:nvPr/>
            </p:nvSpPr>
            <p:spPr>
              <a:xfrm>
                <a:off x="8907001" y="4506369"/>
                <a:ext cx="1655056" cy="387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𝒊𝒌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60CF4AA-1056-46F9-AFEA-3B596C459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7001" y="4506369"/>
                <a:ext cx="1655056" cy="38792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BF1667F7-3A25-4A0A-BC18-AD6E677A07EF}"/>
              </a:ext>
            </a:extLst>
          </p:cNvPr>
          <p:cNvSpPr txBox="1"/>
          <p:nvPr/>
        </p:nvSpPr>
        <p:spPr>
          <a:xfrm>
            <a:off x="8225332" y="3121829"/>
            <a:ext cx="37874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irst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100" b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765193D-E932-4D8B-B3C7-6A7E0A082F13}"/>
              </a:ext>
            </a:extLst>
          </p:cNvPr>
          <p:cNvSpPr txBox="1"/>
          <p:nvPr/>
        </p:nvSpPr>
        <p:spPr>
          <a:xfrm>
            <a:off x="7360919" y="4530030"/>
            <a:ext cx="1343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Pair</a:t>
            </a:r>
            <a:endParaRPr lang="en-US" b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609EC0C-5A8E-4B4F-9176-80C3CDEEA5DB}"/>
                  </a:ext>
                </a:extLst>
              </p:cNvPr>
              <p:cNvSpPr txBox="1"/>
              <p:nvPr/>
            </p:nvSpPr>
            <p:spPr>
              <a:xfrm>
                <a:off x="8905229" y="5098475"/>
                <a:ext cx="1655056" cy="387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𝒊𝒌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609EC0C-5A8E-4B4F-9176-80C3CDEEA5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5229" y="5098475"/>
                <a:ext cx="1655056" cy="38792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06DD906F-22B8-4D3B-B304-0FDCF2AEC6FF}"/>
              </a:ext>
            </a:extLst>
          </p:cNvPr>
          <p:cNvSpPr txBox="1"/>
          <p:nvPr/>
        </p:nvSpPr>
        <p:spPr>
          <a:xfrm>
            <a:off x="7359147" y="5122136"/>
            <a:ext cx="1343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Pair</a:t>
            </a:r>
            <a:endParaRPr lang="en-US" b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8CE4901-344A-4A05-B280-AAC3FB63826C}"/>
                  </a:ext>
                </a:extLst>
              </p:cNvPr>
              <p:cNvSpPr txBox="1"/>
              <p:nvPr/>
            </p:nvSpPr>
            <p:spPr>
              <a:xfrm>
                <a:off x="8905229" y="5677721"/>
                <a:ext cx="1655056" cy="387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𝒊𝒌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8CE4901-344A-4A05-B280-AAC3FB638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5229" y="5677721"/>
                <a:ext cx="1655056" cy="38792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B9388194-0B9E-4925-99EE-77F51AA61DC5}"/>
              </a:ext>
            </a:extLst>
          </p:cNvPr>
          <p:cNvSpPr txBox="1"/>
          <p:nvPr/>
        </p:nvSpPr>
        <p:spPr>
          <a:xfrm>
            <a:off x="7359147" y="5701382"/>
            <a:ext cx="1343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Pair</a:t>
            </a:r>
            <a:endParaRPr lang="en-US" b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04AA3F6-2F2A-4476-87B4-460018F2BF19}"/>
              </a:ext>
            </a:extLst>
          </p:cNvPr>
          <p:cNvSpPr/>
          <p:nvPr/>
        </p:nvSpPr>
        <p:spPr>
          <a:xfrm>
            <a:off x="4065726" y="2967278"/>
            <a:ext cx="1912775" cy="780408"/>
          </a:xfrm>
          <a:custGeom>
            <a:avLst/>
            <a:gdLst>
              <a:gd name="connsiteX0" fmla="*/ 0 w 1912775"/>
              <a:gd name="connsiteY0" fmla="*/ 662473 h 780408"/>
              <a:gd name="connsiteX1" fmla="*/ 569167 w 1912775"/>
              <a:gd name="connsiteY1" fmla="*/ 746449 h 780408"/>
              <a:gd name="connsiteX2" fmla="*/ 765110 w 1912775"/>
              <a:gd name="connsiteY2" fmla="*/ 167951 h 780408"/>
              <a:gd name="connsiteX3" fmla="*/ 1502228 w 1912775"/>
              <a:gd name="connsiteY3" fmla="*/ 214604 h 780408"/>
              <a:gd name="connsiteX4" fmla="*/ 1912775 w 1912775"/>
              <a:gd name="connsiteY4" fmla="*/ 0 h 780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2775" h="780408">
                <a:moveTo>
                  <a:pt x="0" y="662473"/>
                </a:moveTo>
                <a:cubicBezTo>
                  <a:pt x="220824" y="745671"/>
                  <a:pt x="441649" y="828869"/>
                  <a:pt x="569167" y="746449"/>
                </a:cubicBezTo>
                <a:cubicBezTo>
                  <a:pt x="696685" y="664029"/>
                  <a:pt x="609600" y="256592"/>
                  <a:pt x="765110" y="167951"/>
                </a:cubicBezTo>
                <a:cubicBezTo>
                  <a:pt x="920620" y="79310"/>
                  <a:pt x="1310951" y="242596"/>
                  <a:pt x="1502228" y="214604"/>
                </a:cubicBezTo>
                <a:cubicBezTo>
                  <a:pt x="1693505" y="186612"/>
                  <a:pt x="1803140" y="93306"/>
                  <a:pt x="1912775" y="0"/>
                </a:cubicBezTo>
              </a:path>
            </a:pathLst>
          </a:custGeom>
          <a:noFill/>
          <a:ln w="254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3A8C008-12AA-40D9-8A35-E7A9B2C02826}"/>
              </a:ext>
            </a:extLst>
          </p:cNvPr>
          <p:cNvCxnSpPr>
            <a:cxnSpLocks/>
          </p:cNvCxnSpPr>
          <p:nvPr/>
        </p:nvCxnSpPr>
        <p:spPr>
          <a:xfrm flipV="1">
            <a:off x="6041288" y="2613409"/>
            <a:ext cx="334825" cy="318617"/>
          </a:xfrm>
          <a:prstGeom prst="straightConnector1">
            <a:avLst/>
          </a:prstGeom>
          <a:ln w="254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7FF846E-1433-4825-9535-7DAEB9AD6D7F}"/>
              </a:ext>
            </a:extLst>
          </p:cNvPr>
          <p:cNvGrpSpPr/>
          <p:nvPr/>
        </p:nvGrpSpPr>
        <p:grpSpPr>
          <a:xfrm>
            <a:off x="6447345" y="1219492"/>
            <a:ext cx="2013236" cy="1801896"/>
            <a:chOff x="6447345" y="1219492"/>
            <a:chExt cx="2013236" cy="180189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238804B-48A4-447B-A591-21089A8CF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5377" y="1219492"/>
              <a:ext cx="1962424" cy="179095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190C9A9-8410-4EAA-A900-08D09C47E245}"/>
                </a:ext>
              </a:extLst>
            </p:cNvPr>
            <p:cNvSpPr/>
            <p:nvPr/>
          </p:nvSpPr>
          <p:spPr>
            <a:xfrm>
              <a:off x="6455377" y="1661427"/>
              <a:ext cx="148632" cy="4472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8A82CE5-F53C-4128-A80D-39D8DCB97AB2}"/>
                </a:ext>
              </a:extLst>
            </p:cNvPr>
            <p:cNvSpPr/>
            <p:nvPr/>
          </p:nvSpPr>
          <p:spPr>
            <a:xfrm>
              <a:off x="6447345" y="2385608"/>
              <a:ext cx="148632" cy="4472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15BE6CA-704D-44DB-B851-ACA2258E0CFD}"/>
                </a:ext>
              </a:extLst>
            </p:cNvPr>
            <p:cNvSpPr/>
            <p:nvPr/>
          </p:nvSpPr>
          <p:spPr>
            <a:xfrm>
              <a:off x="6714900" y="2613409"/>
              <a:ext cx="232907" cy="3970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7746305-4A11-4A48-9AAD-805F0BDB7C02}"/>
                </a:ext>
              </a:extLst>
            </p:cNvPr>
            <p:cNvSpPr/>
            <p:nvPr/>
          </p:nvSpPr>
          <p:spPr>
            <a:xfrm>
              <a:off x="6990587" y="2624355"/>
              <a:ext cx="216744" cy="3970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D850D5D-F225-48CA-9D3C-6AB67E43BD5A}"/>
                </a:ext>
              </a:extLst>
            </p:cNvPr>
            <p:cNvSpPr/>
            <p:nvPr/>
          </p:nvSpPr>
          <p:spPr>
            <a:xfrm>
              <a:off x="7997905" y="2633689"/>
              <a:ext cx="462676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3459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00A0960-457D-43DB-A948-CB10161603F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5257F49-8016-44C6-B361-FBFAF42C9BC3}"/>
              </a:ext>
            </a:extLst>
          </p:cNvPr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20F3C7-2FC3-4AF9-991A-7FA79CD80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B6BD37A9-D919-45A4-91FA-3AA973CA5B82}"/>
              </a:ext>
            </a:extLst>
          </p:cNvPr>
          <p:cNvSpPr txBox="1">
            <a:spLocks/>
          </p:cNvSpPr>
          <p:nvPr/>
        </p:nvSpPr>
        <p:spPr>
          <a:xfrm>
            <a:off x="11751732" y="6643166"/>
            <a:ext cx="443643" cy="214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6D19281-74A4-4F26-81B5-E76C820616CB}"/>
              </a:ext>
            </a:extLst>
          </p:cNvPr>
          <p:cNvGrpSpPr/>
          <p:nvPr/>
        </p:nvGrpSpPr>
        <p:grpSpPr>
          <a:xfrm>
            <a:off x="307885" y="1292095"/>
            <a:ext cx="8220192" cy="5113741"/>
            <a:chOff x="307911" y="1321041"/>
            <a:chExt cx="8220192" cy="511374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9165FD6-F9B6-4D2D-A351-D7B252E71881}"/>
                </a:ext>
              </a:extLst>
            </p:cNvPr>
            <p:cNvGrpSpPr/>
            <p:nvPr/>
          </p:nvGrpSpPr>
          <p:grpSpPr>
            <a:xfrm>
              <a:off x="307911" y="1321041"/>
              <a:ext cx="8220192" cy="5113741"/>
              <a:chOff x="1259633" y="1398796"/>
              <a:chExt cx="8220192" cy="5113741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223E0CB8-8AA6-4881-8C21-2C0281A8FE5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561" t="5969"/>
              <a:stretch/>
            </p:blipFill>
            <p:spPr>
              <a:xfrm rot="1819438">
                <a:off x="1436911" y="1600506"/>
                <a:ext cx="6318800" cy="3708453"/>
              </a:xfrm>
              <a:prstGeom prst="rect">
                <a:avLst/>
              </a:prstGeom>
            </p:spPr>
          </p:pic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741E49BB-F418-42B5-B1D2-7A7E3A422D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9633" y="3888542"/>
                <a:ext cx="7965673" cy="12367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109B92FB-F974-47A1-BB2E-2CA59FD7E6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81074" y="1567887"/>
                <a:ext cx="0" cy="494465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FF84652-BFA7-41E5-BA88-EEFA35BB2025}"/>
                  </a:ext>
                </a:extLst>
              </p:cNvPr>
              <p:cNvSpPr txBox="1"/>
              <p:nvPr/>
            </p:nvSpPr>
            <p:spPr>
              <a:xfrm>
                <a:off x="3975294" y="1398796"/>
                <a:ext cx="254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D9D1EDE-F0CF-4C89-AFD9-19B18E813D20}"/>
                  </a:ext>
                </a:extLst>
              </p:cNvPr>
              <p:cNvSpPr txBox="1"/>
              <p:nvPr/>
            </p:nvSpPr>
            <p:spPr>
              <a:xfrm>
                <a:off x="9225306" y="3860373"/>
                <a:ext cx="254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578420C7-F3B6-40F6-A393-1238E24D3957}"/>
                      </a:ext>
                    </a:extLst>
                  </p:cNvPr>
                  <p:cNvSpPr txBox="1"/>
                  <p:nvPr/>
                </p:nvSpPr>
                <p:spPr>
                  <a:xfrm>
                    <a:off x="5223157" y="3886026"/>
                    <a:ext cx="38117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008CEDFE-5FCF-4512-8593-E6B445C9D1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3157" y="3886026"/>
                    <a:ext cx="381171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645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240A37C6-1A55-4EE1-A1DD-83A345F32B56}"/>
                      </a:ext>
                    </a:extLst>
                  </p:cNvPr>
                  <p:cNvSpPr txBox="1"/>
                  <p:nvPr/>
                </p:nvSpPr>
                <p:spPr>
                  <a:xfrm>
                    <a:off x="3338992" y="2856977"/>
                    <a:ext cx="38117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5744923B-F2FF-4E4F-B6EB-6E8996A779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8992" y="2856977"/>
                    <a:ext cx="381171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6452" b="-163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DBE5410-4A2C-42DA-95E9-AD64004AC721}"/>
                  </a:ext>
                </a:extLst>
              </p:cNvPr>
              <p:cNvSpPr txBox="1"/>
              <p:nvPr/>
            </p:nvSpPr>
            <p:spPr>
              <a:xfrm>
                <a:off x="3975294" y="3966639"/>
                <a:ext cx="254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E4F4671-6A6E-460C-8937-2A377F4830E2}"/>
                    </a:ext>
                  </a:extLst>
                </p:cNvPr>
                <p:cNvSpPr txBox="1"/>
                <p:nvPr/>
              </p:nvSpPr>
              <p:spPr>
                <a:xfrm>
                  <a:off x="3456074" y="3448865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967F8305-E3E8-4357-9942-37A5904E29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6074" y="3448865"/>
                  <a:ext cx="381171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645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E5A4E9C-D623-40AC-8E8E-CDCD77098522}"/>
                    </a:ext>
                  </a:extLst>
                </p:cNvPr>
                <p:cNvSpPr txBox="1"/>
                <p:nvPr/>
              </p:nvSpPr>
              <p:spPr>
                <a:xfrm>
                  <a:off x="2792430" y="2869014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1622E18B-A0F5-440F-858C-2B73060BE9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2430" y="2869014"/>
                  <a:ext cx="381171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4762"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138EFA5-03E1-4848-A648-21E6DBF75A3E}"/>
                    </a:ext>
                  </a:extLst>
                </p:cNvPr>
                <p:cNvSpPr txBox="1"/>
                <p:nvPr/>
              </p:nvSpPr>
              <p:spPr>
                <a:xfrm>
                  <a:off x="3706692" y="4322240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7DEBC853-A63F-48BF-83B7-DB4A2C2AF6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6692" y="4322240"/>
                  <a:ext cx="381171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476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6DA34A8-9D70-4D70-8734-DB7A61DC1252}"/>
                    </a:ext>
                  </a:extLst>
                </p:cNvPr>
                <p:cNvSpPr txBox="1"/>
                <p:nvPr/>
              </p:nvSpPr>
              <p:spPr>
                <a:xfrm>
                  <a:off x="4290747" y="3290042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ADECAD37-EBEF-4519-95E0-EA36C031BD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0747" y="3290042"/>
                  <a:ext cx="381171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64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7819753-0B11-43C0-8BCE-961B49D74B42}"/>
                    </a:ext>
                  </a:extLst>
                </p:cNvPr>
                <p:cNvSpPr txBox="1"/>
                <p:nvPr/>
              </p:nvSpPr>
              <p:spPr>
                <a:xfrm>
                  <a:off x="2240683" y="3481490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247113FA-F3EF-4DAB-9898-DBA3276171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0683" y="3481490"/>
                  <a:ext cx="381171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645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F8AF410-D97A-4DA0-B30B-E5D8AB17E0DD}"/>
                    </a:ext>
                  </a:extLst>
                </p:cNvPr>
                <p:cNvSpPr txBox="1"/>
                <p:nvPr/>
              </p:nvSpPr>
              <p:spPr>
                <a:xfrm>
                  <a:off x="2848979" y="2457689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A3EFE042-C8DA-405B-8FB0-DC6A9AC638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8979" y="2457689"/>
                  <a:ext cx="381171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476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21C20F8-15AC-4F8B-A277-99DB0037FB1E}"/>
                  </a:ext>
                </a:extLst>
              </p:cNvPr>
              <p:cNvSpPr txBox="1"/>
              <p:nvPr/>
            </p:nvSpPr>
            <p:spPr>
              <a:xfrm>
                <a:off x="7697079" y="1229667"/>
                <a:ext cx="30424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21C20F8-15AC-4F8B-A277-99DB0037F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7079" y="1229667"/>
                <a:ext cx="3042456" cy="369332"/>
              </a:xfrm>
              <a:prstGeom prst="rect">
                <a:avLst/>
              </a:prstGeom>
              <a:blipFill>
                <a:blip r:embed="rId1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AC251D9-F3CA-426A-8206-A8666FBFA04B}"/>
                  </a:ext>
                </a:extLst>
              </p:cNvPr>
              <p:cNvSpPr txBox="1"/>
              <p:nvPr/>
            </p:nvSpPr>
            <p:spPr>
              <a:xfrm>
                <a:off x="7697077" y="1808649"/>
                <a:ext cx="304245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AC251D9-F3CA-426A-8206-A8666FBFA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7077" y="1808649"/>
                <a:ext cx="3042458" cy="369332"/>
              </a:xfrm>
              <a:prstGeom prst="rect">
                <a:avLst/>
              </a:prstGeom>
              <a:blipFill>
                <a:blip r:embed="rId1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944BE63-0973-4D62-83B3-9A8671BABB7C}"/>
                  </a:ext>
                </a:extLst>
              </p:cNvPr>
              <p:cNvSpPr txBox="1"/>
              <p:nvPr/>
            </p:nvSpPr>
            <p:spPr>
              <a:xfrm>
                <a:off x="7243960" y="4957448"/>
                <a:ext cx="1655056" cy="387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𝒊𝒌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944BE63-0973-4D62-83B3-9A8671BAB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960" y="4957448"/>
                <a:ext cx="1655056" cy="38792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14E1723B-D9AC-425E-A7E2-DB588F049BD3}"/>
              </a:ext>
            </a:extLst>
          </p:cNvPr>
          <p:cNvSpPr txBox="1"/>
          <p:nvPr/>
        </p:nvSpPr>
        <p:spPr>
          <a:xfrm>
            <a:off x="5697878" y="4981109"/>
            <a:ext cx="1343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Pair</a:t>
            </a:r>
            <a:endParaRPr lang="en-US" b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B6D77B8-EA44-492D-BD9E-E3E0010073E4}"/>
                  </a:ext>
                </a:extLst>
              </p:cNvPr>
              <p:cNvSpPr txBox="1"/>
              <p:nvPr/>
            </p:nvSpPr>
            <p:spPr>
              <a:xfrm>
                <a:off x="7252980" y="5540697"/>
                <a:ext cx="3746066" cy="387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𝒊𝒌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𝒊𝒌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B6D77B8-EA44-492D-BD9E-E3E001007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980" y="5540697"/>
                <a:ext cx="3746066" cy="38792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6444C8DE-447C-4219-93F2-CF552696D32C}"/>
              </a:ext>
            </a:extLst>
          </p:cNvPr>
          <p:cNvSpPr txBox="1"/>
          <p:nvPr/>
        </p:nvSpPr>
        <p:spPr>
          <a:xfrm>
            <a:off x="5696106" y="5573215"/>
            <a:ext cx="1343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Pair</a:t>
            </a:r>
            <a:endParaRPr lang="en-US" b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524B094-BE71-46EE-A09B-88A5D9779D95}"/>
                  </a:ext>
                </a:extLst>
              </p:cNvPr>
              <p:cNvSpPr txBox="1"/>
              <p:nvPr/>
            </p:nvSpPr>
            <p:spPr>
              <a:xfrm>
                <a:off x="7242186" y="6128800"/>
                <a:ext cx="3749275" cy="387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𝒊𝒌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𝒊𝒌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524B094-BE71-46EE-A09B-88A5D9779D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186" y="6128800"/>
                <a:ext cx="3749275" cy="38792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188494CE-0C78-4D52-9A68-4770F09E6070}"/>
              </a:ext>
            </a:extLst>
          </p:cNvPr>
          <p:cNvSpPr txBox="1"/>
          <p:nvPr/>
        </p:nvSpPr>
        <p:spPr>
          <a:xfrm>
            <a:off x="5696106" y="6152461"/>
            <a:ext cx="1343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Pair</a:t>
            </a:r>
            <a:endParaRPr lang="en-US" b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0C53D1-3AB8-43D7-A4E3-F7A56DB637CC}"/>
              </a:ext>
            </a:extLst>
          </p:cNvPr>
          <p:cNvSpPr txBox="1"/>
          <p:nvPr/>
        </p:nvSpPr>
        <p:spPr>
          <a:xfrm>
            <a:off x="2058325" y="93606"/>
            <a:ext cx="8075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I. T</a:t>
            </a:r>
            <a:r>
              <a:rPr lang="en-US" altLang="zh-C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ight Binding Hamiltonian for Pristine Graphene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300A91-6EB6-4BD6-BC5A-DC18CE6E6EC3}"/>
                  </a:ext>
                </a:extLst>
              </p:cNvPr>
              <p:cNvSpPr txBox="1"/>
              <p:nvPr/>
            </p:nvSpPr>
            <p:spPr>
              <a:xfrm>
                <a:off x="5401895" y="2041764"/>
                <a:ext cx="19315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𝑹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300A91-6EB6-4BD6-BC5A-DC18CE6E6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895" y="2041764"/>
                <a:ext cx="1931500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0207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FC216DF-96C1-4BDE-A499-0F0FD6EAB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1518" y="6643165"/>
            <a:ext cx="460481" cy="214835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4C6E919-FAE7-4D5E-9A03-5613228D06C6}"/>
              </a:ext>
            </a:extLst>
          </p:cNvPr>
          <p:cNvGrpSpPr/>
          <p:nvPr/>
        </p:nvGrpSpPr>
        <p:grpSpPr>
          <a:xfrm>
            <a:off x="307885" y="1292095"/>
            <a:ext cx="8220192" cy="5113741"/>
            <a:chOff x="307911" y="1321041"/>
            <a:chExt cx="8220192" cy="511374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4750DF1-7E70-46E9-855F-8575AEA05B34}"/>
                </a:ext>
              </a:extLst>
            </p:cNvPr>
            <p:cNvGrpSpPr/>
            <p:nvPr/>
          </p:nvGrpSpPr>
          <p:grpSpPr>
            <a:xfrm>
              <a:off x="307911" y="1321041"/>
              <a:ext cx="8220192" cy="5113741"/>
              <a:chOff x="1259633" y="1398796"/>
              <a:chExt cx="8220192" cy="5113741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3F8A422E-8AFA-4EB0-946D-159678271C5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561" t="5969"/>
              <a:stretch/>
            </p:blipFill>
            <p:spPr>
              <a:xfrm rot="1819438">
                <a:off x="1436911" y="1600506"/>
                <a:ext cx="6318800" cy="3708453"/>
              </a:xfrm>
              <a:prstGeom prst="rect">
                <a:avLst/>
              </a:prstGeom>
            </p:spPr>
          </p:pic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14EFCF50-8E16-4ACC-81B5-66A3A519EF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9633" y="3888542"/>
                <a:ext cx="7965673" cy="12367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F7C8BAE1-8ED2-46F5-AC1E-DE31F8751F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81074" y="1567887"/>
                <a:ext cx="0" cy="494465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C7D872A-0A63-4BC9-861D-FC3BF76F842E}"/>
                  </a:ext>
                </a:extLst>
              </p:cNvPr>
              <p:cNvSpPr txBox="1"/>
              <p:nvPr/>
            </p:nvSpPr>
            <p:spPr>
              <a:xfrm>
                <a:off x="3975294" y="1398796"/>
                <a:ext cx="254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FBF58F-E30E-4C11-878A-554CF0C87187}"/>
                  </a:ext>
                </a:extLst>
              </p:cNvPr>
              <p:cNvSpPr txBox="1"/>
              <p:nvPr/>
            </p:nvSpPr>
            <p:spPr>
              <a:xfrm>
                <a:off x="9225306" y="3860373"/>
                <a:ext cx="254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99F6185F-B337-481B-A523-9F58980D0742}"/>
                      </a:ext>
                    </a:extLst>
                  </p:cNvPr>
                  <p:cNvSpPr txBox="1"/>
                  <p:nvPr/>
                </p:nvSpPr>
                <p:spPr>
                  <a:xfrm>
                    <a:off x="5223157" y="3886026"/>
                    <a:ext cx="38117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008CEDFE-5FCF-4512-8593-E6B445C9D1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3157" y="3886026"/>
                    <a:ext cx="381171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645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C9C33B89-C7D8-4276-9579-503310715CA2}"/>
                      </a:ext>
                    </a:extLst>
                  </p:cNvPr>
                  <p:cNvSpPr txBox="1"/>
                  <p:nvPr/>
                </p:nvSpPr>
                <p:spPr>
                  <a:xfrm>
                    <a:off x="3338992" y="2856977"/>
                    <a:ext cx="38117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5744923B-F2FF-4E4F-B6EB-6E8996A779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8992" y="2856977"/>
                    <a:ext cx="381171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6452" b="-163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93679C8-8A0C-443E-ACD0-92BF5EF14CDC}"/>
                  </a:ext>
                </a:extLst>
              </p:cNvPr>
              <p:cNvSpPr txBox="1"/>
              <p:nvPr/>
            </p:nvSpPr>
            <p:spPr>
              <a:xfrm>
                <a:off x="3975294" y="3966639"/>
                <a:ext cx="254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9076ADA-FA47-47E0-9C5E-5BC6C2DCF486}"/>
                    </a:ext>
                  </a:extLst>
                </p:cNvPr>
                <p:cNvSpPr txBox="1"/>
                <p:nvPr/>
              </p:nvSpPr>
              <p:spPr>
                <a:xfrm>
                  <a:off x="3456074" y="3448865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967F8305-E3E8-4357-9942-37A5904E29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6074" y="3448865"/>
                  <a:ext cx="381171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645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F514A9A-7FB7-41E5-A381-FFAEF6FE09F4}"/>
                    </a:ext>
                  </a:extLst>
                </p:cNvPr>
                <p:cNvSpPr txBox="1"/>
                <p:nvPr/>
              </p:nvSpPr>
              <p:spPr>
                <a:xfrm>
                  <a:off x="2792430" y="2869014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1622E18B-A0F5-440F-858C-2B73060BE9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2430" y="2869014"/>
                  <a:ext cx="381171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4762"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6009CAD-5E68-4BFA-9C7E-F261334702EF}"/>
                    </a:ext>
                  </a:extLst>
                </p:cNvPr>
                <p:cNvSpPr txBox="1"/>
                <p:nvPr/>
              </p:nvSpPr>
              <p:spPr>
                <a:xfrm>
                  <a:off x="3706692" y="4322240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7DEBC853-A63F-48BF-83B7-DB4A2C2AF6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6692" y="4322240"/>
                  <a:ext cx="381171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476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182087E-BF38-403D-AEDA-81B77CA114EC}"/>
                    </a:ext>
                  </a:extLst>
                </p:cNvPr>
                <p:cNvSpPr txBox="1"/>
                <p:nvPr/>
              </p:nvSpPr>
              <p:spPr>
                <a:xfrm>
                  <a:off x="4290747" y="3290042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ADECAD37-EBEF-4519-95E0-EA36C031BD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0747" y="3290042"/>
                  <a:ext cx="381171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64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BB5A4CC-CA19-4397-A4EE-2A3DE0961E25}"/>
                    </a:ext>
                  </a:extLst>
                </p:cNvPr>
                <p:cNvSpPr txBox="1"/>
                <p:nvPr/>
              </p:nvSpPr>
              <p:spPr>
                <a:xfrm>
                  <a:off x="2240683" y="3481490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247113FA-F3EF-4DAB-9898-DBA3276171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0683" y="3481490"/>
                  <a:ext cx="381171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645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C5D4307-98C3-46DD-B48F-AC8E8A1A60BC}"/>
                    </a:ext>
                  </a:extLst>
                </p:cNvPr>
                <p:cNvSpPr txBox="1"/>
                <p:nvPr/>
              </p:nvSpPr>
              <p:spPr>
                <a:xfrm>
                  <a:off x="2848979" y="2457689"/>
                  <a:ext cx="381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A3EFE042-C8DA-405B-8FB0-DC6A9AC638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8979" y="2457689"/>
                  <a:ext cx="381171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4762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9DE34CA-918C-486B-8EED-5BBE31CBA2F3}"/>
              </a:ext>
            </a:extLst>
          </p:cNvPr>
          <p:cNvSpPr txBox="1"/>
          <p:nvPr/>
        </p:nvSpPr>
        <p:spPr>
          <a:xfrm>
            <a:off x="574541" y="756413"/>
            <a:ext cx="4566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Hopping term for Graphene</a:t>
            </a:r>
            <a:endParaRPr lang="en-US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80DB01-8716-499D-996A-0516E4960E41}"/>
              </a:ext>
            </a:extLst>
          </p:cNvPr>
          <p:cNvSpPr txBox="1"/>
          <p:nvPr/>
        </p:nvSpPr>
        <p:spPr>
          <a:xfrm>
            <a:off x="2058325" y="93606"/>
            <a:ext cx="8075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I. T</a:t>
            </a:r>
            <a:r>
              <a:rPr lang="en-US" altLang="zh-C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ight Binding Hamiltonian for Pristine Graphene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F1667F7-3A25-4A0A-BC18-AD6E677A07EF}"/>
              </a:ext>
            </a:extLst>
          </p:cNvPr>
          <p:cNvSpPr txBox="1"/>
          <p:nvPr/>
        </p:nvSpPr>
        <p:spPr>
          <a:xfrm>
            <a:off x="8225332" y="3121829"/>
            <a:ext cx="37874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irst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100" b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04AA3F6-2F2A-4476-87B4-460018F2BF19}"/>
              </a:ext>
            </a:extLst>
          </p:cNvPr>
          <p:cNvSpPr/>
          <p:nvPr/>
        </p:nvSpPr>
        <p:spPr>
          <a:xfrm>
            <a:off x="4065726" y="2967278"/>
            <a:ext cx="1912775" cy="780408"/>
          </a:xfrm>
          <a:custGeom>
            <a:avLst/>
            <a:gdLst>
              <a:gd name="connsiteX0" fmla="*/ 0 w 1912775"/>
              <a:gd name="connsiteY0" fmla="*/ 662473 h 780408"/>
              <a:gd name="connsiteX1" fmla="*/ 569167 w 1912775"/>
              <a:gd name="connsiteY1" fmla="*/ 746449 h 780408"/>
              <a:gd name="connsiteX2" fmla="*/ 765110 w 1912775"/>
              <a:gd name="connsiteY2" fmla="*/ 167951 h 780408"/>
              <a:gd name="connsiteX3" fmla="*/ 1502228 w 1912775"/>
              <a:gd name="connsiteY3" fmla="*/ 214604 h 780408"/>
              <a:gd name="connsiteX4" fmla="*/ 1912775 w 1912775"/>
              <a:gd name="connsiteY4" fmla="*/ 0 h 780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2775" h="780408">
                <a:moveTo>
                  <a:pt x="0" y="662473"/>
                </a:moveTo>
                <a:cubicBezTo>
                  <a:pt x="220824" y="745671"/>
                  <a:pt x="441649" y="828869"/>
                  <a:pt x="569167" y="746449"/>
                </a:cubicBezTo>
                <a:cubicBezTo>
                  <a:pt x="696685" y="664029"/>
                  <a:pt x="609600" y="256592"/>
                  <a:pt x="765110" y="167951"/>
                </a:cubicBezTo>
                <a:cubicBezTo>
                  <a:pt x="920620" y="79310"/>
                  <a:pt x="1310951" y="242596"/>
                  <a:pt x="1502228" y="214604"/>
                </a:cubicBezTo>
                <a:cubicBezTo>
                  <a:pt x="1693505" y="186612"/>
                  <a:pt x="1803140" y="93306"/>
                  <a:pt x="1912775" y="0"/>
                </a:cubicBezTo>
              </a:path>
            </a:pathLst>
          </a:custGeom>
          <a:noFill/>
          <a:ln w="254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3A8C008-12AA-40D9-8A35-E7A9B2C02826}"/>
              </a:ext>
            </a:extLst>
          </p:cNvPr>
          <p:cNvCxnSpPr>
            <a:cxnSpLocks/>
          </p:cNvCxnSpPr>
          <p:nvPr/>
        </p:nvCxnSpPr>
        <p:spPr>
          <a:xfrm flipV="1">
            <a:off x="6041288" y="2613409"/>
            <a:ext cx="334825" cy="318617"/>
          </a:xfrm>
          <a:prstGeom prst="straightConnector1">
            <a:avLst/>
          </a:prstGeom>
          <a:ln w="254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36C0D49-D690-4DEA-9155-B0C56862336E}"/>
              </a:ext>
            </a:extLst>
          </p:cNvPr>
          <p:cNvGrpSpPr/>
          <p:nvPr/>
        </p:nvGrpSpPr>
        <p:grpSpPr>
          <a:xfrm>
            <a:off x="6447345" y="1219492"/>
            <a:ext cx="2013236" cy="1801896"/>
            <a:chOff x="6447345" y="1219492"/>
            <a:chExt cx="2013236" cy="1801896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46CC6E9F-4452-408B-9B99-330622F0D6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5377" y="1219492"/>
              <a:ext cx="1962424" cy="1790950"/>
            </a:xfrm>
            <a:prstGeom prst="rect">
              <a:avLst/>
            </a:prstGeom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37E1AFF-C44B-4EDB-9DF9-849FA401DEB9}"/>
                </a:ext>
              </a:extLst>
            </p:cNvPr>
            <p:cNvSpPr/>
            <p:nvPr/>
          </p:nvSpPr>
          <p:spPr>
            <a:xfrm>
              <a:off x="6455377" y="1661427"/>
              <a:ext cx="148632" cy="4472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B451C62-0514-4828-86DA-D968827D7F4B}"/>
                </a:ext>
              </a:extLst>
            </p:cNvPr>
            <p:cNvSpPr/>
            <p:nvPr/>
          </p:nvSpPr>
          <p:spPr>
            <a:xfrm>
              <a:off x="6447345" y="2385608"/>
              <a:ext cx="148632" cy="4472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3555DA6-4736-47C1-9623-BBD0382E9D25}"/>
                </a:ext>
              </a:extLst>
            </p:cNvPr>
            <p:cNvSpPr/>
            <p:nvPr/>
          </p:nvSpPr>
          <p:spPr>
            <a:xfrm>
              <a:off x="6714900" y="2613409"/>
              <a:ext cx="232907" cy="3970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94A4C96-FEED-4E5F-94AC-8847F223F3B3}"/>
                </a:ext>
              </a:extLst>
            </p:cNvPr>
            <p:cNvSpPr/>
            <p:nvPr/>
          </p:nvSpPr>
          <p:spPr>
            <a:xfrm>
              <a:off x="6990587" y="2624355"/>
              <a:ext cx="216744" cy="3970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44AFC88-43E8-453D-9BCD-2D642CB89B15}"/>
                </a:ext>
              </a:extLst>
            </p:cNvPr>
            <p:cNvSpPr/>
            <p:nvPr/>
          </p:nvSpPr>
          <p:spPr>
            <a:xfrm>
              <a:off x="7997905" y="2633689"/>
              <a:ext cx="462676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9" name="Table 37">
                <a:extLst>
                  <a:ext uri="{FF2B5EF4-FFF2-40B4-BE49-F238E27FC236}">
                    <a16:creationId xmlns:a16="http://schemas.microsoft.com/office/drawing/2014/main" id="{864DC7C2-F241-4BC0-997C-1F08CF4448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1754014"/>
                  </p:ext>
                </p:extLst>
              </p:nvPr>
            </p:nvGraphicFramePr>
            <p:xfrm>
              <a:off x="11170591" y="5326473"/>
              <a:ext cx="560927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0927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9" name="Table 37">
                <a:extLst>
                  <a:ext uri="{FF2B5EF4-FFF2-40B4-BE49-F238E27FC236}">
                    <a16:creationId xmlns:a16="http://schemas.microsoft.com/office/drawing/2014/main" id="{864DC7C2-F241-4BC0-997C-1F08CF4448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1754014"/>
                  </p:ext>
                </p:extLst>
              </p:nvPr>
            </p:nvGraphicFramePr>
            <p:xfrm>
              <a:off x="11170591" y="5326473"/>
              <a:ext cx="560927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0927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075" t="-1064" r="-4301" b="-102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0" name="Table 59">
                <a:extLst>
                  <a:ext uri="{FF2B5EF4-FFF2-40B4-BE49-F238E27FC236}">
                    <a16:creationId xmlns:a16="http://schemas.microsoft.com/office/drawing/2014/main" id="{0DEAFA60-C72F-45C0-AB2B-567DF9D0A9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1368573"/>
                  </p:ext>
                </p:extLst>
              </p:nvPr>
            </p:nvGraphicFramePr>
            <p:xfrm>
              <a:off x="5149471" y="5326473"/>
              <a:ext cx="5958231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58231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𝒕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×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𝒊𝒌</m:t>
                                        </m:r>
                                        <m:r>
                                          <a:rPr lang="en-US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∙</m:t>
                                        </m:r>
                                        <m:r>
                                          <a:rPr lang="en-US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𝑹</m:t>
                                        </m:r>
                                        <m:d>
                                          <m:dPr>
                                            <m:ctrlPr>
                                              <a:rPr lang="en-US" b="1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sup>
                                    </m:sSup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</m:t>
                                    </m:r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𝒊𝒌</m:t>
                                        </m:r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∙</m:t>
                                        </m:r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𝑹</m:t>
                                        </m:r>
                                        <m:d>
                                          <m:dPr>
                                            <m:ctrlPr>
                                              <a:rPr lang="en-US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 smtClean="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𝒂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sup>
                                    </m:sSup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</m:t>
                                    </m:r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𝒊𝒌</m:t>
                                        </m:r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∙</m:t>
                                        </m:r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𝑹</m:t>
                                        </m:r>
                                        <m:d>
                                          <m:dPr>
                                            <m:ctrlPr>
                                              <a:rPr lang="en-US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 smtClean="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+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𝒂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0" name="Table 59">
                <a:extLst>
                  <a:ext uri="{FF2B5EF4-FFF2-40B4-BE49-F238E27FC236}">
                    <a16:creationId xmlns:a16="http://schemas.microsoft.com/office/drawing/2014/main" id="{0DEAFA60-C72F-45C0-AB2B-567DF9D0A9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1368573"/>
                  </p:ext>
                </p:extLst>
              </p:nvPr>
            </p:nvGraphicFramePr>
            <p:xfrm>
              <a:off x="5149471" y="5326473"/>
              <a:ext cx="5958231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58231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7"/>
                          <a:stretch>
                            <a:fillRect l="-102" t="-105319" r="-409" b="-2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8896A7B-ABAD-41F5-BEB9-3B7803596CC3}"/>
              </a:ext>
            </a:extLst>
          </p:cNvPr>
          <p:cNvCxnSpPr>
            <a:cxnSpLocks/>
          </p:cNvCxnSpPr>
          <p:nvPr/>
        </p:nvCxnSpPr>
        <p:spPr>
          <a:xfrm>
            <a:off x="5077823" y="5386560"/>
            <a:ext cx="0" cy="9186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AB656A8-18CE-40DF-AC57-C2C28E4C211B}"/>
              </a:ext>
            </a:extLst>
          </p:cNvPr>
          <p:cNvCxnSpPr>
            <a:cxnSpLocks/>
          </p:cNvCxnSpPr>
          <p:nvPr/>
        </p:nvCxnSpPr>
        <p:spPr>
          <a:xfrm>
            <a:off x="11830521" y="5367503"/>
            <a:ext cx="0" cy="9186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529E3A1-4D43-4CCE-AB44-66951EC75F5C}"/>
                  </a:ext>
                </a:extLst>
              </p:cNvPr>
              <p:cNvSpPr txBox="1"/>
              <p:nvPr/>
            </p:nvSpPr>
            <p:spPr>
              <a:xfrm>
                <a:off x="3739085" y="5590038"/>
                <a:ext cx="1267091" cy="4880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𝒉𝒐𝒑𝒑𝒊𝒏𝒈</m:t>
                          </m:r>
                        </m:sub>
                        <m:sup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sup>
                      </m:sSubSup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529E3A1-4D43-4CCE-AB44-66951EC75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9085" y="5590038"/>
                <a:ext cx="1267091" cy="488019"/>
              </a:xfrm>
              <a:prstGeom prst="rect">
                <a:avLst/>
              </a:prstGeom>
              <a:blipFill>
                <a:blip r:embed="rId18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5288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595578-6B19-464A-8AA7-6F68494F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3224" y="6643166"/>
            <a:ext cx="392151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37">
                <a:extLst>
                  <a:ext uri="{FF2B5EF4-FFF2-40B4-BE49-F238E27FC236}">
                    <a16:creationId xmlns:a16="http://schemas.microsoft.com/office/drawing/2014/main" id="{38A003DB-3576-4A08-978F-58CF6984AF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115496"/>
                  </p:ext>
                </p:extLst>
              </p:nvPr>
            </p:nvGraphicFramePr>
            <p:xfrm>
              <a:off x="3073153" y="992155"/>
              <a:ext cx="560927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0927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37">
                <a:extLst>
                  <a:ext uri="{FF2B5EF4-FFF2-40B4-BE49-F238E27FC236}">
                    <a16:creationId xmlns:a16="http://schemas.microsoft.com/office/drawing/2014/main" id="{38A003DB-3576-4A08-978F-58CF6984AF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115496"/>
                  </p:ext>
                </p:extLst>
              </p:nvPr>
            </p:nvGraphicFramePr>
            <p:xfrm>
              <a:off x="3073153" y="992155"/>
              <a:ext cx="560927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0927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75" t="-1064" r="-4301" b="-102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37C3241E-8415-42D1-9430-9C1C45615C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6921020"/>
                  </p:ext>
                </p:extLst>
              </p:nvPr>
            </p:nvGraphicFramePr>
            <p:xfrm>
              <a:off x="3671373" y="983646"/>
              <a:ext cx="5958231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58231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𝒕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×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1" i="1" smtClean="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 smtClean="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b="1" i="1" smtClean="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𝒊𝒌</m:t>
                                        </m:r>
                                        <m:r>
                                          <a:rPr lang="en-US" b="1" i="1" smtClean="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∙</m:t>
                                        </m:r>
                                        <m:r>
                                          <a:rPr lang="en-US" b="1" i="1" smtClean="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𝑹</m:t>
                                        </m:r>
                                        <m:d>
                                          <m:dPr>
                                            <m:ctrlPr>
                                              <a:rPr lang="en-US" b="1" i="1" smtClean="0">
                                                <a:solidFill>
                                                  <a:srgbClr val="7030A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rgbClr val="7030A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rgbClr val="7030A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rgbClr val="7030A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 smtClean="0">
                                                <a:solidFill>
                                                  <a:srgbClr val="7030A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rgbClr val="7030A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 smtClean="0">
                                                    <a:solidFill>
                                                      <a:srgbClr val="7030A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rgbClr val="7030A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sup>
                                    </m:sSup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</m:t>
                                    </m:r>
                                    <m:r>
                                      <a:rPr lang="en-US" b="1" i="1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b="1" i="1">
                                            <a:solidFill>
                                              <a:srgbClr val="FFC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>
                                            <a:solidFill>
                                              <a:srgbClr val="FFC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b="1" i="1">
                                            <a:solidFill>
                                              <a:srgbClr val="FFC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𝒊𝒌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rgbClr val="FFC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∙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rgbClr val="FFC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𝑹</m:t>
                                        </m:r>
                                        <m:d>
                                          <m:dPr>
                                            <m:ctrlPr>
                                              <a:rPr lang="en-US" b="1" i="1">
                                                <a:solidFill>
                                                  <a:srgbClr val="FFC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rgbClr val="FFC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rgbClr val="FFC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rgbClr val="FFC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 smtClean="0">
                                                <a:solidFill>
                                                  <a:srgbClr val="FFC00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rgbClr val="FFC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rgbClr val="FFC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𝒂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>
                                                    <a:solidFill>
                                                      <a:srgbClr val="FFC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>
                                                <a:solidFill>
                                                  <a:srgbClr val="FFC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rgbClr val="FFC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rgbClr val="FFC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>
                                                    <a:solidFill>
                                                      <a:srgbClr val="FFC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sup>
                                    </m:sSup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</m:t>
                                    </m:r>
                                    <m:r>
                                      <a:rPr lang="en-US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𝒊𝒌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∙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𝑹</m:t>
                                        </m:r>
                                        <m:d>
                                          <m:dPr>
                                            <m:ctrlPr>
                                              <a:rPr lang="en-US" b="1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+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𝒂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37C3241E-8415-42D1-9430-9C1C45615C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6921020"/>
                  </p:ext>
                </p:extLst>
              </p:nvPr>
            </p:nvGraphicFramePr>
            <p:xfrm>
              <a:off x="3671373" y="983646"/>
              <a:ext cx="5958231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58231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2" t="-1064" r="-409" b="-10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2" t="-102151" r="-409" b="-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30FB0D3-B4E1-446E-B2BA-52CB2DC1D485}"/>
              </a:ext>
            </a:extLst>
          </p:cNvPr>
          <p:cNvCxnSpPr>
            <a:cxnSpLocks/>
          </p:cNvCxnSpPr>
          <p:nvPr/>
        </p:nvCxnSpPr>
        <p:spPr>
          <a:xfrm>
            <a:off x="3020200" y="992155"/>
            <a:ext cx="0" cy="9186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C74E555-DAC9-481E-AE35-C5A79B717F87}"/>
              </a:ext>
            </a:extLst>
          </p:cNvPr>
          <p:cNvCxnSpPr>
            <a:cxnSpLocks/>
          </p:cNvCxnSpPr>
          <p:nvPr/>
        </p:nvCxnSpPr>
        <p:spPr>
          <a:xfrm>
            <a:off x="9772898" y="973098"/>
            <a:ext cx="0" cy="9186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7BE5811-CAC0-442D-AF3F-802C2635EA9F}"/>
                  </a:ext>
                </a:extLst>
              </p:cNvPr>
              <p:cNvSpPr txBox="1"/>
              <p:nvPr/>
            </p:nvSpPr>
            <p:spPr>
              <a:xfrm>
                <a:off x="1681462" y="1195633"/>
                <a:ext cx="1267091" cy="4714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𝒉𝒐𝒑𝒑𝒊𝒏𝒈</m:t>
                          </m:r>
                        </m:sub>
                        <m:sup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sup>
                      </m:sSubSup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7BE5811-CAC0-442D-AF3F-802C2635E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462" y="1195633"/>
                <a:ext cx="1267091" cy="471411"/>
              </a:xfrm>
              <a:prstGeom prst="rect">
                <a:avLst/>
              </a:prstGeom>
              <a:blipFill>
                <a:blip r:embed="rId7"/>
                <a:stretch>
                  <a:fillRect b="-10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46C4A6C6-4250-4140-B84A-8A249B433F99}"/>
              </a:ext>
            </a:extLst>
          </p:cNvPr>
          <p:cNvSpPr txBox="1"/>
          <p:nvPr/>
        </p:nvSpPr>
        <p:spPr>
          <a:xfrm>
            <a:off x="2058325" y="93606"/>
            <a:ext cx="8075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I. T</a:t>
            </a:r>
            <a:r>
              <a:rPr lang="en-US" altLang="zh-C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ight Binding Hamiltonian for Pristine Graphene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4" name="Table 37">
                <a:extLst>
                  <a:ext uri="{FF2B5EF4-FFF2-40B4-BE49-F238E27FC236}">
                    <a16:creationId xmlns:a16="http://schemas.microsoft.com/office/drawing/2014/main" id="{CD8E00C5-E848-47A2-9AB4-D37D2B8317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1381037"/>
                  </p:ext>
                </p:extLst>
              </p:nvPr>
            </p:nvGraphicFramePr>
            <p:xfrm>
              <a:off x="9112968" y="2860436"/>
              <a:ext cx="560927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0927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4" name="Table 37">
                <a:extLst>
                  <a:ext uri="{FF2B5EF4-FFF2-40B4-BE49-F238E27FC236}">
                    <a16:creationId xmlns:a16="http://schemas.microsoft.com/office/drawing/2014/main" id="{CD8E00C5-E848-47A2-9AB4-D37D2B8317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1381037"/>
                  </p:ext>
                </p:extLst>
              </p:nvPr>
            </p:nvGraphicFramePr>
            <p:xfrm>
              <a:off x="9112968" y="2860436"/>
              <a:ext cx="560927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0927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075" t="-1064" r="-5376" b="-10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5" name="Table 34">
                <a:extLst>
                  <a:ext uri="{FF2B5EF4-FFF2-40B4-BE49-F238E27FC236}">
                    <a16:creationId xmlns:a16="http://schemas.microsoft.com/office/drawing/2014/main" id="{62D0B8A3-9D3C-41DF-B2CC-D199E5B790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638940"/>
                  </p:ext>
                </p:extLst>
              </p:nvPr>
            </p:nvGraphicFramePr>
            <p:xfrm>
              <a:off x="3091848" y="2860436"/>
              <a:ext cx="5958231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58231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𝒕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×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1" i="1" smtClean="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 smtClean="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b="1" i="1" smtClean="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𝒊𝒌</m:t>
                                        </m:r>
                                        <m:r>
                                          <a:rPr lang="en-US" b="1" i="1" smtClean="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∙</m:t>
                                        </m:r>
                                        <m:r>
                                          <a:rPr lang="en-US" b="1" i="1" smtClean="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𝑹</m:t>
                                        </m:r>
                                        <m:d>
                                          <m:dPr>
                                            <m:ctrlPr>
                                              <a:rPr lang="en-US" b="1" i="1" smtClean="0">
                                                <a:solidFill>
                                                  <a:srgbClr val="7030A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rgbClr val="7030A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rgbClr val="7030A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rgbClr val="7030A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 smtClean="0">
                                                <a:solidFill>
                                                  <a:srgbClr val="7030A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rgbClr val="7030A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 smtClean="0">
                                                    <a:solidFill>
                                                      <a:srgbClr val="7030A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rgbClr val="7030A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sup>
                                    </m:sSup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</m:t>
                                    </m:r>
                                    <m:r>
                                      <a:rPr lang="en-US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𝒊𝒌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∙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𝑹</m:t>
                                        </m:r>
                                        <m:d>
                                          <m:dPr>
                                            <m:ctrlPr>
                                              <a:rPr lang="en-US" b="1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𝒂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sup>
                                    </m:sSup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</m:t>
                                    </m:r>
                                    <m:r>
                                      <a:rPr lang="en-US" b="1" i="1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b="1" i="1">
                                            <a:solidFill>
                                              <a:srgbClr val="FFC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>
                                            <a:solidFill>
                                              <a:srgbClr val="FFC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b="1" i="1">
                                            <a:solidFill>
                                              <a:srgbClr val="FFC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𝒊𝒌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rgbClr val="FFC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∙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rgbClr val="FFC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𝑹</m:t>
                                        </m:r>
                                        <m:d>
                                          <m:dPr>
                                            <m:ctrlPr>
                                              <a:rPr lang="en-US" b="1" i="1">
                                                <a:solidFill>
                                                  <a:srgbClr val="FFC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rgbClr val="FFC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rgbClr val="FFC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rgbClr val="FFC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 smtClean="0">
                                                <a:solidFill>
                                                  <a:srgbClr val="FFC00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+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rgbClr val="FFC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rgbClr val="FFC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𝒂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rgbClr val="FFC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>
                                                <a:solidFill>
                                                  <a:srgbClr val="FFC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rgbClr val="FFC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rgbClr val="FFC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rgbClr val="FFC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5" name="Table 34">
                <a:extLst>
                  <a:ext uri="{FF2B5EF4-FFF2-40B4-BE49-F238E27FC236}">
                    <a16:creationId xmlns:a16="http://schemas.microsoft.com/office/drawing/2014/main" id="{62D0B8A3-9D3C-41DF-B2CC-D199E5B790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638940"/>
                  </p:ext>
                </p:extLst>
              </p:nvPr>
            </p:nvGraphicFramePr>
            <p:xfrm>
              <a:off x="3091848" y="2860436"/>
              <a:ext cx="5958231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58231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02" t="-106452" r="-409" b="-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09EB969-B8A3-4C07-AA6B-28F5BBC38DFA}"/>
              </a:ext>
            </a:extLst>
          </p:cNvPr>
          <p:cNvCxnSpPr>
            <a:cxnSpLocks/>
          </p:cNvCxnSpPr>
          <p:nvPr/>
        </p:nvCxnSpPr>
        <p:spPr>
          <a:xfrm>
            <a:off x="3020200" y="2920523"/>
            <a:ext cx="0" cy="9186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C8E48D5-89F4-426B-AF6F-6482287A0CC0}"/>
              </a:ext>
            </a:extLst>
          </p:cNvPr>
          <p:cNvCxnSpPr>
            <a:cxnSpLocks/>
          </p:cNvCxnSpPr>
          <p:nvPr/>
        </p:nvCxnSpPr>
        <p:spPr>
          <a:xfrm>
            <a:off x="9772898" y="2901466"/>
            <a:ext cx="0" cy="9186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3B8D479-BCF8-4190-A17A-D1353172B26B}"/>
                  </a:ext>
                </a:extLst>
              </p:cNvPr>
              <p:cNvSpPr txBox="1"/>
              <p:nvPr/>
            </p:nvSpPr>
            <p:spPr>
              <a:xfrm>
                <a:off x="1681462" y="3124001"/>
                <a:ext cx="1267091" cy="4880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𝒉𝒐𝒑𝒑𝒊𝒏𝒈</m:t>
                          </m:r>
                        </m:sub>
                        <m:sup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sup>
                      </m:sSubSup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3B8D479-BCF8-4190-A17A-D1353172B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462" y="3124001"/>
                <a:ext cx="1267091" cy="488019"/>
              </a:xfrm>
              <a:prstGeom prst="rect">
                <a:avLst/>
              </a:prstGeom>
              <a:blipFill>
                <a:blip r:embed="rId10"/>
                <a:stretch>
                  <a:fillRect b="-4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860A724-DE2E-4F43-BA7E-96C5D8A0C526}"/>
              </a:ext>
            </a:extLst>
          </p:cNvPr>
          <p:cNvCxnSpPr>
            <a:cxnSpLocks/>
          </p:cNvCxnSpPr>
          <p:nvPr/>
        </p:nvCxnSpPr>
        <p:spPr>
          <a:xfrm flipH="1">
            <a:off x="4248198" y="1431338"/>
            <a:ext cx="451718" cy="1948514"/>
          </a:xfrm>
          <a:prstGeom prst="straightConnector1">
            <a:avLst/>
          </a:prstGeom>
          <a:ln w="25400">
            <a:solidFill>
              <a:srgbClr val="7030A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EDF73F8-63C0-4E2D-AD51-03C47755F447}"/>
              </a:ext>
            </a:extLst>
          </p:cNvPr>
          <p:cNvCxnSpPr>
            <a:cxnSpLocks/>
          </p:cNvCxnSpPr>
          <p:nvPr/>
        </p:nvCxnSpPr>
        <p:spPr>
          <a:xfrm flipH="1">
            <a:off x="6134946" y="1431338"/>
            <a:ext cx="1992430" cy="1950098"/>
          </a:xfrm>
          <a:prstGeom prst="straightConnector1">
            <a:avLst/>
          </a:prstGeom>
          <a:ln w="25400">
            <a:solidFill>
              <a:srgbClr val="0070C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E926D99-34DF-4212-AAAB-84D6B844E726}"/>
              </a:ext>
            </a:extLst>
          </p:cNvPr>
          <p:cNvCxnSpPr>
            <a:cxnSpLocks/>
          </p:cNvCxnSpPr>
          <p:nvPr/>
        </p:nvCxnSpPr>
        <p:spPr>
          <a:xfrm>
            <a:off x="6650488" y="1431338"/>
            <a:ext cx="1076639" cy="1997662"/>
          </a:xfrm>
          <a:prstGeom prst="straightConnector1">
            <a:avLst/>
          </a:prstGeom>
          <a:ln w="25400">
            <a:solidFill>
              <a:srgbClr val="FFC00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A9402D85-B00B-491F-BEA9-58D1E7639CF9}"/>
              </a:ext>
            </a:extLst>
          </p:cNvPr>
          <p:cNvSpPr txBox="1"/>
          <p:nvPr/>
        </p:nvSpPr>
        <p:spPr>
          <a:xfrm>
            <a:off x="2065695" y="2295254"/>
            <a:ext cx="2254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Conjugate Transpose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7" name="Table 37">
                <a:extLst>
                  <a:ext uri="{FF2B5EF4-FFF2-40B4-BE49-F238E27FC236}">
                    <a16:creationId xmlns:a16="http://schemas.microsoft.com/office/drawing/2014/main" id="{3828B31E-4A32-4754-8003-E476E61184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4382499"/>
                  </p:ext>
                </p:extLst>
              </p:nvPr>
            </p:nvGraphicFramePr>
            <p:xfrm>
              <a:off x="3073153" y="4841859"/>
              <a:ext cx="560927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0927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i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</a:t>
                          </a:r>
                          <a:r>
                            <a:rPr lang="en-US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r>
                            <a:rPr lang="en-US" b="1" i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US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7" name="Table 37">
                <a:extLst>
                  <a:ext uri="{FF2B5EF4-FFF2-40B4-BE49-F238E27FC236}">
                    <a16:creationId xmlns:a16="http://schemas.microsoft.com/office/drawing/2014/main" id="{3828B31E-4A32-4754-8003-E476E61184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4382499"/>
                  </p:ext>
                </p:extLst>
              </p:nvPr>
            </p:nvGraphicFramePr>
            <p:xfrm>
              <a:off x="3073153" y="4841859"/>
              <a:ext cx="560927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0927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075" t="-1064" r="-4301" b="-10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i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</a:t>
                          </a:r>
                          <a:r>
                            <a:rPr lang="en-US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r>
                            <a:rPr lang="en-US" b="1" i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US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4FD90A1C-2E3B-442D-9806-43AF80B6E1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3266991"/>
                  </p:ext>
                </p:extLst>
              </p:nvPr>
            </p:nvGraphicFramePr>
            <p:xfrm>
              <a:off x="3671373" y="4833350"/>
              <a:ext cx="5958231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58231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𝒕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×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𝒊𝒌</m:t>
                                        </m:r>
                                        <m:r>
                                          <a:rPr lang="en-US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∙</m:t>
                                        </m:r>
                                        <m:r>
                                          <a:rPr lang="en-US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𝑹</m:t>
                                        </m:r>
                                        <m:d>
                                          <m:dPr>
                                            <m:ctrlPr>
                                              <a:rPr lang="en-US" b="1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sup>
                                    </m:sSup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</m:t>
                                    </m:r>
                                    <m:r>
                                      <a:rPr lang="en-US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𝒊𝒌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∙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𝑹</m:t>
                                        </m:r>
                                        <m:d>
                                          <m:dPr>
                                            <m:ctrlPr>
                                              <a:rPr lang="en-US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𝒂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sup>
                                    </m:sSup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</m:t>
                                    </m:r>
                                    <m:r>
                                      <a:rPr lang="en-US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𝒊𝒌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∙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𝑹</m:t>
                                        </m:r>
                                        <m:d>
                                          <m:dPr>
                                            <m:ctrlPr>
                                              <a:rPr lang="en-US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+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𝒂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4FD90A1C-2E3B-442D-9806-43AF80B6E1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3266991"/>
                  </p:ext>
                </p:extLst>
              </p:nvPr>
            </p:nvGraphicFramePr>
            <p:xfrm>
              <a:off x="3671373" y="4833350"/>
              <a:ext cx="5958231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58231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102" t="-1064" r="-409" b="-102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102" t="-101064" r="-409" b="-2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AFB3545-65EE-474E-A21C-3A39218FD5D7}"/>
              </a:ext>
            </a:extLst>
          </p:cNvPr>
          <p:cNvCxnSpPr>
            <a:cxnSpLocks/>
          </p:cNvCxnSpPr>
          <p:nvPr/>
        </p:nvCxnSpPr>
        <p:spPr>
          <a:xfrm>
            <a:off x="3020200" y="4841859"/>
            <a:ext cx="0" cy="9186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0BED42F-5695-4F99-87AF-5A84660067B1}"/>
              </a:ext>
            </a:extLst>
          </p:cNvPr>
          <p:cNvCxnSpPr>
            <a:cxnSpLocks/>
          </p:cNvCxnSpPr>
          <p:nvPr/>
        </p:nvCxnSpPr>
        <p:spPr>
          <a:xfrm>
            <a:off x="9772898" y="4822802"/>
            <a:ext cx="0" cy="9186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A71320F-5D64-4A28-957B-10C01B88F9BD}"/>
                  </a:ext>
                </a:extLst>
              </p:cNvPr>
              <p:cNvSpPr txBox="1"/>
              <p:nvPr/>
            </p:nvSpPr>
            <p:spPr>
              <a:xfrm>
                <a:off x="1681462" y="5045337"/>
                <a:ext cx="1267091" cy="395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𝒉𝒐𝒑𝒑𝒊𝒏𝒈</m:t>
                          </m:r>
                        </m:sub>
                      </m:sSub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A71320F-5D64-4A28-957B-10C01B88F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462" y="5045337"/>
                <a:ext cx="1267091" cy="395621"/>
              </a:xfrm>
              <a:prstGeom prst="rect">
                <a:avLst/>
              </a:prstGeom>
              <a:blipFill>
                <a:blip r:embed="rId13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rrow: Down 17">
            <a:extLst>
              <a:ext uri="{FF2B5EF4-FFF2-40B4-BE49-F238E27FC236}">
                <a16:creationId xmlns:a16="http://schemas.microsoft.com/office/drawing/2014/main" id="{2580606C-7821-4B12-A1AC-50EA4F25D274}"/>
              </a:ext>
            </a:extLst>
          </p:cNvPr>
          <p:cNvSpPr/>
          <p:nvPr/>
        </p:nvSpPr>
        <p:spPr>
          <a:xfrm>
            <a:off x="5579705" y="4095846"/>
            <a:ext cx="261256" cy="652414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731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D3A3029-BDF9-40F7-B6A0-F60E8E3D18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5257F49-8016-44C6-B361-FBFAF42C9BC3}"/>
              </a:ext>
            </a:extLst>
          </p:cNvPr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20F3C7-2FC3-4AF9-991A-7FA79CD80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B6BD37A9-D919-45A4-91FA-3AA973CA5B82}"/>
              </a:ext>
            </a:extLst>
          </p:cNvPr>
          <p:cNvSpPr txBox="1">
            <a:spLocks/>
          </p:cNvSpPr>
          <p:nvPr/>
        </p:nvSpPr>
        <p:spPr>
          <a:xfrm>
            <a:off x="11751732" y="6643166"/>
            <a:ext cx="443643" cy="214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69A371-3746-4C49-AC28-2724C5970AF4}"/>
                  </a:ext>
                </a:extLst>
              </p:cNvPr>
              <p:cNvSpPr txBox="1"/>
              <p:nvPr/>
            </p:nvSpPr>
            <p:spPr>
              <a:xfrm>
                <a:off x="531845" y="1202192"/>
                <a:ext cx="3937518" cy="395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𝒉𝒂𝒎𝒊𝒍𝒕𝒐𝒏𝒊𝒂𝒏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𝒐𝒏𝒔𝒊𝒕𝒆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𝒉𝒐𝒑𝒑𝒊𝒏𝒈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69A371-3746-4C49-AC28-2724C5970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45" y="1202192"/>
                <a:ext cx="3937518" cy="395621"/>
              </a:xfrm>
              <a:prstGeom prst="rect">
                <a:avLst/>
              </a:prstGeom>
              <a:blipFill>
                <a:blip r:embed="rId4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7AEC500-5A90-4865-88AC-C424F3BC16A4}"/>
              </a:ext>
            </a:extLst>
          </p:cNvPr>
          <p:cNvSpPr txBox="1"/>
          <p:nvPr/>
        </p:nvSpPr>
        <p:spPr>
          <a:xfrm>
            <a:off x="2058325" y="93606"/>
            <a:ext cx="8075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I. T</a:t>
            </a:r>
            <a:r>
              <a:rPr lang="en-US" altLang="zh-C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ight Binding Hamiltonian for Pristine Graphene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37">
                <a:extLst>
                  <a:ext uri="{FF2B5EF4-FFF2-40B4-BE49-F238E27FC236}">
                    <a16:creationId xmlns:a16="http://schemas.microsoft.com/office/drawing/2014/main" id="{B372B9BB-A2F9-47B8-BAEA-A049539B4E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2799123"/>
                  </p:ext>
                </p:extLst>
              </p:nvPr>
            </p:nvGraphicFramePr>
            <p:xfrm>
              <a:off x="4556720" y="902370"/>
              <a:ext cx="560927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0927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𝜺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𝑨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i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</a:t>
                          </a:r>
                          <a:r>
                            <a:rPr lang="en-US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r>
                            <a:rPr lang="en-US" b="1" i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US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37">
                <a:extLst>
                  <a:ext uri="{FF2B5EF4-FFF2-40B4-BE49-F238E27FC236}">
                    <a16:creationId xmlns:a16="http://schemas.microsoft.com/office/drawing/2014/main" id="{B372B9BB-A2F9-47B8-BAEA-A049539B4E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2799123"/>
                  </p:ext>
                </p:extLst>
              </p:nvPr>
            </p:nvGraphicFramePr>
            <p:xfrm>
              <a:off x="4556720" y="902370"/>
              <a:ext cx="560927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0927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75" t="-2128" r="-4301" b="-10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i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</a:t>
                          </a:r>
                          <a:r>
                            <a:rPr lang="en-US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r>
                            <a:rPr lang="en-US" b="1" i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US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24C1DDB9-9A0E-42D3-9EB3-FB3AF8A50C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3511965"/>
                  </p:ext>
                </p:extLst>
              </p:nvPr>
            </p:nvGraphicFramePr>
            <p:xfrm>
              <a:off x="5154940" y="893861"/>
              <a:ext cx="5958231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58231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𝒕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×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𝒊𝒌</m:t>
                                        </m:r>
                                        <m:r>
                                          <a:rPr lang="en-US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∙</m:t>
                                        </m:r>
                                        <m:r>
                                          <a:rPr lang="en-US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𝑹</m:t>
                                        </m:r>
                                        <m:d>
                                          <m:dPr>
                                            <m:ctrlPr>
                                              <a:rPr lang="en-US" b="1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sup>
                                    </m:sSup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</m:t>
                                    </m:r>
                                    <m:r>
                                      <a:rPr lang="en-US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𝒊𝒌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∙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𝑹</m:t>
                                        </m:r>
                                        <m:d>
                                          <m:dPr>
                                            <m:ctrlPr>
                                              <a:rPr lang="en-US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𝒂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sup>
                                    </m:sSup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</m:t>
                                    </m:r>
                                    <m:r>
                                      <a:rPr lang="en-US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𝒊𝒌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∙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𝑹</m:t>
                                        </m:r>
                                        <m:d>
                                          <m:dPr>
                                            <m:ctrlPr>
                                              <a:rPr lang="en-US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+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𝒂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𝜺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𝑩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24C1DDB9-9A0E-42D3-9EB3-FB3AF8A50C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3511965"/>
                  </p:ext>
                </p:extLst>
              </p:nvPr>
            </p:nvGraphicFramePr>
            <p:xfrm>
              <a:off x="5154940" y="893861"/>
              <a:ext cx="5958231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58231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2" t="-1064" r="-409" b="-102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2" t="-101064" r="-409" b="-2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CDE21CB-62BD-4CF1-96B4-F04C5666F7E5}"/>
              </a:ext>
            </a:extLst>
          </p:cNvPr>
          <p:cNvCxnSpPr>
            <a:cxnSpLocks/>
          </p:cNvCxnSpPr>
          <p:nvPr/>
        </p:nvCxnSpPr>
        <p:spPr>
          <a:xfrm>
            <a:off x="4503767" y="902370"/>
            <a:ext cx="0" cy="9186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7429E0A-7128-4E28-A1C4-2483B7D04F76}"/>
              </a:ext>
            </a:extLst>
          </p:cNvPr>
          <p:cNvCxnSpPr>
            <a:cxnSpLocks/>
          </p:cNvCxnSpPr>
          <p:nvPr/>
        </p:nvCxnSpPr>
        <p:spPr>
          <a:xfrm>
            <a:off x="11256465" y="883313"/>
            <a:ext cx="0" cy="9186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7D643F7-66B0-4B91-B85D-8D66062F5960}"/>
                  </a:ext>
                </a:extLst>
              </p:cNvPr>
              <p:cNvSpPr txBox="1"/>
              <p:nvPr/>
            </p:nvSpPr>
            <p:spPr>
              <a:xfrm>
                <a:off x="3015730" y="2624864"/>
                <a:ext cx="6160537" cy="387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𝒊𝒌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  <m:d>
                            <m:dPr>
                              <m:ctrlP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𝒄𝒐𝒔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𝒊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𝒔𝒊𝒏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7D643F7-66B0-4B91-B85D-8D66062F5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5730" y="2624864"/>
                <a:ext cx="6160537" cy="38792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68A3C75A-83A3-4DEF-A97E-C78F348E8D29}"/>
              </a:ext>
            </a:extLst>
          </p:cNvPr>
          <p:cNvSpPr/>
          <p:nvPr/>
        </p:nvSpPr>
        <p:spPr>
          <a:xfrm>
            <a:off x="5579706" y="801727"/>
            <a:ext cx="1278294" cy="523220"/>
          </a:xfrm>
          <a:prstGeom prst="ellipse">
            <a:avLst/>
          </a:prstGeom>
          <a:noFill/>
          <a:ln w="254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D21689E-5E57-4885-80BB-0E8BC966CDDE}"/>
              </a:ext>
            </a:extLst>
          </p:cNvPr>
          <p:cNvCxnSpPr>
            <a:cxnSpLocks/>
          </p:cNvCxnSpPr>
          <p:nvPr/>
        </p:nvCxnSpPr>
        <p:spPr>
          <a:xfrm flipH="1">
            <a:off x="4469363" y="1324947"/>
            <a:ext cx="1222357" cy="1299917"/>
          </a:xfrm>
          <a:prstGeom prst="straightConnector1">
            <a:avLst/>
          </a:prstGeom>
          <a:ln w="25400"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9B64D49-D690-4C0A-ADF5-DF7847249C34}"/>
                  </a:ext>
                </a:extLst>
              </p:cNvPr>
              <p:cNvSpPr txBox="1"/>
              <p:nvPr/>
            </p:nvSpPr>
            <p:spPr>
              <a:xfrm>
                <a:off x="3776564" y="4047536"/>
                <a:ext cx="3753239" cy="3947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𝒌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𝑹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9B64D49-D690-4C0A-ADF5-DF7847249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6564" y="4047536"/>
                <a:ext cx="3753239" cy="394788"/>
              </a:xfrm>
              <a:prstGeom prst="rect">
                <a:avLst/>
              </a:prstGeom>
              <a:blipFill>
                <a:blip r:embed="rId8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7489C2C1-B1F6-405C-B56C-BC7E994E2F47}"/>
              </a:ext>
            </a:extLst>
          </p:cNvPr>
          <p:cNvSpPr/>
          <p:nvPr/>
        </p:nvSpPr>
        <p:spPr>
          <a:xfrm>
            <a:off x="4935436" y="2557218"/>
            <a:ext cx="1549340" cy="523220"/>
          </a:xfrm>
          <a:prstGeom prst="ellipse">
            <a:avLst/>
          </a:prstGeom>
          <a:noFill/>
          <a:ln w="254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D52FCDB-85BE-4CF4-8C24-9BFA1E3916BB}"/>
              </a:ext>
            </a:extLst>
          </p:cNvPr>
          <p:cNvCxnSpPr>
            <a:cxnSpLocks/>
          </p:cNvCxnSpPr>
          <p:nvPr/>
        </p:nvCxnSpPr>
        <p:spPr>
          <a:xfrm flipH="1">
            <a:off x="5458408" y="3166667"/>
            <a:ext cx="194776" cy="940822"/>
          </a:xfrm>
          <a:prstGeom prst="straightConnector1">
            <a:avLst/>
          </a:prstGeom>
          <a:ln w="25400"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3E1144E-EE9F-4B7C-9C48-1FB43985A719}"/>
              </a:ext>
            </a:extLst>
          </p:cNvPr>
          <p:cNvSpPr txBox="1"/>
          <p:nvPr/>
        </p:nvSpPr>
        <p:spPr>
          <a:xfrm>
            <a:off x="241657" y="4780656"/>
            <a:ext cx="232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Complex-type Matrix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A95798F-4B91-4838-9C04-F5CEE80358BF}"/>
              </a:ext>
            </a:extLst>
          </p:cNvPr>
          <p:cNvCxnSpPr>
            <a:cxnSpLocks/>
          </p:cNvCxnSpPr>
          <p:nvPr/>
        </p:nvCxnSpPr>
        <p:spPr>
          <a:xfrm flipH="1">
            <a:off x="1278793" y="1597813"/>
            <a:ext cx="1" cy="3142872"/>
          </a:xfrm>
          <a:prstGeom prst="straightConnector1">
            <a:avLst/>
          </a:prstGeom>
          <a:ln w="25400"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194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00A0960-457D-43DB-A948-CB10161603F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5257F49-8016-44C6-B361-FBFAF42C9BC3}"/>
              </a:ext>
            </a:extLst>
          </p:cNvPr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20F3C7-2FC3-4AF9-991A-7FA79CD80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B6BD37A9-D919-45A4-91FA-3AA973CA5B82}"/>
              </a:ext>
            </a:extLst>
          </p:cNvPr>
          <p:cNvSpPr txBox="1">
            <a:spLocks/>
          </p:cNvSpPr>
          <p:nvPr/>
        </p:nvSpPr>
        <p:spPr>
          <a:xfrm>
            <a:off x="11751732" y="6643166"/>
            <a:ext cx="443643" cy="214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5E248F5-6C53-4824-8C3D-A552AE49A9F1}"/>
                  </a:ext>
                </a:extLst>
              </p:cNvPr>
              <p:cNvSpPr txBox="1"/>
              <p:nvPr/>
            </p:nvSpPr>
            <p:spPr>
              <a:xfrm>
                <a:off x="8449303" y="6156873"/>
                <a:ext cx="396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5E248F5-6C53-4824-8C3D-A552AE49A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9303" y="6156873"/>
                <a:ext cx="39611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10D3F13-41D7-4445-A694-A2FD4BE6D8F1}"/>
                  </a:ext>
                </a:extLst>
              </p:cNvPr>
              <p:cNvSpPr txBox="1"/>
              <p:nvPr/>
            </p:nvSpPr>
            <p:spPr>
              <a:xfrm>
                <a:off x="7351401" y="5456413"/>
                <a:ext cx="396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10D3F13-41D7-4445-A694-A2FD4BE6D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1401" y="5456413"/>
                <a:ext cx="396118" cy="369332"/>
              </a:xfrm>
              <a:prstGeom prst="rect">
                <a:avLst/>
              </a:prstGeom>
              <a:blipFill>
                <a:blip r:embed="rId7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5BDD94-18BA-4168-8809-FBB5F2E3C1C8}"/>
                  </a:ext>
                </a:extLst>
              </p:cNvPr>
              <p:cNvSpPr txBox="1"/>
              <p:nvPr/>
            </p:nvSpPr>
            <p:spPr>
              <a:xfrm>
                <a:off x="8278751" y="4807736"/>
                <a:ext cx="4500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5BDD94-18BA-4168-8809-FBB5F2E3C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8751" y="4807736"/>
                <a:ext cx="450061" cy="369332"/>
              </a:xfrm>
              <a:prstGeom prst="rect">
                <a:avLst/>
              </a:prstGeom>
              <a:blipFill>
                <a:blip r:embed="rId8"/>
                <a:stretch>
                  <a:fillRect r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4E528B27-03F1-4F4C-9C9D-EA2AB144F2C4}"/>
              </a:ext>
            </a:extLst>
          </p:cNvPr>
          <p:cNvSpPr txBox="1"/>
          <p:nvPr/>
        </p:nvSpPr>
        <p:spPr>
          <a:xfrm>
            <a:off x="2980142" y="2824382"/>
            <a:ext cx="65320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the Fortran Code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BED65D-7EF7-431B-A7A8-D78D522870EA}"/>
              </a:ext>
            </a:extLst>
          </p:cNvPr>
          <p:cNvSpPr txBox="1"/>
          <p:nvPr/>
        </p:nvSpPr>
        <p:spPr>
          <a:xfrm>
            <a:off x="3646889" y="140530"/>
            <a:ext cx="51985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for TBM of Graphene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958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595578-6B19-464A-8AA7-6F68494F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44866" y="6643166"/>
            <a:ext cx="350509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32AD8-0360-4AD0-86A2-F797953D581D}"/>
              </a:ext>
            </a:extLst>
          </p:cNvPr>
          <p:cNvSpPr txBox="1"/>
          <p:nvPr/>
        </p:nvSpPr>
        <p:spPr>
          <a:xfrm>
            <a:off x="4004829" y="901946"/>
            <a:ext cx="4270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 Structure for the Pristine Graphene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7C5BCE-B508-44BE-B2CB-0C4DAA4361D1}"/>
              </a:ext>
            </a:extLst>
          </p:cNvPr>
          <p:cNvSpPr txBox="1"/>
          <p:nvPr/>
        </p:nvSpPr>
        <p:spPr>
          <a:xfrm>
            <a:off x="3646889" y="140530"/>
            <a:ext cx="51985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for TBM of Graphene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CC8A8C-4267-45FF-899E-B71930B34DE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4" t="13280" r="55995" b="11462"/>
          <a:stretch/>
        </p:blipFill>
        <p:spPr>
          <a:xfrm>
            <a:off x="3348305" y="1326302"/>
            <a:ext cx="5583532" cy="52656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F073D49-F302-490A-8403-A0F65C7E7090}"/>
              </a:ext>
            </a:extLst>
          </p:cNvPr>
          <p:cNvSpPr txBox="1"/>
          <p:nvPr/>
        </p:nvSpPr>
        <p:spPr>
          <a:xfrm>
            <a:off x="7369512" y="3589811"/>
            <a:ext cx="1341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Dirac Point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D3F2B50-C829-45DE-8906-8FB177FBBC1A}"/>
              </a:ext>
            </a:extLst>
          </p:cNvPr>
          <p:cNvSpPr/>
          <p:nvPr/>
        </p:nvSpPr>
        <p:spPr>
          <a:xfrm>
            <a:off x="6997958" y="3732245"/>
            <a:ext cx="345232" cy="326572"/>
          </a:xfrm>
          <a:prstGeom prst="ellipse">
            <a:avLst/>
          </a:prstGeom>
          <a:noFill/>
          <a:ln w="254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8917D2-6747-46C2-88C8-33E58DB543D2}"/>
              </a:ext>
            </a:extLst>
          </p:cNvPr>
          <p:cNvSpPr txBox="1"/>
          <p:nvPr/>
        </p:nvSpPr>
        <p:spPr>
          <a:xfrm>
            <a:off x="8889999" y="2582279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Position of Dirac Point is controlled by the onsite energy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D84BE4-E6EB-4BB3-ADA2-83534DF6B92C}"/>
                  </a:ext>
                </a:extLst>
              </p:cNvPr>
              <p:cNvSpPr txBox="1"/>
              <p:nvPr/>
            </p:nvSpPr>
            <p:spPr>
              <a:xfrm>
                <a:off x="8914903" y="4585678"/>
                <a:ext cx="32004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𝜺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sub>
                    </m:sSub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𝜺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𝑩</m:t>
                        </m:r>
                      </m:sub>
                    </m:sSub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𝜺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DP shows up at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𝜺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eV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D84BE4-E6EB-4BB3-ADA2-83534DF6B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4903" y="4585678"/>
                <a:ext cx="3200400" cy="646331"/>
              </a:xfrm>
              <a:prstGeom prst="rect">
                <a:avLst/>
              </a:prstGeom>
              <a:blipFill>
                <a:blip r:embed="rId6"/>
                <a:stretch>
                  <a:fillRect l="-1524" t="-4717" r="-1714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ACD6BA0-BE34-4B1B-9BBF-773EDEA75FE4}"/>
              </a:ext>
            </a:extLst>
          </p:cNvPr>
          <p:cNvCxnSpPr/>
          <p:nvPr/>
        </p:nvCxnSpPr>
        <p:spPr>
          <a:xfrm>
            <a:off x="10490199" y="3340438"/>
            <a:ext cx="0" cy="1245240"/>
          </a:xfrm>
          <a:prstGeom prst="straightConnector1">
            <a:avLst/>
          </a:prstGeom>
          <a:ln w="254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710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595578-6B19-464A-8AA7-6F68494F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2533" y="6643166"/>
            <a:ext cx="392843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750E59-3F69-47B0-B79B-C96F8703A868}"/>
              </a:ext>
            </a:extLst>
          </p:cNvPr>
          <p:cNvSpPr txBox="1"/>
          <p:nvPr/>
        </p:nvSpPr>
        <p:spPr>
          <a:xfrm>
            <a:off x="59267" y="60660"/>
            <a:ext cx="12081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Tuning band structure of Graphene from Conductor into a Semiconductor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8B87B2-2C17-4833-B9FA-6F424980C68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9" t="15856" r="2228" b="4207"/>
          <a:stretch/>
        </p:blipFill>
        <p:spPr>
          <a:xfrm>
            <a:off x="406401" y="3064931"/>
            <a:ext cx="4394200" cy="12869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6124731-22E8-4077-BC28-2027958DC4F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6" t="2992"/>
          <a:stretch/>
        </p:blipFill>
        <p:spPr>
          <a:xfrm>
            <a:off x="4936082" y="1931566"/>
            <a:ext cx="6883385" cy="431566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4539F2A-E842-4CB8-AAC7-DD50D38D93CD}"/>
              </a:ext>
            </a:extLst>
          </p:cNvPr>
          <p:cNvSpPr txBox="1"/>
          <p:nvPr/>
        </p:nvSpPr>
        <p:spPr>
          <a:xfrm>
            <a:off x="3325682" y="1148460"/>
            <a:ext cx="5496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different onsite energy for these two sublattices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E55EA8-4289-4298-8A48-43172A0204CC}"/>
              </a:ext>
            </a:extLst>
          </p:cNvPr>
          <p:cNvSpPr txBox="1"/>
          <p:nvPr/>
        </p:nvSpPr>
        <p:spPr>
          <a:xfrm>
            <a:off x="406401" y="1897706"/>
            <a:ext cx="3701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Doping scheme: H, OH, COOH,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1830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B6A2A-7C28-4370-989B-B8604EA07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9467" y="6643166"/>
            <a:ext cx="375910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7C50C6-2847-4274-8C2F-41B7D26F8AA4}"/>
              </a:ext>
            </a:extLst>
          </p:cNvPr>
          <p:cNvSpPr txBox="1"/>
          <p:nvPr/>
        </p:nvSpPr>
        <p:spPr>
          <a:xfrm>
            <a:off x="59267" y="60660"/>
            <a:ext cx="12081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Tuning band structure of Graphene from Conductor into a Semiconductor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0ABD59D-E9E8-4970-8FE5-5BA1A594C830}"/>
                  </a:ext>
                </a:extLst>
              </p:cNvPr>
              <p:cNvSpPr txBox="1"/>
              <p:nvPr/>
            </p:nvSpPr>
            <p:spPr>
              <a:xfrm>
                <a:off x="531845" y="2141994"/>
                <a:ext cx="3937518" cy="395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𝒉𝒂𝒎𝒊𝒍𝒕𝒐𝒏𝒊𝒂𝒏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𝒐𝒏𝒔𝒊𝒕𝒆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𝒉𝒐𝒑𝒑𝒊𝒏𝒈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0ABD59D-E9E8-4970-8FE5-5BA1A594C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45" y="2141994"/>
                <a:ext cx="3937518" cy="395621"/>
              </a:xfrm>
              <a:prstGeom prst="rect">
                <a:avLst/>
              </a:prstGeom>
              <a:blipFill>
                <a:blip r:embed="rId5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37">
                <a:extLst>
                  <a:ext uri="{FF2B5EF4-FFF2-40B4-BE49-F238E27FC236}">
                    <a16:creationId xmlns:a16="http://schemas.microsoft.com/office/drawing/2014/main" id="{8AE1C316-08BC-4716-A32A-1748ACFD7F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6943355"/>
                  </p:ext>
                </p:extLst>
              </p:nvPr>
            </p:nvGraphicFramePr>
            <p:xfrm>
              <a:off x="4556720" y="1842172"/>
              <a:ext cx="560927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0927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𝜺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𝑨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i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</a:t>
                          </a:r>
                          <a:r>
                            <a:rPr lang="en-US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r>
                            <a:rPr lang="en-US" b="1" i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US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37">
                <a:extLst>
                  <a:ext uri="{FF2B5EF4-FFF2-40B4-BE49-F238E27FC236}">
                    <a16:creationId xmlns:a16="http://schemas.microsoft.com/office/drawing/2014/main" id="{8AE1C316-08BC-4716-A32A-1748ACFD7F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6943355"/>
                  </p:ext>
                </p:extLst>
              </p:nvPr>
            </p:nvGraphicFramePr>
            <p:xfrm>
              <a:off x="4556720" y="1842172"/>
              <a:ext cx="560927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0927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75" t="-1064" r="-4301" b="-10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i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</a:t>
                          </a:r>
                          <a:r>
                            <a:rPr lang="en-US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r>
                            <a:rPr lang="en-US" b="1" i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US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7D617B42-B142-4B40-91F6-8F50AEC9A4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1330289"/>
                  </p:ext>
                </p:extLst>
              </p:nvPr>
            </p:nvGraphicFramePr>
            <p:xfrm>
              <a:off x="5154940" y="1833663"/>
              <a:ext cx="5958231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58231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𝒕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×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𝒊𝒌</m:t>
                                        </m:r>
                                        <m:r>
                                          <a:rPr lang="en-US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∙</m:t>
                                        </m:r>
                                        <m:r>
                                          <a:rPr lang="en-US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𝑹</m:t>
                                        </m:r>
                                        <m:d>
                                          <m:dPr>
                                            <m:ctrlPr>
                                              <a:rPr lang="en-US" b="1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sup>
                                    </m:sSup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</m:t>
                                    </m:r>
                                    <m:r>
                                      <a:rPr lang="en-US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𝒊𝒌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∙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𝑹</m:t>
                                        </m:r>
                                        <m:d>
                                          <m:dPr>
                                            <m:ctrlPr>
                                              <a:rPr lang="en-US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𝒂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sup>
                                    </m:sSup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</m:t>
                                    </m:r>
                                    <m:r>
                                      <a:rPr lang="en-US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𝒊𝒌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∙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𝑹</m:t>
                                        </m:r>
                                        <m:d>
                                          <m:dPr>
                                            <m:ctrlPr>
                                              <a:rPr lang="en-US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+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𝒂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𝑪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𝜺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𝑩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7D617B42-B142-4B40-91F6-8F50AEC9A4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1330289"/>
                  </p:ext>
                </p:extLst>
              </p:nvPr>
            </p:nvGraphicFramePr>
            <p:xfrm>
              <a:off x="5154940" y="1833663"/>
              <a:ext cx="5958231" cy="1137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58231">
                      <a:extLst>
                        <a:ext uri="{9D8B030D-6E8A-4147-A177-3AD203B41FA5}">
                          <a16:colId xmlns:a16="http://schemas.microsoft.com/office/drawing/2014/main" val="2111373508"/>
                        </a:ext>
                      </a:extLst>
                    </a:gridCol>
                  </a:tblGrid>
                  <a:tr h="5685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2" t="-1064" r="-409" b="-102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5520326"/>
                      </a:ext>
                    </a:extLst>
                  </a:tr>
                  <a:tr h="5685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2" t="-101064" r="-409" b="-2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778955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E0BA1FE-67BC-4791-A867-F2F9BAB5427F}"/>
              </a:ext>
            </a:extLst>
          </p:cNvPr>
          <p:cNvCxnSpPr>
            <a:cxnSpLocks/>
          </p:cNvCxnSpPr>
          <p:nvPr/>
        </p:nvCxnSpPr>
        <p:spPr>
          <a:xfrm>
            <a:off x="4503767" y="1842172"/>
            <a:ext cx="0" cy="9186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65AC45E-733F-44A5-899D-17706BF66ECA}"/>
              </a:ext>
            </a:extLst>
          </p:cNvPr>
          <p:cNvCxnSpPr>
            <a:cxnSpLocks/>
          </p:cNvCxnSpPr>
          <p:nvPr/>
        </p:nvCxnSpPr>
        <p:spPr>
          <a:xfrm>
            <a:off x="11256465" y="1823115"/>
            <a:ext cx="0" cy="9186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D8DED8F-5062-4EF0-BF3A-07F50452CF13}"/>
                  </a:ext>
                </a:extLst>
              </p:cNvPr>
              <p:cNvSpPr txBox="1"/>
              <p:nvPr/>
            </p:nvSpPr>
            <p:spPr>
              <a:xfrm>
                <a:off x="3080313" y="4256982"/>
                <a:ext cx="54710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𝜺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sub>
                    </m:sSub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𝜺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for instance,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𝜺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𝒆𝑽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𝜺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𝑩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𝒆𝑽</m:t>
                    </m:r>
                  </m:oMath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D8DED8F-5062-4EF0-BF3A-07F50452C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0313" y="4256982"/>
                <a:ext cx="5471021" cy="369332"/>
              </a:xfrm>
              <a:prstGeom prst="rect">
                <a:avLst/>
              </a:prstGeom>
              <a:blipFill>
                <a:blip r:embed="rId8"/>
                <a:stretch>
                  <a:fillRect l="-891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7012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EAFFAE-EB16-4700-B33E-B0A26623F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4073" y="6643166"/>
            <a:ext cx="387927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35DE4A-7C8F-41CD-B766-1ABBECB79AF5}"/>
              </a:ext>
            </a:extLst>
          </p:cNvPr>
          <p:cNvSpPr txBox="1"/>
          <p:nvPr/>
        </p:nvSpPr>
        <p:spPr>
          <a:xfrm>
            <a:off x="59267" y="60660"/>
            <a:ext cx="12081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Tuning band structure of Graphene from Conductor into a Semiconductor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7902CA-C794-41BB-B3B8-6DABD3012962}"/>
              </a:ext>
            </a:extLst>
          </p:cNvPr>
          <p:cNvSpPr txBox="1"/>
          <p:nvPr/>
        </p:nvSpPr>
        <p:spPr>
          <a:xfrm>
            <a:off x="4004830" y="901946"/>
            <a:ext cx="4106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 Structure for the doped Graphene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42F7FB-D670-49C7-ABC2-AEB7EB80F47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3726" r="9861" b="11390"/>
          <a:stretch/>
        </p:blipFill>
        <p:spPr>
          <a:xfrm>
            <a:off x="3325680" y="1271277"/>
            <a:ext cx="5682851" cy="53583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A1BC4C6-6166-4C0C-A24B-8A2507BEDCF9}"/>
              </a:ext>
            </a:extLst>
          </p:cNvPr>
          <p:cNvSpPr txBox="1"/>
          <p:nvPr/>
        </p:nvSpPr>
        <p:spPr>
          <a:xfrm>
            <a:off x="9137288" y="2563907"/>
            <a:ext cx="2756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Dirac Point is gone and a gap shows up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7E684D3-0F3D-4B72-AC1F-9FCF05F53903}"/>
              </a:ext>
            </a:extLst>
          </p:cNvPr>
          <p:cNvSpPr/>
          <p:nvPr/>
        </p:nvSpPr>
        <p:spPr>
          <a:xfrm>
            <a:off x="6862492" y="3352800"/>
            <a:ext cx="723642" cy="706017"/>
          </a:xfrm>
          <a:prstGeom prst="ellipse">
            <a:avLst/>
          </a:prstGeom>
          <a:noFill/>
          <a:ln w="254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6D4C30B-8F77-4D20-8D9E-7DF31C407B95}"/>
                  </a:ext>
                </a:extLst>
              </p:cNvPr>
              <p:cNvSpPr txBox="1"/>
              <p:nvPr/>
            </p:nvSpPr>
            <p:spPr>
              <a:xfrm>
                <a:off x="9604712" y="4614280"/>
                <a:ext cx="18252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Gap = |</a:t>
                </a:r>
                <a:r>
                  <a:rPr lang="en-US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𝜺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sub>
                    </m:sSub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𝜺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𝑩</m:t>
                        </m:r>
                      </m:sub>
                    </m:sSub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6D4C30B-8F77-4D20-8D9E-7DF31C407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4712" y="4614280"/>
                <a:ext cx="1825289" cy="369332"/>
              </a:xfrm>
              <a:prstGeom prst="rect">
                <a:avLst/>
              </a:prstGeom>
              <a:blipFill>
                <a:blip r:embed="rId6"/>
                <a:stretch>
                  <a:fillRect l="-3010" t="-11475" r="-2341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E486012-F60D-40B5-BE42-9887547B1347}"/>
              </a:ext>
            </a:extLst>
          </p:cNvPr>
          <p:cNvCxnSpPr/>
          <p:nvPr/>
        </p:nvCxnSpPr>
        <p:spPr>
          <a:xfrm>
            <a:off x="10515599" y="3289639"/>
            <a:ext cx="0" cy="1245240"/>
          </a:xfrm>
          <a:prstGeom prst="straightConnector1">
            <a:avLst/>
          </a:prstGeom>
          <a:ln w="254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060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7911118B-E748-4BDF-982D-3D8806BD5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2532" y="6643166"/>
            <a:ext cx="392843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D87CC4-2619-402D-BDFB-9480D86FDC96}"/>
              </a:ext>
            </a:extLst>
          </p:cNvPr>
          <p:cNvSpPr txBox="1"/>
          <p:nvPr/>
        </p:nvSpPr>
        <p:spPr>
          <a:xfrm>
            <a:off x="553678" y="1587776"/>
            <a:ext cx="110541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practice, doping is a universal strategy for tuning the band gap</a:t>
            </a: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Depending on the oxidizing or reducing nature of the dopants, the gap can be modulated to either a larger or smaller value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EB9504-52BC-4E42-9F40-63ECC36B5210}"/>
              </a:ext>
            </a:extLst>
          </p:cNvPr>
          <p:cNvSpPr txBox="1"/>
          <p:nvPr/>
        </p:nvSpPr>
        <p:spPr>
          <a:xfrm>
            <a:off x="59267" y="60660"/>
            <a:ext cx="12081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Tuning band structure of Graphene from Conductor into a Semiconductor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141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1981200" y="4903102"/>
            <a:ext cx="7647280" cy="11651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That's all for this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ession</a:t>
            </a:r>
          </a:p>
          <a:p>
            <a:endParaRPr lang="en-US" sz="20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 and great participation</a:t>
            </a:r>
          </a:p>
        </p:txBody>
      </p:sp>
      <p:sp>
        <p:nvSpPr>
          <p:cNvPr id="6" name="Rectangle 5"/>
          <p:cNvSpPr/>
          <p:nvPr/>
        </p:nvSpPr>
        <p:spPr>
          <a:xfrm rot="10800000">
            <a:off x="-1" y="6647009"/>
            <a:ext cx="12191999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97" b="11314"/>
          <a:stretch/>
        </p:blipFill>
        <p:spPr>
          <a:xfrm>
            <a:off x="1473200" y="0"/>
            <a:ext cx="9262533" cy="4768850"/>
          </a:xfrm>
        </p:spPr>
      </p:pic>
      <p:pic>
        <p:nvPicPr>
          <p:cNvPr id="8" name="Picture 7" descr="Shield-navy(rgb for online)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1333" y="6199957"/>
            <a:ext cx="356139" cy="44452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B7A8B-B62A-42E2-9B1F-59950FA36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6332" y="6643166"/>
            <a:ext cx="465667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726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2703</TotalTime>
  <Words>1129</Words>
  <Application>Microsoft Office PowerPoint</Application>
  <PresentationFormat>Widescreen</PresentationFormat>
  <Paragraphs>288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Times New Roman</vt:lpstr>
      <vt:lpstr>Office Theme</vt:lpstr>
      <vt:lpstr>Atomic-Level Materials Simulation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Kenan Song</dc:creator>
  <cp:lastModifiedBy>Kenan Song</cp:lastModifiedBy>
  <cp:revision>290</cp:revision>
  <dcterms:created xsi:type="dcterms:W3CDTF">2026-01-31T01:24:38Z</dcterms:created>
  <dcterms:modified xsi:type="dcterms:W3CDTF">2026-07-07T19:52:26Z</dcterms:modified>
</cp:coreProperties>
</file>